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3"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0748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345C5F4-5F8B-E8A7-60AB-2F184665C567}" v="882" dt="2025-10-23T06:05:39.680"/>
    <p1510:client id="{CEFFAEA4-60F8-77FF-D243-5A3AD2801ABF}" v="282" dt="2025-10-25T05:06:22.39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FB81CA3-FBA8-4DB3-9A41-4AB1EA755168}" type="doc">
      <dgm:prSet loTypeId="urn:microsoft.com/office/officeart/2005/8/layout/chevron1" loCatId="process" qsTypeId="urn:microsoft.com/office/officeart/2005/8/quickstyle/3d3" qsCatId="3D" csTypeId="urn:microsoft.com/office/officeart/2005/8/colors/colorful5" csCatId="colorful" phldr="1"/>
      <dgm:spPr/>
      <dgm:t>
        <a:bodyPr/>
        <a:lstStyle/>
        <a:p>
          <a:endParaRPr lang="en-US"/>
        </a:p>
      </dgm:t>
    </dgm:pt>
    <dgm:pt modelId="{60E261DA-EF77-4CEB-BD55-0AEBFF9A4CD4}">
      <dgm:prSet custT="1"/>
      <dgm:spPr/>
      <dgm:t>
        <a:bodyPr/>
        <a:lstStyle/>
        <a:p>
          <a:pPr rtl="0"/>
          <a:r>
            <a:rPr lang="en-US" sz="1600" b="1" dirty="0"/>
            <a:t>Model Exported:</a:t>
          </a:r>
          <a:r>
            <a:rPr lang="en-US" sz="1600" dirty="0">
              <a:latin typeface="Meiryo"/>
            </a:rPr>
            <a:t> </a:t>
          </a:r>
          <a:r>
            <a:rPr lang="en-US" sz="1600" dirty="0"/>
            <a:t> </a:t>
          </a:r>
          <a:r>
            <a:rPr lang="en-US" sz="1600" dirty="0" err="1"/>
            <a:t>joblib.dump</a:t>
          </a:r>
          <a:r>
            <a:rPr lang="en-US" sz="1600" dirty="0"/>
            <a:t>()</a:t>
          </a:r>
        </a:p>
      </dgm:t>
    </dgm:pt>
    <dgm:pt modelId="{A350253B-E26B-406E-87DB-FBC622AC544A}" type="parTrans" cxnId="{4E2BEABA-FC98-4879-838D-271E85A0CEE6}">
      <dgm:prSet/>
      <dgm:spPr/>
      <dgm:t>
        <a:bodyPr/>
        <a:lstStyle/>
        <a:p>
          <a:endParaRPr lang="en-US"/>
        </a:p>
      </dgm:t>
    </dgm:pt>
    <dgm:pt modelId="{5A1748B8-3773-4C4E-9C08-7919795E9BA8}" type="sibTrans" cxnId="{4E2BEABA-FC98-4879-838D-271E85A0CEE6}">
      <dgm:prSet/>
      <dgm:spPr/>
      <dgm:t>
        <a:bodyPr/>
        <a:lstStyle/>
        <a:p>
          <a:endParaRPr lang="en-US"/>
        </a:p>
      </dgm:t>
    </dgm:pt>
    <dgm:pt modelId="{0D27CC88-9524-4D03-8EEB-229D879E93B6}">
      <dgm:prSet/>
      <dgm:spPr/>
      <dgm:t>
        <a:bodyPr/>
        <a:lstStyle/>
        <a:p>
          <a:r>
            <a:rPr lang="en-US" sz="1600" b="1" dirty="0"/>
            <a:t>Prediction Function:</a:t>
          </a:r>
          <a:r>
            <a:rPr lang="en-US" sz="1600" dirty="0"/>
            <a:t> predict_customer_churn</a:t>
          </a:r>
        </a:p>
      </dgm:t>
    </dgm:pt>
    <dgm:pt modelId="{2D771C33-17E3-44BB-BFEA-80E5CE86ADA6}" type="parTrans" cxnId="{04468DBE-EF36-4545-AC34-35D1581E7003}">
      <dgm:prSet/>
      <dgm:spPr/>
      <dgm:t>
        <a:bodyPr/>
        <a:lstStyle/>
        <a:p>
          <a:endParaRPr lang="en-US"/>
        </a:p>
      </dgm:t>
    </dgm:pt>
    <dgm:pt modelId="{9ACEADDA-43BD-43DB-ADA3-8451DE5B50AB}" type="sibTrans" cxnId="{04468DBE-EF36-4545-AC34-35D1581E7003}">
      <dgm:prSet/>
      <dgm:spPr/>
      <dgm:t>
        <a:bodyPr/>
        <a:lstStyle/>
        <a:p>
          <a:endParaRPr lang="en-US"/>
        </a:p>
      </dgm:t>
    </dgm:pt>
    <dgm:pt modelId="{1B8B9134-0AD9-4EFE-9137-E4C4359A2F3F}">
      <dgm:prSet/>
      <dgm:spPr/>
      <dgm:t>
        <a:bodyPr/>
        <a:lstStyle/>
        <a:p>
          <a:r>
            <a:rPr lang="en-US" sz="1600" b="1" dirty="0"/>
            <a:t>Monitoring:</a:t>
          </a:r>
          <a:r>
            <a:rPr lang="en-US" sz="1600" dirty="0"/>
            <a:t> Performance stability index (PSI) to track model drift.</a:t>
          </a:r>
        </a:p>
      </dgm:t>
    </dgm:pt>
    <dgm:pt modelId="{139BFDB2-9A11-4F56-82EC-4D24FB2D02F5}" type="parTrans" cxnId="{2E6A16DE-1067-4750-B3DD-F3E415FAC6C7}">
      <dgm:prSet/>
      <dgm:spPr/>
      <dgm:t>
        <a:bodyPr/>
        <a:lstStyle/>
        <a:p>
          <a:endParaRPr lang="en-US"/>
        </a:p>
      </dgm:t>
    </dgm:pt>
    <dgm:pt modelId="{E626D618-881A-4E63-B932-22B31670F919}" type="sibTrans" cxnId="{2E6A16DE-1067-4750-B3DD-F3E415FAC6C7}">
      <dgm:prSet/>
      <dgm:spPr/>
      <dgm:t>
        <a:bodyPr/>
        <a:lstStyle/>
        <a:p>
          <a:endParaRPr lang="en-US"/>
        </a:p>
      </dgm:t>
    </dgm:pt>
    <dgm:pt modelId="{EA676CA5-1E3D-4245-A790-18AF88D46FB9}">
      <dgm:prSet/>
      <dgm:spPr/>
      <dgm:t>
        <a:bodyPr/>
        <a:lstStyle/>
        <a:p>
          <a:r>
            <a:rPr lang="en-US" sz="1600" b="1" dirty="0"/>
            <a:t>Future Integration:</a:t>
          </a:r>
          <a:r>
            <a:rPr lang="en-US" sz="1600" dirty="0"/>
            <a:t> Flask/</a:t>
          </a:r>
          <a:r>
            <a:rPr lang="en-US" sz="1600" dirty="0" err="1"/>
            <a:t>Streamlit</a:t>
          </a:r>
          <a:r>
            <a:rPr lang="en-US" sz="1600" dirty="0"/>
            <a:t> dashboard for churn prediction UI.</a:t>
          </a:r>
        </a:p>
      </dgm:t>
    </dgm:pt>
    <dgm:pt modelId="{D52DE522-D2E8-4D2F-B30E-60218203CD92}" type="parTrans" cxnId="{DB6427DD-C0CC-407C-88AE-11D1392C4938}">
      <dgm:prSet/>
      <dgm:spPr/>
      <dgm:t>
        <a:bodyPr/>
        <a:lstStyle/>
        <a:p>
          <a:endParaRPr lang="en-US"/>
        </a:p>
      </dgm:t>
    </dgm:pt>
    <dgm:pt modelId="{1E594FE6-C03C-43F1-96E9-84010BE6DEAF}" type="sibTrans" cxnId="{DB6427DD-C0CC-407C-88AE-11D1392C4938}">
      <dgm:prSet/>
      <dgm:spPr/>
      <dgm:t>
        <a:bodyPr/>
        <a:lstStyle/>
        <a:p>
          <a:endParaRPr lang="en-US"/>
        </a:p>
      </dgm:t>
    </dgm:pt>
    <dgm:pt modelId="{6FF8F594-4BC8-4CDD-8602-5D4843974730}" type="pres">
      <dgm:prSet presAssocID="{BFB81CA3-FBA8-4DB3-9A41-4AB1EA755168}" presName="Name0" presStyleCnt="0">
        <dgm:presLayoutVars>
          <dgm:dir/>
          <dgm:animLvl val="lvl"/>
          <dgm:resizeHandles val="exact"/>
        </dgm:presLayoutVars>
      </dgm:prSet>
      <dgm:spPr/>
    </dgm:pt>
    <dgm:pt modelId="{42281070-BF16-4C1D-AA84-48F6815D8BDD}" type="pres">
      <dgm:prSet presAssocID="{60E261DA-EF77-4CEB-BD55-0AEBFF9A4CD4}" presName="parTxOnly" presStyleLbl="node1" presStyleIdx="0" presStyleCnt="4">
        <dgm:presLayoutVars>
          <dgm:chMax val="0"/>
          <dgm:chPref val="0"/>
          <dgm:bulletEnabled val="1"/>
        </dgm:presLayoutVars>
      </dgm:prSet>
      <dgm:spPr/>
    </dgm:pt>
    <dgm:pt modelId="{F33A833C-D940-4770-B655-1320C17443B2}" type="pres">
      <dgm:prSet presAssocID="{5A1748B8-3773-4C4E-9C08-7919795E9BA8}" presName="parTxOnlySpace" presStyleCnt="0"/>
      <dgm:spPr/>
    </dgm:pt>
    <dgm:pt modelId="{D2E993CD-DC67-4DF9-9B57-284312A87D50}" type="pres">
      <dgm:prSet presAssocID="{0D27CC88-9524-4D03-8EEB-229D879E93B6}" presName="parTxOnly" presStyleLbl="node1" presStyleIdx="1" presStyleCnt="4">
        <dgm:presLayoutVars>
          <dgm:chMax val="0"/>
          <dgm:chPref val="0"/>
          <dgm:bulletEnabled val="1"/>
        </dgm:presLayoutVars>
      </dgm:prSet>
      <dgm:spPr/>
    </dgm:pt>
    <dgm:pt modelId="{0E2BDB1C-1A23-442C-BD8F-912D89CCEBE7}" type="pres">
      <dgm:prSet presAssocID="{9ACEADDA-43BD-43DB-ADA3-8451DE5B50AB}" presName="parTxOnlySpace" presStyleCnt="0"/>
      <dgm:spPr/>
    </dgm:pt>
    <dgm:pt modelId="{37EC3394-5082-4155-9258-F717B6BE0F5D}" type="pres">
      <dgm:prSet presAssocID="{1B8B9134-0AD9-4EFE-9137-E4C4359A2F3F}" presName="parTxOnly" presStyleLbl="node1" presStyleIdx="2" presStyleCnt="4">
        <dgm:presLayoutVars>
          <dgm:chMax val="0"/>
          <dgm:chPref val="0"/>
          <dgm:bulletEnabled val="1"/>
        </dgm:presLayoutVars>
      </dgm:prSet>
      <dgm:spPr/>
    </dgm:pt>
    <dgm:pt modelId="{64270363-EB4C-4CD4-9B11-B2625BE2D5C4}" type="pres">
      <dgm:prSet presAssocID="{E626D618-881A-4E63-B932-22B31670F919}" presName="parTxOnlySpace" presStyleCnt="0"/>
      <dgm:spPr/>
    </dgm:pt>
    <dgm:pt modelId="{78206C64-B27F-4F6C-9B81-A35B8ED34F72}" type="pres">
      <dgm:prSet presAssocID="{EA676CA5-1E3D-4245-A790-18AF88D46FB9}" presName="parTxOnly" presStyleLbl="node1" presStyleIdx="3" presStyleCnt="4">
        <dgm:presLayoutVars>
          <dgm:chMax val="0"/>
          <dgm:chPref val="0"/>
          <dgm:bulletEnabled val="1"/>
        </dgm:presLayoutVars>
      </dgm:prSet>
      <dgm:spPr/>
    </dgm:pt>
  </dgm:ptLst>
  <dgm:cxnLst>
    <dgm:cxn modelId="{FC64F46D-4E44-43EF-99B2-28C24CB2B088}" type="presOf" srcId="{1B8B9134-0AD9-4EFE-9137-E4C4359A2F3F}" destId="{37EC3394-5082-4155-9258-F717B6BE0F5D}" srcOrd="0" destOrd="0" presId="urn:microsoft.com/office/officeart/2005/8/layout/chevron1"/>
    <dgm:cxn modelId="{2E359F8E-2777-40C8-8043-082AC9C74BFD}" type="presOf" srcId="{60E261DA-EF77-4CEB-BD55-0AEBFF9A4CD4}" destId="{42281070-BF16-4C1D-AA84-48F6815D8BDD}" srcOrd="0" destOrd="0" presId="urn:microsoft.com/office/officeart/2005/8/layout/chevron1"/>
    <dgm:cxn modelId="{4E2BEABA-FC98-4879-838D-271E85A0CEE6}" srcId="{BFB81CA3-FBA8-4DB3-9A41-4AB1EA755168}" destId="{60E261DA-EF77-4CEB-BD55-0AEBFF9A4CD4}" srcOrd="0" destOrd="0" parTransId="{A350253B-E26B-406E-87DB-FBC622AC544A}" sibTransId="{5A1748B8-3773-4C4E-9C08-7919795E9BA8}"/>
    <dgm:cxn modelId="{B43CBEBB-AD9A-4FAF-AA3E-3D985EA7C154}" type="presOf" srcId="{EA676CA5-1E3D-4245-A790-18AF88D46FB9}" destId="{78206C64-B27F-4F6C-9B81-A35B8ED34F72}" srcOrd="0" destOrd="0" presId="urn:microsoft.com/office/officeart/2005/8/layout/chevron1"/>
    <dgm:cxn modelId="{04468DBE-EF36-4545-AC34-35D1581E7003}" srcId="{BFB81CA3-FBA8-4DB3-9A41-4AB1EA755168}" destId="{0D27CC88-9524-4D03-8EEB-229D879E93B6}" srcOrd="1" destOrd="0" parTransId="{2D771C33-17E3-44BB-BFEA-80E5CE86ADA6}" sibTransId="{9ACEADDA-43BD-43DB-ADA3-8451DE5B50AB}"/>
    <dgm:cxn modelId="{287A3DC1-0590-49D9-B9B7-3FAFB68EFCC1}" type="presOf" srcId="{0D27CC88-9524-4D03-8EEB-229D879E93B6}" destId="{D2E993CD-DC67-4DF9-9B57-284312A87D50}" srcOrd="0" destOrd="0" presId="urn:microsoft.com/office/officeart/2005/8/layout/chevron1"/>
    <dgm:cxn modelId="{F4DE11C3-AF89-479B-8EF5-014D65696FA5}" type="presOf" srcId="{BFB81CA3-FBA8-4DB3-9A41-4AB1EA755168}" destId="{6FF8F594-4BC8-4CDD-8602-5D4843974730}" srcOrd="0" destOrd="0" presId="urn:microsoft.com/office/officeart/2005/8/layout/chevron1"/>
    <dgm:cxn modelId="{DB6427DD-C0CC-407C-88AE-11D1392C4938}" srcId="{BFB81CA3-FBA8-4DB3-9A41-4AB1EA755168}" destId="{EA676CA5-1E3D-4245-A790-18AF88D46FB9}" srcOrd="3" destOrd="0" parTransId="{D52DE522-D2E8-4D2F-B30E-60218203CD92}" sibTransId="{1E594FE6-C03C-43F1-96E9-84010BE6DEAF}"/>
    <dgm:cxn modelId="{2E6A16DE-1067-4750-B3DD-F3E415FAC6C7}" srcId="{BFB81CA3-FBA8-4DB3-9A41-4AB1EA755168}" destId="{1B8B9134-0AD9-4EFE-9137-E4C4359A2F3F}" srcOrd="2" destOrd="0" parTransId="{139BFDB2-9A11-4F56-82EC-4D24FB2D02F5}" sibTransId="{E626D618-881A-4E63-B932-22B31670F919}"/>
    <dgm:cxn modelId="{131EAEBA-42DB-42FE-BC21-70CD35A9001B}" type="presParOf" srcId="{6FF8F594-4BC8-4CDD-8602-5D4843974730}" destId="{42281070-BF16-4C1D-AA84-48F6815D8BDD}" srcOrd="0" destOrd="0" presId="urn:microsoft.com/office/officeart/2005/8/layout/chevron1"/>
    <dgm:cxn modelId="{1FB334A8-1BF5-44ED-BD2E-EEDC905C8CE4}" type="presParOf" srcId="{6FF8F594-4BC8-4CDD-8602-5D4843974730}" destId="{F33A833C-D940-4770-B655-1320C17443B2}" srcOrd="1" destOrd="0" presId="urn:microsoft.com/office/officeart/2005/8/layout/chevron1"/>
    <dgm:cxn modelId="{15C9B4EA-E78D-4E1F-8E9E-C6100AD77EF6}" type="presParOf" srcId="{6FF8F594-4BC8-4CDD-8602-5D4843974730}" destId="{D2E993CD-DC67-4DF9-9B57-284312A87D50}" srcOrd="2" destOrd="0" presId="urn:microsoft.com/office/officeart/2005/8/layout/chevron1"/>
    <dgm:cxn modelId="{EA35EEDA-D930-4864-9AF6-98324C5A68EA}" type="presParOf" srcId="{6FF8F594-4BC8-4CDD-8602-5D4843974730}" destId="{0E2BDB1C-1A23-442C-BD8F-912D89CCEBE7}" srcOrd="3" destOrd="0" presId="urn:microsoft.com/office/officeart/2005/8/layout/chevron1"/>
    <dgm:cxn modelId="{732545C4-8FD7-40A5-995C-FC91900C5EAB}" type="presParOf" srcId="{6FF8F594-4BC8-4CDD-8602-5D4843974730}" destId="{37EC3394-5082-4155-9258-F717B6BE0F5D}" srcOrd="4" destOrd="0" presId="urn:microsoft.com/office/officeart/2005/8/layout/chevron1"/>
    <dgm:cxn modelId="{C5CF397A-BF0F-4A7D-98A1-565CBB25CD28}" type="presParOf" srcId="{6FF8F594-4BC8-4CDD-8602-5D4843974730}" destId="{64270363-EB4C-4CD4-9B11-B2625BE2D5C4}" srcOrd="5" destOrd="0" presId="urn:microsoft.com/office/officeart/2005/8/layout/chevron1"/>
    <dgm:cxn modelId="{26B1FD54-84FE-470B-84B7-67DF8D853F6A}" type="presParOf" srcId="{6FF8F594-4BC8-4CDD-8602-5D4843974730}" destId="{78206C64-B27F-4F6C-9B81-A35B8ED34F72}" srcOrd="6"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0960900-31B8-4F41-AD44-C6EDC2FD2EB3}" type="doc">
      <dgm:prSet loTypeId="urn:microsoft.com/office/officeart/2005/8/layout/process5" loCatId="process" qsTypeId="urn:microsoft.com/office/officeart/2005/8/quickstyle/3d5" qsCatId="3D" csTypeId="urn:microsoft.com/office/officeart/2005/8/colors/colorful1" csCatId="colorful"/>
      <dgm:spPr/>
      <dgm:t>
        <a:bodyPr/>
        <a:lstStyle/>
        <a:p>
          <a:endParaRPr lang="en-US"/>
        </a:p>
      </dgm:t>
    </dgm:pt>
    <dgm:pt modelId="{9F24DDF2-6D75-4A3C-8524-F2708D3B69E0}">
      <dgm:prSet/>
      <dgm:spPr/>
      <dgm:t>
        <a:bodyPr/>
        <a:lstStyle/>
        <a:p>
          <a:r>
            <a:rPr lang="en-US" dirty="0"/>
            <a:t>Customers with </a:t>
          </a:r>
          <a:r>
            <a:rPr lang="en-US" b="1" dirty="0"/>
            <a:t>month-to-month contracts</a:t>
          </a:r>
          <a:r>
            <a:rPr lang="en-US" dirty="0"/>
            <a:t> churn the most.</a:t>
          </a:r>
        </a:p>
      </dgm:t>
    </dgm:pt>
    <dgm:pt modelId="{482BB227-00E1-42A1-9985-CF029240CA21}" type="parTrans" cxnId="{C325CEF6-5C05-43A3-B0D9-6FB38640D505}">
      <dgm:prSet/>
      <dgm:spPr/>
      <dgm:t>
        <a:bodyPr/>
        <a:lstStyle/>
        <a:p>
          <a:endParaRPr lang="en-US"/>
        </a:p>
      </dgm:t>
    </dgm:pt>
    <dgm:pt modelId="{FEEE7190-F6E9-45A3-9EFA-CDF05141A16F}" type="sibTrans" cxnId="{C325CEF6-5C05-43A3-B0D9-6FB38640D505}">
      <dgm:prSet/>
      <dgm:spPr/>
      <dgm:t>
        <a:bodyPr/>
        <a:lstStyle/>
        <a:p>
          <a:endParaRPr lang="en-US"/>
        </a:p>
      </dgm:t>
    </dgm:pt>
    <dgm:pt modelId="{E9777A3D-0455-480F-828B-F9DD11D3C801}">
      <dgm:prSet/>
      <dgm:spPr/>
      <dgm:t>
        <a:bodyPr/>
        <a:lstStyle/>
        <a:p>
          <a:r>
            <a:rPr lang="en-US" b="1" dirty="0"/>
            <a:t>Fiber optic users</a:t>
          </a:r>
          <a:r>
            <a:rPr lang="en-US" dirty="0"/>
            <a:t> need better service quality.</a:t>
          </a:r>
        </a:p>
      </dgm:t>
    </dgm:pt>
    <dgm:pt modelId="{F6CEA3A2-3A49-4DEC-9A9F-D8BA8053B995}" type="parTrans" cxnId="{92F4B537-6468-48B0-BA19-A06C610A176C}">
      <dgm:prSet/>
      <dgm:spPr/>
      <dgm:t>
        <a:bodyPr/>
        <a:lstStyle/>
        <a:p>
          <a:endParaRPr lang="en-US"/>
        </a:p>
      </dgm:t>
    </dgm:pt>
    <dgm:pt modelId="{0CF56F3C-D61A-4757-AFFB-768A3B6D9AD8}" type="sibTrans" cxnId="{92F4B537-6468-48B0-BA19-A06C610A176C}">
      <dgm:prSet/>
      <dgm:spPr/>
      <dgm:t>
        <a:bodyPr/>
        <a:lstStyle/>
        <a:p>
          <a:endParaRPr lang="en-US"/>
        </a:p>
      </dgm:t>
    </dgm:pt>
    <dgm:pt modelId="{305F850F-B560-43A4-A35F-C3209AB17D0D}">
      <dgm:prSet/>
      <dgm:spPr/>
      <dgm:t>
        <a:bodyPr/>
        <a:lstStyle/>
        <a:p>
          <a:r>
            <a:rPr lang="en-US" dirty="0"/>
            <a:t>Offer </a:t>
          </a:r>
          <a:r>
            <a:rPr lang="en-US" b="1" dirty="0"/>
            <a:t>discounts or loyalty plans</a:t>
          </a:r>
          <a:r>
            <a:rPr lang="en-US" dirty="0"/>
            <a:t> for short-tenure users.</a:t>
          </a:r>
        </a:p>
      </dgm:t>
    </dgm:pt>
    <dgm:pt modelId="{09FED38D-7636-461D-B471-CD1C3EF0F76E}" type="parTrans" cxnId="{6D8ACB40-DF5F-416C-A7A7-F67ABF87170D}">
      <dgm:prSet/>
      <dgm:spPr/>
      <dgm:t>
        <a:bodyPr/>
        <a:lstStyle/>
        <a:p>
          <a:endParaRPr lang="en-US"/>
        </a:p>
      </dgm:t>
    </dgm:pt>
    <dgm:pt modelId="{7CEDBDDB-CAEB-4A69-8291-55CD944FAE04}" type="sibTrans" cxnId="{6D8ACB40-DF5F-416C-A7A7-F67ABF87170D}">
      <dgm:prSet/>
      <dgm:spPr/>
      <dgm:t>
        <a:bodyPr/>
        <a:lstStyle/>
        <a:p>
          <a:endParaRPr lang="en-US"/>
        </a:p>
      </dgm:t>
    </dgm:pt>
    <dgm:pt modelId="{D7D6AD57-3CFE-4462-9881-90C4A4C29119}">
      <dgm:prSet/>
      <dgm:spPr/>
      <dgm:t>
        <a:bodyPr/>
        <a:lstStyle/>
        <a:p>
          <a:r>
            <a:rPr lang="en-US" dirty="0"/>
            <a:t>Simplify payment channels to reduce friction.</a:t>
          </a:r>
        </a:p>
      </dgm:t>
    </dgm:pt>
    <dgm:pt modelId="{F70E1580-4BEC-409E-9544-240C3F953258}" type="parTrans" cxnId="{4C28B3CE-F27A-4F1B-9819-E6A1159BFB44}">
      <dgm:prSet/>
      <dgm:spPr/>
      <dgm:t>
        <a:bodyPr/>
        <a:lstStyle/>
        <a:p>
          <a:endParaRPr lang="en-US"/>
        </a:p>
      </dgm:t>
    </dgm:pt>
    <dgm:pt modelId="{76850EAB-6FC0-4844-8609-4446421D967E}" type="sibTrans" cxnId="{4C28B3CE-F27A-4F1B-9819-E6A1159BFB44}">
      <dgm:prSet/>
      <dgm:spPr/>
      <dgm:t>
        <a:bodyPr/>
        <a:lstStyle/>
        <a:p>
          <a:endParaRPr lang="en-US"/>
        </a:p>
      </dgm:t>
    </dgm:pt>
    <dgm:pt modelId="{4D9553FD-52FA-474B-8C2B-EB69FECBBC6A}">
      <dgm:prSet/>
      <dgm:spPr/>
      <dgm:t>
        <a:bodyPr/>
        <a:lstStyle/>
        <a:p>
          <a:r>
            <a:rPr lang="en-US" dirty="0"/>
            <a:t>Introduce </a:t>
          </a:r>
          <a:r>
            <a:rPr lang="en-US" b="1" dirty="0"/>
            <a:t>customer retention alerts</a:t>
          </a:r>
          <a:r>
            <a:rPr lang="en-US" dirty="0"/>
            <a:t> using model predictions.</a:t>
          </a:r>
        </a:p>
      </dgm:t>
    </dgm:pt>
    <dgm:pt modelId="{47BE565A-6540-4F43-8A39-05EC9E680B67}" type="parTrans" cxnId="{D4B38AC2-FA8F-464C-BC39-136427219D3F}">
      <dgm:prSet/>
      <dgm:spPr/>
      <dgm:t>
        <a:bodyPr/>
        <a:lstStyle/>
        <a:p>
          <a:endParaRPr lang="en-US"/>
        </a:p>
      </dgm:t>
    </dgm:pt>
    <dgm:pt modelId="{63E8C6B9-59C4-4F35-BC42-B2AC0BEA5926}" type="sibTrans" cxnId="{D4B38AC2-FA8F-464C-BC39-136427219D3F}">
      <dgm:prSet/>
      <dgm:spPr/>
      <dgm:t>
        <a:bodyPr/>
        <a:lstStyle/>
        <a:p>
          <a:endParaRPr lang="en-US"/>
        </a:p>
      </dgm:t>
    </dgm:pt>
    <dgm:pt modelId="{5E82A088-DF22-4FD5-8932-6BE750D4A5EF}" type="pres">
      <dgm:prSet presAssocID="{90960900-31B8-4F41-AD44-C6EDC2FD2EB3}" presName="diagram" presStyleCnt="0">
        <dgm:presLayoutVars>
          <dgm:dir/>
          <dgm:resizeHandles val="exact"/>
        </dgm:presLayoutVars>
      </dgm:prSet>
      <dgm:spPr/>
    </dgm:pt>
    <dgm:pt modelId="{E477F384-AC7C-463D-90E8-EF4B637C35AC}" type="pres">
      <dgm:prSet presAssocID="{9F24DDF2-6D75-4A3C-8524-F2708D3B69E0}" presName="node" presStyleLbl="node1" presStyleIdx="0" presStyleCnt="5">
        <dgm:presLayoutVars>
          <dgm:bulletEnabled val="1"/>
        </dgm:presLayoutVars>
      </dgm:prSet>
      <dgm:spPr/>
    </dgm:pt>
    <dgm:pt modelId="{F3D9E1F6-FA91-4EF9-A15D-935ADF22E479}" type="pres">
      <dgm:prSet presAssocID="{FEEE7190-F6E9-45A3-9EFA-CDF05141A16F}" presName="sibTrans" presStyleLbl="sibTrans2D1" presStyleIdx="0" presStyleCnt="4"/>
      <dgm:spPr/>
    </dgm:pt>
    <dgm:pt modelId="{0E0C7924-7D6F-4FA7-8ABA-B59658C38E32}" type="pres">
      <dgm:prSet presAssocID="{FEEE7190-F6E9-45A3-9EFA-CDF05141A16F}" presName="connectorText" presStyleLbl="sibTrans2D1" presStyleIdx="0" presStyleCnt="4"/>
      <dgm:spPr/>
    </dgm:pt>
    <dgm:pt modelId="{520EF7C8-5329-46CE-BC95-44715EBCBD36}" type="pres">
      <dgm:prSet presAssocID="{E9777A3D-0455-480F-828B-F9DD11D3C801}" presName="node" presStyleLbl="node1" presStyleIdx="1" presStyleCnt="5">
        <dgm:presLayoutVars>
          <dgm:bulletEnabled val="1"/>
        </dgm:presLayoutVars>
      </dgm:prSet>
      <dgm:spPr/>
    </dgm:pt>
    <dgm:pt modelId="{E2B65FE2-8ACC-43A7-81A8-90A72D3D602D}" type="pres">
      <dgm:prSet presAssocID="{0CF56F3C-D61A-4757-AFFB-768A3B6D9AD8}" presName="sibTrans" presStyleLbl="sibTrans2D1" presStyleIdx="1" presStyleCnt="4"/>
      <dgm:spPr/>
    </dgm:pt>
    <dgm:pt modelId="{5634835F-E9E7-4FC0-99FD-5F01E71270F3}" type="pres">
      <dgm:prSet presAssocID="{0CF56F3C-D61A-4757-AFFB-768A3B6D9AD8}" presName="connectorText" presStyleLbl="sibTrans2D1" presStyleIdx="1" presStyleCnt="4"/>
      <dgm:spPr/>
    </dgm:pt>
    <dgm:pt modelId="{6F3B962D-2FF4-413A-A226-6BC8714D2CA0}" type="pres">
      <dgm:prSet presAssocID="{305F850F-B560-43A4-A35F-C3209AB17D0D}" presName="node" presStyleLbl="node1" presStyleIdx="2" presStyleCnt="5">
        <dgm:presLayoutVars>
          <dgm:bulletEnabled val="1"/>
        </dgm:presLayoutVars>
      </dgm:prSet>
      <dgm:spPr/>
    </dgm:pt>
    <dgm:pt modelId="{8F82DE18-8BDA-4A7D-BB60-3BD60C65737E}" type="pres">
      <dgm:prSet presAssocID="{7CEDBDDB-CAEB-4A69-8291-55CD944FAE04}" presName="sibTrans" presStyleLbl="sibTrans2D1" presStyleIdx="2" presStyleCnt="4"/>
      <dgm:spPr/>
    </dgm:pt>
    <dgm:pt modelId="{32F9C70E-E398-4D6D-9A38-22680B9585ED}" type="pres">
      <dgm:prSet presAssocID="{7CEDBDDB-CAEB-4A69-8291-55CD944FAE04}" presName="connectorText" presStyleLbl="sibTrans2D1" presStyleIdx="2" presStyleCnt="4"/>
      <dgm:spPr/>
    </dgm:pt>
    <dgm:pt modelId="{C4FAAD32-DD26-42D5-BF93-8B7A283A86EA}" type="pres">
      <dgm:prSet presAssocID="{D7D6AD57-3CFE-4462-9881-90C4A4C29119}" presName="node" presStyleLbl="node1" presStyleIdx="3" presStyleCnt="5">
        <dgm:presLayoutVars>
          <dgm:bulletEnabled val="1"/>
        </dgm:presLayoutVars>
      </dgm:prSet>
      <dgm:spPr/>
    </dgm:pt>
    <dgm:pt modelId="{3EFBAFF6-1DCE-47FA-A7B8-0ADA07521849}" type="pres">
      <dgm:prSet presAssocID="{76850EAB-6FC0-4844-8609-4446421D967E}" presName="sibTrans" presStyleLbl="sibTrans2D1" presStyleIdx="3" presStyleCnt="4"/>
      <dgm:spPr/>
    </dgm:pt>
    <dgm:pt modelId="{2CA2C5B5-C17C-4B53-9CCA-CB00BF33E72C}" type="pres">
      <dgm:prSet presAssocID="{76850EAB-6FC0-4844-8609-4446421D967E}" presName="connectorText" presStyleLbl="sibTrans2D1" presStyleIdx="3" presStyleCnt="4"/>
      <dgm:spPr/>
    </dgm:pt>
    <dgm:pt modelId="{5ED5D258-0EBA-42F3-840B-024AD6FDE023}" type="pres">
      <dgm:prSet presAssocID="{4D9553FD-52FA-474B-8C2B-EB69FECBBC6A}" presName="node" presStyleLbl="node1" presStyleIdx="4" presStyleCnt="5">
        <dgm:presLayoutVars>
          <dgm:bulletEnabled val="1"/>
        </dgm:presLayoutVars>
      </dgm:prSet>
      <dgm:spPr/>
    </dgm:pt>
  </dgm:ptLst>
  <dgm:cxnLst>
    <dgm:cxn modelId="{2864EC19-B906-4C7B-9B8F-F509BF75790B}" type="presOf" srcId="{4D9553FD-52FA-474B-8C2B-EB69FECBBC6A}" destId="{5ED5D258-0EBA-42F3-840B-024AD6FDE023}" srcOrd="0" destOrd="0" presId="urn:microsoft.com/office/officeart/2005/8/layout/process5"/>
    <dgm:cxn modelId="{948D1222-8CA0-4D0B-9973-8E963846E26E}" type="presOf" srcId="{FEEE7190-F6E9-45A3-9EFA-CDF05141A16F}" destId="{F3D9E1F6-FA91-4EF9-A15D-935ADF22E479}" srcOrd="0" destOrd="0" presId="urn:microsoft.com/office/officeart/2005/8/layout/process5"/>
    <dgm:cxn modelId="{92F4B537-6468-48B0-BA19-A06C610A176C}" srcId="{90960900-31B8-4F41-AD44-C6EDC2FD2EB3}" destId="{E9777A3D-0455-480F-828B-F9DD11D3C801}" srcOrd="1" destOrd="0" parTransId="{F6CEA3A2-3A49-4DEC-9A9F-D8BA8053B995}" sibTransId="{0CF56F3C-D61A-4757-AFFB-768A3B6D9AD8}"/>
    <dgm:cxn modelId="{6D8ACB40-DF5F-416C-A7A7-F67ABF87170D}" srcId="{90960900-31B8-4F41-AD44-C6EDC2FD2EB3}" destId="{305F850F-B560-43A4-A35F-C3209AB17D0D}" srcOrd="2" destOrd="0" parTransId="{09FED38D-7636-461D-B471-CD1C3EF0F76E}" sibTransId="{7CEDBDDB-CAEB-4A69-8291-55CD944FAE04}"/>
    <dgm:cxn modelId="{FCBEC05D-4882-42C1-85B2-14BC93DB1009}" type="presOf" srcId="{E9777A3D-0455-480F-828B-F9DD11D3C801}" destId="{520EF7C8-5329-46CE-BC95-44715EBCBD36}" srcOrd="0" destOrd="0" presId="urn:microsoft.com/office/officeart/2005/8/layout/process5"/>
    <dgm:cxn modelId="{B6C38E57-8BB6-4F9B-B05A-7CEC2AABA945}" type="presOf" srcId="{D7D6AD57-3CFE-4462-9881-90C4A4C29119}" destId="{C4FAAD32-DD26-42D5-BF93-8B7A283A86EA}" srcOrd="0" destOrd="0" presId="urn:microsoft.com/office/officeart/2005/8/layout/process5"/>
    <dgm:cxn modelId="{C7A96B7B-8B77-4D08-8653-A6F5FF54B654}" type="presOf" srcId="{305F850F-B560-43A4-A35F-C3209AB17D0D}" destId="{6F3B962D-2FF4-413A-A226-6BC8714D2CA0}" srcOrd="0" destOrd="0" presId="urn:microsoft.com/office/officeart/2005/8/layout/process5"/>
    <dgm:cxn modelId="{13A40097-8FE1-42AF-8ECF-760519F7F585}" type="presOf" srcId="{7CEDBDDB-CAEB-4A69-8291-55CD944FAE04}" destId="{8F82DE18-8BDA-4A7D-BB60-3BD60C65737E}" srcOrd="0" destOrd="0" presId="urn:microsoft.com/office/officeart/2005/8/layout/process5"/>
    <dgm:cxn modelId="{4FD99EA3-C546-4C06-BA57-0BC7D2892B28}" type="presOf" srcId="{76850EAB-6FC0-4844-8609-4446421D967E}" destId="{2CA2C5B5-C17C-4B53-9CCA-CB00BF33E72C}" srcOrd="1" destOrd="0" presId="urn:microsoft.com/office/officeart/2005/8/layout/process5"/>
    <dgm:cxn modelId="{02E498B3-8786-4CDB-9AC8-ABB51BF73D86}" type="presOf" srcId="{FEEE7190-F6E9-45A3-9EFA-CDF05141A16F}" destId="{0E0C7924-7D6F-4FA7-8ABA-B59658C38E32}" srcOrd="1" destOrd="0" presId="urn:microsoft.com/office/officeart/2005/8/layout/process5"/>
    <dgm:cxn modelId="{AEA100BC-415E-4D9D-BE4F-1BFA6EA2787A}" type="presOf" srcId="{76850EAB-6FC0-4844-8609-4446421D967E}" destId="{3EFBAFF6-1DCE-47FA-A7B8-0ADA07521849}" srcOrd="0" destOrd="0" presId="urn:microsoft.com/office/officeart/2005/8/layout/process5"/>
    <dgm:cxn modelId="{D4B38AC2-FA8F-464C-BC39-136427219D3F}" srcId="{90960900-31B8-4F41-AD44-C6EDC2FD2EB3}" destId="{4D9553FD-52FA-474B-8C2B-EB69FECBBC6A}" srcOrd="4" destOrd="0" parTransId="{47BE565A-6540-4F43-8A39-05EC9E680B67}" sibTransId="{63E8C6B9-59C4-4F35-BC42-B2AC0BEA5926}"/>
    <dgm:cxn modelId="{DC8CBBCD-DBC1-4C5D-8FDA-08D6D5A5316B}" type="presOf" srcId="{9F24DDF2-6D75-4A3C-8524-F2708D3B69E0}" destId="{E477F384-AC7C-463D-90E8-EF4B637C35AC}" srcOrd="0" destOrd="0" presId="urn:microsoft.com/office/officeart/2005/8/layout/process5"/>
    <dgm:cxn modelId="{4C28B3CE-F27A-4F1B-9819-E6A1159BFB44}" srcId="{90960900-31B8-4F41-AD44-C6EDC2FD2EB3}" destId="{D7D6AD57-3CFE-4462-9881-90C4A4C29119}" srcOrd="3" destOrd="0" parTransId="{F70E1580-4BEC-409E-9544-240C3F953258}" sibTransId="{76850EAB-6FC0-4844-8609-4446421D967E}"/>
    <dgm:cxn modelId="{C325CEF6-5C05-43A3-B0D9-6FB38640D505}" srcId="{90960900-31B8-4F41-AD44-C6EDC2FD2EB3}" destId="{9F24DDF2-6D75-4A3C-8524-F2708D3B69E0}" srcOrd="0" destOrd="0" parTransId="{482BB227-00E1-42A1-9985-CF029240CA21}" sibTransId="{FEEE7190-F6E9-45A3-9EFA-CDF05141A16F}"/>
    <dgm:cxn modelId="{707196F7-31D6-45DE-89F5-8CAAD2D9987C}" type="presOf" srcId="{0CF56F3C-D61A-4757-AFFB-768A3B6D9AD8}" destId="{E2B65FE2-8ACC-43A7-81A8-90A72D3D602D}" srcOrd="0" destOrd="0" presId="urn:microsoft.com/office/officeart/2005/8/layout/process5"/>
    <dgm:cxn modelId="{D570A5F8-B6DD-4BD1-B778-F9D6C8E9D94E}" type="presOf" srcId="{7CEDBDDB-CAEB-4A69-8291-55CD944FAE04}" destId="{32F9C70E-E398-4D6D-9A38-22680B9585ED}" srcOrd="1" destOrd="0" presId="urn:microsoft.com/office/officeart/2005/8/layout/process5"/>
    <dgm:cxn modelId="{8F4176F9-1C8E-45E2-95B7-4F696C4C968A}" type="presOf" srcId="{90960900-31B8-4F41-AD44-C6EDC2FD2EB3}" destId="{5E82A088-DF22-4FD5-8932-6BE750D4A5EF}" srcOrd="0" destOrd="0" presId="urn:microsoft.com/office/officeart/2005/8/layout/process5"/>
    <dgm:cxn modelId="{BF62CAFD-8B1C-4189-A34C-6417CE381BEB}" type="presOf" srcId="{0CF56F3C-D61A-4757-AFFB-768A3B6D9AD8}" destId="{5634835F-E9E7-4FC0-99FD-5F01E71270F3}" srcOrd="1" destOrd="0" presId="urn:microsoft.com/office/officeart/2005/8/layout/process5"/>
    <dgm:cxn modelId="{82AC1001-E012-4C89-BABF-9FAB31149273}" type="presParOf" srcId="{5E82A088-DF22-4FD5-8932-6BE750D4A5EF}" destId="{E477F384-AC7C-463D-90E8-EF4B637C35AC}" srcOrd="0" destOrd="0" presId="urn:microsoft.com/office/officeart/2005/8/layout/process5"/>
    <dgm:cxn modelId="{36CEEF2C-106C-46E2-A0D0-281E8CB049A8}" type="presParOf" srcId="{5E82A088-DF22-4FD5-8932-6BE750D4A5EF}" destId="{F3D9E1F6-FA91-4EF9-A15D-935ADF22E479}" srcOrd="1" destOrd="0" presId="urn:microsoft.com/office/officeart/2005/8/layout/process5"/>
    <dgm:cxn modelId="{A584958B-590C-4173-BE4B-D831CD0F6EED}" type="presParOf" srcId="{F3D9E1F6-FA91-4EF9-A15D-935ADF22E479}" destId="{0E0C7924-7D6F-4FA7-8ABA-B59658C38E32}" srcOrd="0" destOrd="0" presId="urn:microsoft.com/office/officeart/2005/8/layout/process5"/>
    <dgm:cxn modelId="{58E6BB99-8423-41A3-9B7C-E489521931B4}" type="presParOf" srcId="{5E82A088-DF22-4FD5-8932-6BE750D4A5EF}" destId="{520EF7C8-5329-46CE-BC95-44715EBCBD36}" srcOrd="2" destOrd="0" presId="urn:microsoft.com/office/officeart/2005/8/layout/process5"/>
    <dgm:cxn modelId="{D62A315E-005F-4BF6-BAA0-FB6AD0EEAF77}" type="presParOf" srcId="{5E82A088-DF22-4FD5-8932-6BE750D4A5EF}" destId="{E2B65FE2-8ACC-43A7-81A8-90A72D3D602D}" srcOrd="3" destOrd="0" presId="urn:microsoft.com/office/officeart/2005/8/layout/process5"/>
    <dgm:cxn modelId="{A7F27578-89BD-475F-A32F-44B5A69E7450}" type="presParOf" srcId="{E2B65FE2-8ACC-43A7-81A8-90A72D3D602D}" destId="{5634835F-E9E7-4FC0-99FD-5F01E71270F3}" srcOrd="0" destOrd="0" presId="urn:microsoft.com/office/officeart/2005/8/layout/process5"/>
    <dgm:cxn modelId="{EA84EAB1-8B04-4C02-90E3-8BE5DEE3B74F}" type="presParOf" srcId="{5E82A088-DF22-4FD5-8932-6BE750D4A5EF}" destId="{6F3B962D-2FF4-413A-A226-6BC8714D2CA0}" srcOrd="4" destOrd="0" presId="urn:microsoft.com/office/officeart/2005/8/layout/process5"/>
    <dgm:cxn modelId="{DA5C8012-DD84-4ADF-8551-68B94B1BBCCD}" type="presParOf" srcId="{5E82A088-DF22-4FD5-8932-6BE750D4A5EF}" destId="{8F82DE18-8BDA-4A7D-BB60-3BD60C65737E}" srcOrd="5" destOrd="0" presId="urn:microsoft.com/office/officeart/2005/8/layout/process5"/>
    <dgm:cxn modelId="{5C3B4ED2-6C6B-4B7B-8748-116FAB815880}" type="presParOf" srcId="{8F82DE18-8BDA-4A7D-BB60-3BD60C65737E}" destId="{32F9C70E-E398-4D6D-9A38-22680B9585ED}" srcOrd="0" destOrd="0" presId="urn:microsoft.com/office/officeart/2005/8/layout/process5"/>
    <dgm:cxn modelId="{562AA981-85C8-4CCE-BEEF-E14785EA31F5}" type="presParOf" srcId="{5E82A088-DF22-4FD5-8932-6BE750D4A5EF}" destId="{C4FAAD32-DD26-42D5-BF93-8B7A283A86EA}" srcOrd="6" destOrd="0" presId="urn:microsoft.com/office/officeart/2005/8/layout/process5"/>
    <dgm:cxn modelId="{F7E4D805-902D-49B0-A13E-7445CF366FCD}" type="presParOf" srcId="{5E82A088-DF22-4FD5-8932-6BE750D4A5EF}" destId="{3EFBAFF6-1DCE-47FA-A7B8-0ADA07521849}" srcOrd="7" destOrd="0" presId="urn:microsoft.com/office/officeart/2005/8/layout/process5"/>
    <dgm:cxn modelId="{AF2CFF16-A802-49C8-98B5-C7F16BF947D5}" type="presParOf" srcId="{3EFBAFF6-1DCE-47FA-A7B8-0ADA07521849}" destId="{2CA2C5B5-C17C-4B53-9CCA-CB00BF33E72C}" srcOrd="0" destOrd="0" presId="urn:microsoft.com/office/officeart/2005/8/layout/process5"/>
    <dgm:cxn modelId="{7347764F-B14C-48D9-878B-0943C1FE6FC6}" type="presParOf" srcId="{5E82A088-DF22-4FD5-8932-6BE750D4A5EF}" destId="{5ED5D258-0EBA-42F3-840B-024AD6FDE023}" srcOrd="8" destOrd="0" presId="urn:microsoft.com/office/officeart/2005/8/layout/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69934F0-1526-4AEA-814F-F027C189227F}" type="doc">
      <dgm:prSet loTypeId="urn:microsoft.com/office/officeart/2005/8/layout/vProcess5" loCatId="process" qsTypeId="urn:microsoft.com/office/officeart/2005/8/quickstyle/simple1" qsCatId="simple" csTypeId="urn:microsoft.com/office/officeart/2005/8/colors/colorful2" csCatId="colorful" phldr="1"/>
      <dgm:spPr/>
      <dgm:t>
        <a:bodyPr/>
        <a:lstStyle/>
        <a:p>
          <a:endParaRPr lang="en-US"/>
        </a:p>
      </dgm:t>
    </dgm:pt>
    <dgm:pt modelId="{C71A15E2-6E52-4CB9-8007-1B39D642E8C5}">
      <dgm:prSet/>
      <dgm:spPr/>
      <dgm:t>
        <a:bodyPr/>
        <a:lstStyle/>
        <a:p>
          <a:r>
            <a:rPr lang="en-US" dirty="0"/>
            <a:t>Learned full ML pipeline: EDA → Cleaning → Modeling → Evaluation.</a:t>
          </a:r>
        </a:p>
      </dgm:t>
    </dgm:pt>
    <dgm:pt modelId="{FCB3790B-5CCB-41EE-82BE-25B13BAFA9CE}" type="parTrans" cxnId="{CCC121E5-F6F6-4023-9F77-FB44883801DD}">
      <dgm:prSet/>
      <dgm:spPr/>
      <dgm:t>
        <a:bodyPr/>
        <a:lstStyle/>
        <a:p>
          <a:endParaRPr lang="en-US"/>
        </a:p>
      </dgm:t>
    </dgm:pt>
    <dgm:pt modelId="{2A7279C5-2541-49C0-9B3B-DD064477EEF8}" type="sibTrans" cxnId="{CCC121E5-F6F6-4023-9F77-FB44883801DD}">
      <dgm:prSet/>
      <dgm:spPr/>
      <dgm:t>
        <a:bodyPr/>
        <a:lstStyle/>
        <a:p>
          <a:endParaRPr lang="en-US"/>
        </a:p>
      </dgm:t>
    </dgm:pt>
    <dgm:pt modelId="{2782F9EE-E8D9-4340-880E-35586E44839B}">
      <dgm:prSet/>
      <dgm:spPr/>
      <dgm:t>
        <a:bodyPr/>
        <a:lstStyle/>
        <a:p>
          <a:r>
            <a:rPr lang="en-US" dirty="0"/>
            <a:t>Gained hands-on experience in: </a:t>
          </a:r>
          <a:r>
            <a:rPr lang="en-US" dirty="0" err="1"/>
            <a:t>i</a:t>
          </a:r>
          <a:r>
            <a:rPr lang="en-US" dirty="0"/>
            <a:t>. Feature Engineering &amp; Multicollinearity handling ii. Regularization techniques iii. Ensemble learning &amp; interpretability</a:t>
          </a:r>
        </a:p>
      </dgm:t>
    </dgm:pt>
    <dgm:pt modelId="{85E50280-76A2-4D3A-AB96-9E923B8BAC23}" type="parTrans" cxnId="{6C0A5726-A409-4BB0-8D06-B8F20EB646AE}">
      <dgm:prSet/>
      <dgm:spPr/>
      <dgm:t>
        <a:bodyPr/>
        <a:lstStyle/>
        <a:p>
          <a:endParaRPr lang="en-US"/>
        </a:p>
      </dgm:t>
    </dgm:pt>
    <dgm:pt modelId="{179ABBCF-C1D1-4064-AA6E-DEAAD7CED955}" type="sibTrans" cxnId="{6C0A5726-A409-4BB0-8D06-B8F20EB646AE}">
      <dgm:prSet/>
      <dgm:spPr/>
      <dgm:t>
        <a:bodyPr/>
        <a:lstStyle/>
        <a:p>
          <a:endParaRPr lang="en-US"/>
        </a:p>
      </dgm:t>
    </dgm:pt>
    <dgm:pt modelId="{5EFBC3CB-FFC1-45B1-824B-C74B21742EAC}">
      <dgm:prSet/>
      <dgm:spPr/>
      <dgm:t>
        <a:bodyPr/>
        <a:lstStyle/>
        <a:p>
          <a:r>
            <a:rPr lang="en-US" dirty="0"/>
            <a:t>Understood how analytics translates into </a:t>
          </a:r>
          <a:r>
            <a:rPr lang="en-US" b="1" dirty="0"/>
            <a:t>real-world business value</a:t>
          </a:r>
          <a:r>
            <a:rPr lang="en-US" dirty="0"/>
            <a:t>.</a:t>
          </a:r>
        </a:p>
      </dgm:t>
    </dgm:pt>
    <dgm:pt modelId="{C24836D5-C16C-432C-9913-B465DD2D03FE}" type="parTrans" cxnId="{99A411F9-A906-4ED4-9485-E755C6E11567}">
      <dgm:prSet/>
      <dgm:spPr/>
      <dgm:t>
        <a:bodyPr/>
        <a:lstStyle/>
        <a:p>
          <a:endParaRPr lang="en-US"/>
        </a:p>
      </dgm:t>
    </dgm:pt>
    <dgm:pt modelId="{C1175CCA-303A-4D9F-8A0B-F6AFEF7D164F}" type="sibTrans" cxnId="{99A411F9-A906-4ED4-9485-E755C6E11567}">
      <dgm:prSet/>
      <dgm:spPr/>
      <dgm:t>
        <a:bodyPr/>
        <a:lstStyle/>
        <a:p>
          <a:endParaRPr lang="en-US"/>
        </a:p>
      </dgm:t>
    </dgm:pt>
    <dgm:pt modelId="{0ECC7655-4944-474A-B75A-9A207F1FC7EB}" type="pres">
      <dgm:prSet presAssocID="{369934F0-1526-4AEA-814F-F027C189227F}" presName="outerComposite" presStyleCnt="0">
        <dgm:presLayoutVars>
          <dgm:chMax val="5"/>
          <dgm:dir/>
          <dgm:resizeHandles val="exact"/>
        </dgm:presLayoutVars>
      </dgm:prSet>
      <dgm:spPr/>
    </dgm:pt>
    <dgm:pt modelId="{AEE3C2FB-E0D8-4234-960D-DDC8690131EE}" type="pres">
      <dgm:prSet presAssocID="{369934F0-1526-4AEA-814F-F027C189227F}" presName="dummyMaxCanvas" presStyleCnt="0">
        <dgm:presLayoutVars/>
      </dgm:prSet>
      <dgm:spPr/>
    </dgm:pt>
    <dgm:pt modelId="{65A989E5-4F05-428B-A908-8B145319ED0F}" type="pres">
      <dgm:prSet presAssocID="{369934F0-1526-4AEA-814F-F027C189227F}" presName="ThreeNodes_1" presStyleLbl="node1" presStyleIdx="0" presStyleCnt="3">
        <dgm:presLayoutVars>
          <dgm:bulletEnabled val="1"/>
        </dgm:presLayoutVars>
      </dgm:prSet>
      <dgm:spPr/>
    </dgm:pt>
    <dgm:pt modelId="{3497E9C1-12C6-4F32-9E4D-69566D4434BC}" type="pres">
      <dgm:prSet presAssocID="{369934F0-1526-4AEA-814F-F027C189227F}" presName="ThreeNodes_2" presStyleLbl="node1" presStyleIdx="1" presStyleCnt="3">
        <dgm:presLayoutVars>
          <dgm:bulletEnabled val="1"/>
        </dgm:presLayoutVars>
      </dgm:prSet>
      <dgm:spPr/>
    </dgm:pt>
    <dgm:pt modelId="{76F39F8C-A55F-4FDB-AF07-10C452F62C7A}" type="pres">
      <dgm:prSet presAssocID="{369934F0-1526-4AEA-814F-F027C189227F}" presName="ThreeNodes_3" presStyleLbl="node1" presStyleIdx="2" presStyleCnt="3">
        <dgm:presLayoutVars>
          <dgm:bulletEnabled val="1"/>
        </dgm:presLayoutVars>
      </dgm:prSet>
      <dgm:spPr/>
    </dgm:pt>
    <dgm:pt modelId="{239491BD-B8C8-41E2-8614-90E4090F33C7}" type="pres">
      <dgm:prSet presAssocID="{369934F0-1526-4AEA-814F-F027C189227F}" presName="ThreeConn_1-2" presStyleLbl="fgAccFollowNode1" presStyleIdx="0" presStyleCnt="2">
        <dgm:presLayoutVars>
          <dgm:bulletEnabled val="1"/>
        </dgm:presLayoutVars>
      </dgm:prSet>
      <dgm:spPr/>
    </dgm:pt>
    <dgm:pt modelId="{DBCCFBD4-B7CC-4EDC-9FC2-9A59D0210676}" type="pres">
      <dgm:prSet presAssocID="{369934F0-1526-4AEA-814F-F027C189227F}" presName="ThreeConn_2-3" presStyleLbl="fgAccFollowNode1" presStyleIdx="1" presStyleCnt="2">
        <dgm:presLayoutVars>
          <dgm:bulletEnabled val="1"/>
        </dgm:presLayoutVars>
      </dgm:prSet>
      <dgm:spPr/>
    </dgm:pt>
    <dgm:pt modelId="{B2346CFC-8850-4D6B-A559-AFDB88CB9398}" type="pres">
      <dgm:prSet presAssocID="{369934F0-1526-4AEA-814F-F027C189227F}" presName="ThreeNodes_1_text" presStyleLbl="node1" presStyleIdx="2" presStyleCnt="3">
        <dgm:presLayoutVars>
          <dgm:bulletEnabled val="1"/>
        </dgm:presLayoutVars>
      </dgm:prSet>
      <dgm:spPr/>
    </dgm:pt>
    <dgm:pt modelId="{32100EC6-83D8-42DE-BBCC-79B67D39E1CF}" type="pres">
      <dgm:prSet presAssocID="{369934F0-1526-4AEA-814F-F027C189227F}" presName="ThreeNodes_2_text" presStyleLbl="node1" presStyleIdx="2" presStyleCnt="3">
        <dgm:presLayoutVars>
          <dgm:bulletEnabled val="1"/>
        </dgm:presLayoutVars>
      </dgm:prSet>
      <dgm:spPr/>
    </dgm:pt>
    <dgm:pt modelId="{E7C8ECE7-9E40-4E86-8C36-A43FCC2DA4F4}" type="pres">
      <dgm:prSet presAssocID="{369934F0-1526-4AEA-814F-F027C189227F}" presName="ThreeNodes_3_text" presStyleLbl="node1" presStyleIdx="2" presStyleCnt="3">
        <dgm:presLayoutVars>
          <dgm:bulletEnabled val="1"/>
        </dgm:presLayoutVars>
      </dgm:prSet>
      <dgm:spPr/>
    </dgm:pt>
  </dgm:ptLst>
  <dgm:cxnLst>
    <dgm:cxn modelId="{02B06526-67FC-451A-BCDE-8079602812F3}" type="presOf" srcId="{369934F0-1526-4AEA-814F-F027C189227F}" destId="{0ECC7655-4944-474A-B75A-9A207F1FC7EB}" srcOrd="0" destOrd="0" presId="urn:microsoft.com/office/officeart/2005/8/layout/vProcess5"/>
    <dgm:cxn modelId="{6C0A5726-A409-4BB0-8D06-B8F20EB646AE}" srcId="{369934F0-1526-4AEA-814F-F027C189227F}" destId="{2782F9EE-E8D9-4340-880E-35586E44839B}" srcOrd="1" destOrd="0" parTransId="{85E50280-76A2-4D3A-AB96-9E923B8BAC23}" sibTransId="{179ABBCF-C1D1-4064-AA6E-DEAAD7CED955}"/>
    <dgm:cxn modelId="{1240AA63-012F-40F7-A932-0CE7E0D9A220}" type="presOf" srcId="{2A7279C5-2541-49C0-9B3B-DD064477EEF8}" destId="{239491BD-B8C8-41E2-8614-90E4090F33C7}" srcOrd="0" destOrd="0" presId="urn:microsoft.com/office/officeart/2005/8/layout/vProcess5"/>
    <dgm:cxn modelId="{DCFA4365-F417-441F-B235-62DE6F35C8FD}" type="presOf" srcId="{2782F9EE-E8D9-4340-880E-35586E44839B}" destId="{32100EC6-83D8-42DE-BBCC-79B67D39E1CF}" srcOrd="1" destOrd="0" presId="urn:microsoft.com/office/officeart/2005/8/layout/vProcess5"/>
    <dgm:cxn modelId="{4636E771-76FA-4397-A71C-A0F97974CD68}" type="presOf" srcId="{2782F9EE-E8D9-4340-880E-35586E44839B}" destId="{3497E9C1-12C6-4F32-9E4D-69566D4434BC}" srcOrd="0" destOrd="0" presId="urn:microsoft.com/office/officeart/2005/8/layout/vProcess5"/>
    <dgm:cxn modelId="{41C3A976-F1E0-4C99-98CC-7FAB271438A3}" type="presOf" srcId="{179ABBCF-C1D1-4064-AA6E-DEAAD7CED955}" destId="{DBCCFBD4-B7CC-4EDC-9FC2-9A59D0210676}" srcOrd="0" destOrd="0" presId="urn:microsoft.com/office/officeart/2005/8/layout/vProcess5"/>
    <dgm:cxn modelId="{28579284-28C9-4A68-AE7E-1EB5208C050F}" type="presOf" srcId="{C71A15E2-6E52-4CB9-8007-1B39D642E8C5}" destId="{65A989E5-4F05-428B-A908-8B145319ED0F}" srcOrd="0" destOrd="0" presId="urn:microsoft.com/office/officeart/2005/8/layout/vProcess5"/>
    <dgm:cxn modelId="{CED698C9-EFE1-42C7-8A10-4F23A4BC1553}" type="presOf" srcId="{5EFBC3CB-FFC1-45B1-824B-C74B21742EAC}" destId="{E7C8ECE7-9E40-4E86-8C36-A43FCC2DA4F4}" srcOrd="1" destOrd="0" presId="urn:microsoft.com/office/officeart/2005/8/layout/vProcess5"/>
    <dgm:cxn modelId="{CCC121E5-F6F6-4023-9F77-FB44883801DD}" srcId="{369934F0-1526-4AEA-814F-F027C189227F}" destId="{C71A15E2-6E52-4CB9-8007-1B39D642E8C5}" srcOrd="0" destOrd="0" parTransId="{FCB3790B-5CCB-41EE-82BE-25B13BAFA9CE}" sibTransId="{2A7279C5-2541-49C0-9B3B-DD064477EEF8}"/>
    <dgm:cxn modelId="{534F61F6-DC9F-4FEA-81EC-6168A9EE8BEB}" type="presOf" srcId="{C71A15E2-6E52-4CB9-8007-1B39D642E8C5}" destId="{B2346CFC-8850-4D6B-A559-AFDB88CB9398}" srcOrd="1" destOrd="0" presId="urn:microsoft.com/office/officeart/2005/8/layout/vProcess5"/>
    <dgm:cxn modelId="{3909C1F8-F294-4AD6-8461-2351470E23D3}" type="presOf" srcId="{5EFBC3CB-FFC1-45B1-824B-C74B21742EAC}" destId="{76F39F8C-A55F-4FDB-AF07-10C452F62C7A}" srcOrd="0" destOrd="0" presId="urn:microsoft.com/office/officeart/2005/8/layout/vProcess5"/>
    <dgm:cxn modelId="{99A411F9-A906-4ED4-9485-E755C6E11567}" srcId="{369934F0-1526-4AEA-814F-F027C189227F}" destId="{5EFBC3CB-FFC1-45B1-824B-C74B21742EAC}" srcOrd="2" destOrd="0" parTransId="{C24836D5-C16C-432C-9913-B465DD2D03FE}" sibTransId="{C1175CCA-303A-4D9F-8A0B-F6AFEF7D164F}"/>
    <dgm:cxn modelId="{30297220-EA25-477D-B7B4-E0CD78CFCD82}" type="presParOf" srcId="{0ECC7655-4944-474A-B75A-9A207F1FC7EB}" destId="{AEE3C2FB-E0D8-4234-960D-DDC8690131EE}" srcOrd="0" destOrd="0" presId="urn:microsoft.com/office/officeart/2005/8/layout/vProcess5"/>
    <dgm:cxn modelId="{65DB64F1-7CD0-4E08-A21C-7A3438C78463}" type="presParOf" srcId="{0ECC7655-4944-474A-B75A-9A207F1FC7EB}" destId="{65A989E5-4F05-428B-A908-8B145319ED0F}" srcOrd="1" destOrd="0" presId="urn:microsoft.com/office/officeart/2005/8/layout/vProcess5"/>
    <dgm:cxn modelId="{DC41FDCF-5AC9-48A5-83A0-02CAD6FE3B10}" type="presParOf" srcId="{0ECC7655-4944-474A-B75A-9A207F1FC7EB}" destId="{3497E9C1-12C6-4F32-9E4D-69566D4434BC}" srcOrd="2" destOrd="0" presId="urn:microsoft.com/office/officeart/2005/8/layout/vProcess5"/>
    <dgm:cxn modelId="{8D7C287E-6955-4B91-9F71-823CC915CEAF}" type="presParOf" srcId="{0ECC7655-4944-474A-B75A-9A207F1FC7EB}" destId="{76F39F8C-A55F-4FDB-AF07-10C452F62C7A}" srcOrd="3" destOrd="0" presId="urn:microsoft.com/office/officeart/2005/8/layout/vProcess5"/>
    <dgm:cxn modelId="{14D057BB-2084-4541-9C54-56AD3A5766B4}" type="presParOf" srcId="{0ECC7655-4944-474A-B75A-9A207F1FC7EB}" destId="{239491BD-B8C8-41E2-8614-90E4090F33C7}" srcOrd="4" destOrd="0" presId="urn:microsoft.com/office/officeart/2005/8/layout/vProcess5"/>
    <dgm:cxn modelId="{61DE533B-64DA-4230-95EF-C9196DC2BF39}" type="presParOf" srcId="{0ECC7655-4944-474A-B75A-9A207F1FC7EB}" destId="{DBCCFBD4-B7CC-4EDC-9FC2-9A59D0210676}" srcOrd="5" destOrd="0" presId="urn:microsoft.com/office/officeart/2005/8/layout/vProcess5"/>
    <dgm:cxn modelId="{09A529E6-EE57-4BF6-96BD-4296B0DD4920}" type="presParOf" srcId="{0ECC7655-4944-474A-B75A-9A207F1FC7EB}" destId="{B2346CFC-8850-4D6B-A559-AFDB88CB9398}" srcOrd="6" destOrd="0" presId="urn:microsoft.com/office/officeart/2005/8/layout/vProcess5"/>
    <dgm:cxn modelId="{5736B1E6-D533-40F1-AD0F-BA4612B09FE1}" type="presParOf" srcId="{0ECC7655-4944-474A-B75A-9A207F1FC7EB}" destId="{32100EC6-83D8-42DE-BBCC-79B67D39E1CF}" srcOrd="7" destOrd="0" presId="urn:microsoft.com/office/officeart/2005/8/layout/vProcess5"/>
    <dgm:cxn modelId="{490F2061-B6EF-42EB-849E-82D1DCBC5069}" type="presParOf" srcId="{0ECC7655-4944-474A-B75A-9A207F1FC7EB}" destId="{E7C8ECE7-9E40-4E86-8C36-A43FCC2DA4F4}" srcOrd="8"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2281070-BF16-4C1D-AA84-48F6815D8BDD}">
      <dsp:nvSpPr>
        <dsp:cNvPr id="0" name=""/>
        <dsp:cNvSpPr/>
      </dsp:nvSpPr>
      <dsp:spPr>
        <a:xfrm>
          <a:off x="5308" y="1668927"/>
          <a:ext cx="3090172" cy="1236068"/>
        </a:xfrm>
        <a:prstGeom prst="chevron">
          <a:avLst/>
        </a:prstGeom>
        <a:solidFill>
          <a:schemeClr val="accent5">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rtl="0">
            <a:lnSpc>
              <a:spcPct val="90000"/>
            </a:lnSpc>
            <a:spcBef>
              <a:spcPct val="0"/>
            </a:spcBef>
            <a:spcAft>
              <a:spcPct val="35000"/>
            </a:spcAft>
            <a:buNone/>
          </a:pPr>
          <a:r>
            <a:rPr lang="en-US" sz="1600" b="1" kern="1200" dirty="0"/>
            <a:t>Model Exported:</a:t>
          </a:r>
          <a:r>
            <a:rPr lang="en-US" sz="1600" kern="1200" dirty="0">
              <a:latin typeface="Meiryo"/>
            </a:rPr>
            <a:t> </a:t>
          </a:r>
          <a:r>
            <a:rPr lang="en-US" sz="1600" kern="1200" dirty="0"/>
            <a:t> </a:t>
          </a:r>
          <a:r>
            <a:rPr lang="en-US" sz="1600" kern="1200" dirty="0" err="1"/>
            <a:t>joblib.dump</a:t>
          </a:r>
          <a:r>
            <a:rPr lang="en-US" sz="1600" kern="1200" dirty="0"/>
            <a:t>()</a:t>
          </a:r>
        </a:p>
      </dsp:txBody>
      <dsp:txXfrm>
        <a:off x="623342" y="1668927"/>
        <a:ext cx="1854104" cy="1236068"/>
      </dsp:txXfrm>
    </dsp:sp>
    <dsp:sp modelId="{D2E993CD-DC67-4DF9-9B57-284312A87D50}">
      <dsp:nvSpPr>
        <dsp:cNvPr id="0" name=""/>
        <dsp:cNvSpPr/>
      </dsp:nvSpPr>
      <dsp:spPr>
        <a:xfrm>
          <a:off x="2786463" y="1668927"/>
          <a:ext cx="3090172" cy="1236068"/>
        </a:xfrm>
        <a:prstGeom prst="chevron">
          <a:avLst/>
        </a:prstGeom>
        <a:solidFill>
          <a:schemeClr val="accent5">
            <a:hueOff val="-633314"/>
            <a:satOff val="1022"/>
            <a:lumOff val="-2484"/>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88950">
            <a:lnSpc>
              <a:spcPct val="90000"/>
            </a:lnSpc>
            <a:spcBef>
              <a:spcPct val="0"/>
            </a:spcBef>
            <a:spcAft>
              <a:spcPct val="35000"/>
            </a:spcAft>
            <a:buNone/>
          </a:pPr>
          <a:r>
            <a:rPr lang="en-US" sz="1100" b="1" kern="1200" dirty="0"/>
            <a:t>Prediction Function:</a:t>
          </a:r>
          <a:r>
            <a:rPr lang="en-US" sz="1100" kern="1200" dirty="0"/>
            <a:t> predict_customer_churn</a:t>
          </a:r>
        </a:p>
      </dsp:txBody>
      <dsp:txXfrm>
        <a:off x="3404497" y="1668927"/>
        <a:ext cx="1854104" cy="1236068"/>
      </dsp:txXfrm>
    </dsp:sp>
    <dsp:sp modelId="{37EC3394-5082-4155-9258-F717B6BE0F5D}">
      <dsp:nvSpPr>
        <dsp:cNvPr id="0" name=""/>
        <dsp:cNvSpPr/>
      </dsp:nvSpPr>
      <dsp:spPr>
        <a:xfrm>
          <a:off x="5567618" y="1668927"/>
          <a:ext cx="3090172" cy="1236068"/>
        </a:xfrm>
        <a:prstGeom prst="chevron">
          <a:avLst/>
        </a:prstGeom>
        <a:solidFill>
          <a:schemeClr val="accent5">
            <a:hueOff val="-1266629"/>
            <a:satOff val="2043"/>
            <a:lumOff val="-4967"/>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88950">
            <a:lnSpc>
              <a:spcPct val="90000"/>
            </a:lnSpc>
            <a:spcBef>
              <a:spcPct val="0"/>
            </a:spcBef>
            <a:spcAft>
              <a:spcPct val="35000"/>
            </a:spcAft>
            <a:buNone/>
          </a:pPr>
          <a:r>
            <a:rPr lang="en-US" sz="1100" b="1" kern="1200" dirty="0"/>
            <a:t>Monitoring:</a:t>
          </a:r>
          <a:r>
            <a:rPr lang="en-US" sz="1100" kern="1200" dirty="0"/>
            <a:t> Performance stability index (PSI) to track model drift.</a:t>
          </a:r>
        </a:p>
      </dsp:txBody>
      <dsp:txXfrm>
        <a:off x="6185652" y="1668927"/>
        <a:ext cx="1854104" cy="1236068"/>
      </dsp:txXfrm>
    </dsp:sp>
    <dsp:sp modelId="{78206C64-B27F-4F6C-9B81-A35B8ED34F72}">
      <dsp:nvSpPr>
        <dsp:cNvPr id="0" name=""/>
        <dsp:cNvSpPr/>
      </dsp:nvSpPr>
      <dsp:spPr>
        <a:xfrm>
          <a:off x="8348773" y="1668927"/>
          <a:ext cx="3090172" cy="1236068"/>
        </a:xfrm>
        <a:prstGeom prst="chevron">
          <a:avLst/>
        </a:prstGeom>
        <a:solidFill>
          <a:schemeClr val="accent5">
            <a:hueOff val="-1899943"/>
            <a:satOff val="3065"/>
            <a:lumOff val="-7451"/>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88950">
            <a:lnSpc>
              <a:spcPct val="90000"/>
            </a:lnSpc>
            <a:spcBef>
              <a:spcPct val="0"/>
            </a:spcBef>
            <a:spcAft>
              <a:spcPct val="35000"/>
            </a:spcAft>
            <a:buNone/>
          </a:pPr>
          <a:r>
            <a:rPr lang="en-US" sz="1100" b="1" kern="1200" dirty="0"/>
            <a:t>Future Integration:</a:t>
          </a:r>
          <a:r>
            <a:rPr lang="en-US" sz="1100" kern="1200" dirty="0"/>
            <a:t> Flask/</a:t>
          </a:r>
          <a:r>
            <a:rPr lang="en-US" sz="1100" kern="1200" dirty="0" err="1"/>
            <a:t>Streamlit</a:t>
          </a:r>
          <a:r>
            <a:rPr lang="en-US" sz="1100" kern="1200" dirty="0"/>
            <a:t> dashboard for churn prediction UI.</a:t>
          </a:r>
        </a:p>
      </dsp:txBody>
      <dsp:txXfrm>
        <a:off x="8966807" y="1668927"/>
        <a:ext cx="1854104" cy="123606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477F384-AC7C-463D-90E8-EF4B637C35AC}">
      <dsp:nvSpPr>
        <dsp:cNvPr id="0" name=""/>
        <dsp:cNvSpPr/>
      </dsp:nvSpPr>
      <dsp:spPr>
        <a:xfrm>
          <a:off x="305113" y="1236"/>
          <a:ext cx="2591552" cy="1554931"/>
        </a:xfrm>
        <a:prstGeom prst="roundRect">
          <a:avLst>
            <a:gd name="adj" fmla="val 10000"/>
          </a:avLst>
        </a:prstGeom>
        <a:solidFill>
          <a:schemeClr val="accent2">
            <a:hueOff val="0"/>
            <a:satOff val="0"/>
            <a:lumOff val="0"/>
            <a:alphaOff val="0"/>
          </a:schemeClr>
        </a:solidFill>
        <a:ln>
          <a:noFill/>
        </a:ln>
        <a:effectLst/>
        <a:sp3d extrusionH="381000" contourW="38100" prstMaterial="matte">
          <a:contourClr>
            <a:schemeClr val="lt1"/>
          </a:contourClr>
        </a:sp3d>
      </dsp:spPr>
      <dsp:style>
        <a:lnRef idx="0">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t>Customers with </a:t>
          </a:r>
          <a:r>
            <a:rPr lang="en-US" sz="1500" b="1" kern="1200" dirty="0"/>
            <a:t>month-to-month contracts</a:t>
          </a:r>
          <a:r>
            <a:rPr lang="en-US" sz="1500" kern="1200" dirty="0"/>
            <a:t> churn the most.</a:t>
          </a:r>
        </a:p>
      </dsp:txBody>
      <dsp:txXfrm>
        <a:off x="350655" y="46778"/>
        <a:ext cx="2500468" cy="1463847"/>
      </dsp:txXfrm>
    </dsp:sp>
    <dsp:sp modelId="{F3D9E1F6-FA91-4EF9-A15D-935ADF22E479}">
      <dsp:nvSpPr>
        <dsp:cNvPr id="0" name=""/>
        <dsp:cNvSpPr/>
      </dsp:nvSpPr>
      <dsp:spPr>
        <a:xfrm>
          <a:off x="3124722" y="457349"/>
          <a:ext cx="549409" cy="642705"/>
        </a:xfrm>
        <a:prstGeom prst="rightArrow">
          <a:avLst>
            <a:gd name="adj1" fmla="val 60000"/>
            <a:gd name="adj2" fmla="val 50000"/>
          </a:avLst>
        </a:prstGeom>
        <a:solidFill>
          <a:schemeClr val="accent2">
            <a:hueOff val="0"/>
            <a:satOff val="0"/>
            <a:lumOff val="0"/>
            <a:alphaOff val="0"/>
          </a:schemeClr>
        </a:solidFill>
        <a:ln>
          <a:noFill/>
        </a:ln>
        <a:effectLst/>
        <a:sp3d z="-52400" extrusionH="181000" contourW="38100" prstMaterial="matte">
          <a:contourClr>
            <a:schemeClr val="lt1"/>
          </a:contourClr>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a:p>
      </dsp:txBody>
      <dsp:txXfrm>
        <a:off x="3124722" y="585890"/>
        <a:ext cx="384586" cy="385623"/>
      </dsp:txXfrm>
    </dsp:sp>
    <dsp:sp modelId="{520EF7C8-5329-46CE-BC95-44715EBCBD36}">
      <dsp:nvSpPr>
        <dsp:cNvPr id="0" name=""/>
        <dsp:cNvSpPr/>
      </dsp:nvSpPr>
      <dsp:spPr>
        <a:xfrm>
          <a:off x="3933287" y="1236"/>
          <a:ext cx="2591552" cy="1554931"/>
        </a:xfrm>
        <a:prstGeom prst="roundRect">
          <a:avLst>
            <a:gd name="adj" fmla="val 10000"/>
          </a:avLst>
        </a:prstGeom>
        <a:solidFill>
          <a:schemeClr val="accent3">
            <a:hueOff val="0"/>
            <a:satOff val="0"/>
            <a:lumOff val="0"/>
            <a:alphaOff val="0"/>
          </a:schemeClr>
        </a:solidFill>
        <a:ln>
          <a:noFill/>
        </a:ln>
        <a:effectLst/>
        <a:sp3d extrusionH="381000" contourW="38100" prstMaterial="matte">
          <a:contourClr>
            <a:schemeClr val="lt1"/>
          </a:contourClr>
        </a:sp3d>
      </dsp:spPr>
      <dsp:style>
        <a:lnRef idx="0">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b="1" kern="1200" dirty="0"/>
            <a:t>Fiber optic users</a:t>
          </a:r>
          <a:r>
            <a:rPr lang="en-US" sz="1500" kern="1200" dirty="0"/>
            <a:t> need better service quality.</a:t>
          </a:r>
        </a:p>
      </dsp:txBody>
      <dsp:txXfrm>
        <a:off x="3978829" y="46778"/>
        <a:ext cx="2500468" cy="1463847"/>
      </dsp:txXfrm>
    </dsp:sp>
    <dsp:sp modelId="{E2B65FE2-8ACC-43A7-81A8-90A72D3D602D}">
      <dsp:nvSpPr>
        <dsp:cNvPr id="0" name=""/>
        <dsp:cNvSpPr/>
      </dsp:nvSpPr>
      <dsp:spPr>
        <a:xfrm>
          <a:off x="6752896" y="457349"/>
          <a:ext cx="549409" cy="642705"/>
        </a:xfrm>
        <a:prstGeom prst="rightArrow">
          <a:avLst>
            <a:gd name="adj1" fmla="val 60000"/>
            <a:gd name="adj2" fmla="val 50000"/>
          </a:avLst>
        </a:prstGeom>
        <a:solidFill>
          <a:schemeClr val="accent3">
            <a:hueOff val="0"/>
            <a:satOff val="0"/>
            <a:lumOff val="0"/>
            <a:alphaOff val="0"/>
          </a:schemeClr>
        </a:solidFill>
        <a:ln>
          <a:noFill/>
        </a:ln>
        <a:effectLst/>
        <a:sp3d z="-52400" extrusionH="181000" contourW="38100" prstMaterial="matte">
          <a:contourClr>
            <a:schemeClr val="lt1"/>
          </a:contourClr>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a:p>
      </dsp:txBody>
      <dsp:txXfrm>
        <a:off x="6752896" y="585890"/>
        <a:ext cx="384586" cy="385623"/>
      </dsp:txXfrm>
    </dsp:sp>
    <dsp:sp modelId="{6F3B962D-2FF4-413A-A226-6BC8714D2CA0}">
      <dsp:nvSpPr>
        <dsp:cNvPr id="0" name=""/>
        <dsp:cNvSpPr/>
      </dsp:nvSpPr>
      <dsp:spPr>
        <a:xfrm>
          <a:off x="7561460" y="1236"/>
          <a:ext cx="2591552" cy="1554931"/>
        </a:xfrm>
        <a:prstGeom prst="roundRect">
          <a:avLst>
            <a:gd name="adj" fmla="val 10000"/>
          </a:avLst>
        </a:prstGeom>
        <a:solidFill>
          <a:schemeClr val="accent4">
            <a:hueOff val="0"/>
            <a:satOff val="0"/>
            <a:lumOff val="0"/>
            <a:alphaOff val="0"/>
          </a:schemeClr>
        </a:solidFill>
        <a:ln>
          <a:noFill/>
        </a:ln>
        <a:effectLst/>
        <a:sp3d extrusionH="381000" contourW="38100" prstMaterial="matte">
          <a:contourClr>
            <a:schemeClr val="lt1"/>
          </a:contourClr>
        </a:sp3d>
      </dsp:spPr>
      <dsp:style>
        <a:lnRef idx="0">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t>Offer </a:t>
          </a:r>
          <a:r>
            <a:rPr lang="en-US" sz="1500" b="1" kern="1200" dirty="0"/>
            <a:t>discounts or loyalty plans</a:t>
          </a:r>
          <a:r>
            <a:rPr lang="en-US" sz="1500" kern="1200" dirty="0"/>
            <a:t> for short-tenure users.</a:t>
          </a:r>
        </a:p>
      </dsp:txBody>
      <dsp:txXfrm>
        <a:off x="7607002" y="46778"/>
        <a:ext cx="2500468" cy="1463847"/>
      </dsp:txXfrm>
    </dsp:sp>
    <dsp:sp modelId="{8F82DE18-8BDA-4A7D-BB60-3BD60C65737E}">
      <dsp:nvSpPr>
        <dsp:cNvPr id="0" name=""/>
        <dsp:cNvSpPr/>
      </dsp:nvSpPr>
      <dsp:spPr>
        <a:xfrm rot="5400000">
          <a:off x="8582532" y="1737576"/>
          <a:ext cx="549409" cy="642705"/>
        </a:xfrm>
        <a:prstGeom prst="rightArrow">
          <a:avLst>
            <a:gd name="adj1" fmla="val 60000"/>
            <a:gd name="adj2" fmla="val 50000"/>
          </a:avLst>
        </a:prstGeom>
        <a:solidFill>
          <a:schemeClr val="accent4">
            <a:hueOff val="0"/>
            <a:satOff val="0"/>
            <a:lumOff val="0"/>
            <a:alphaOff val="0"/>
          </a:schemeClr>
        </a:solidFill>
        <a:ln>
          <a:noFill/>
        </a:ln>
        <a:effectLst/>
        <a:sp3d z="-52400" extrusionH="181000" contourW="38100" prstMaterial="matte">
          <a:contourClr>
            <a:schemeClr val="lt1"/>
          </a:contourClr>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a:p>
      </dsp:txBody>
      <dsp:txXfrm rot="-5400000">
        <a:off x="8664426" y="1784224"/>
        <a:ext cx="385623" cy="384586"/>
      </dsp:txXfrm>
    </dsp:sp>
    <dsp:sp modelId="{C4FAAD32-DD26-42D5-BF93-8B7A283A86EA}">
      <dsp:nvSpPr>
        <dsp:cNvPr id="0" name=""/>
        <dsp:cNvSpPr/>
      </dsp:nvSpPr>
      <dsp:spPr>
        <a:xfrm>
          <a:off x="7561460" y="2592788"/>
          <a:ext cx="2591552" cy="1554931"/>
        </a:xfrm>
        <a:prstGeom prst="roundRect">
          <a:avLst>
            <a:gd name="adj" fmla="val 10000"/>
          </a:avLst>
        </a:prstGeom>
        <a:solidFill>
          <a:schemeClr val="accent5">
            <a:hueOff val="0"/>
            <a:satOff val="0"/>
            <a:lumOff val="0"/>
            <a:alphaOff val="0"/>
          </a:schemeClr>
        </a:solidFill>
        <a:ln>
          <a:noFill/>
        </a:ln>
        <a:effectLst/>
        <a:sp3d extrusionH="381000" contourW="38100" prstMaterial="matte">
          <a:contourClr>
            <a:schemeClr val="lt1"/>
          </a:contourClr>
        </a:sp3d>
      </dsp:spPr>
      <dsp:style>
        <a:lnRef idx="0">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t>Simplify payment channels to reduce friction.</a:t>
          </a:r>
        </a:p>
      </dsp:txBody>
      <dsp:txXfrm>
        <a:off x="7607002" y="2638330"/>
        <a:ext cx="2500468" cy="1463847"/>
      </dsp:txXfrm>
    </dsp:sp>
    <dsp:sp modelId="{3EFBAFF6-1DCE-47FA-A7B8-0ADA07521849}">
      <dsp:nvSpPr>
        <dsp:cNvPr id="0" name=""/>
        <dsp:cNvSpPr/>
      </dsp:nvSpPr>
      <dsp:spPr>
        <a:xfrm rot="10800000">
          <a:off x="6783994" y="3048901"/>
          <a:ext cx="549409" cy="642705"/>
        </a:xfrm>
        <a:prstGeom prst="rightArrow">
          <a:avLst>
            <a:gd name="adj1" fmla="val 60000"/>
            <a:gd name="adj2" fmla="val 50000"/>
          </a:avLst>
        </a:prstGeom>
        <a:solidFill>
          <a:schemeClr val="accent5">
            <a:hueOff val="0"/>
            <a:satOff val="0"/>
            <a:lumOff val="0"/>
            <a:alphaOff val="0"/>
          </a:schemeClr>
        </a:solidFill>
        <a:ln>
          <a:noFill/>
        </a:ln>
        <a:effectLst/>
        <a:sp3d z="-52400" extrusionH="181000" contourW="38100" prstMaterial="matte">
          <a:contourClr>
            <a:schemeClr val="lt1"/>
          </a:contourClr>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a:p>
      </dsp:txBody>
      <dsp:txXfrm rot="10800000">
        <a:off x="6948817" y="3177442"/>
        <a:ext cx="384586" cy="385623"/>
      </dsp:txXfrm>
    </dsp:sp>
    <dsp:sp modelId="{5ED5D258-0EBA-42F3-840B-024AD6FDE023}">
      <dsp:nvSpPr>
        <dsp:cNvPr id="0" name=""/>
        <dsp:cNvSpPr/>
      </dsp:nvSpPr>
      <dsp:spPr>
        <a:xfrm>
          <a:off x="3933287" y="2592788"/>
          <a:ext cx="2591552" cy="1554931"/>
        </a:xfrm>
        <a:prstGeom prst="roundRect">
          <a:avLst>
            <a:gd name="adj" fmla="val 10000"/>
          </a:avLst>
        </a:prstGeom>
        <a:solidFill>
          <a:schemeClr val="accent6">
            <a:hueOff val="0"/>
            <a:satOff val="0"/>
            <a:lumOff val="0"/>
            <a:alphaOff val="0"/>
          </a:schemeClr>
        </a:solidFill>
        <a:ln>
          <a:noFill/>
        </a:ln>
        <a:effectLst/>
        <a:sp3d extrusionH="381000" contourW="38100" prstMaterial="matte">
          <a:contourClr>
            <a:schemeClr val="lt1"/>
          </a:contourClr>
        </a:sp3d>
      </dsp:spPr>
      <dsp:style>
        <a:lnRef idx="0">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t>Introduce </a:t>
          </a:r>
          <a:r>
            <a:rPr lang="en-US" sz="1500" b="1" kern="1200" dirty="0"/>
            <a:t>customer retention alerts</a:t>
          </a:r>
          <a:r>
            <a:rPr lang="en-US" sz="1500" kern="1200" dirty="0"/>
            <a:t> using model predictions.</a:t>
          </a:r>
        </a:p>
      </dsp:txBody>
      <dsp:txXfrm>
        <a:off x="3978829" y="2638330"/>
        <a:ext cx="2500468" cy="146384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A989E5-4F05-428B-A908-8B145319ED0F}">
      <dsp:nvSpPr>
        <dsp:cNvPr id="0" name=""/>
        <dsp:cNvSpPr/>
      </dsp:nvSpPr>
      <dsp:spPr>
        <a:xfrm>
          <a:off x="0" y="0"/>
          <a:ext cx="5224170" cy="1750587"/>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dirty="0"/>
            <a:t>Learned full ML pipeline: EDA → Cleaning → Modeling → Evaluation.</a:t>
          </a:r>
        </a:p>
      </dsp:txBody>
      <dsp:txXfrm>
        <a:off x="51273" y="51273"/>
        <a:ext cx="3335149" cy="1648041"/>
      </dsp:txXfrm>
    </dsp:sp>
    <dsp:sp modelId="{3497E9C1-12C6-4F32-9E4D-69566D4434BC}">
      <dsp:nvSpPr>
        <dsp:cNvPr id="0" name=""/>
        <dsp:cNvSpPr/>
      </dsp:nvSpPr>
      <dsp:spPr>
        <a:xfrm>
          <a:off x="460956" y="2042352"/>
          <a:ext cx="5224170" cy="1750587"/>
        </a:xfrm>
        <a:prstGeom prst="roundRect">
          <a:avLst>
            <a:gd name="adj" fmla="val 10000"/>
          </a:avLst>
        </a:prstGeom>
        <a:solidFill>
          <a:schemeClr val="accent2">
            <a:hueOff val="-398442"/>
            <a:satOff val="6385"/>
            <a:lumOff val="5784"/>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dirty="0"/>
            <a:t>Gained hands-on experience in: </a:t>
          </a:r>
          <a:r>
            <a:rPr lang="en-US" sz="1400" kern="1200" dirty="0" err="1"/>
            <a:t>i</a:t>
          </a:r>
          <a:r>
            <a:rPr lang="en-US" sz="1400" kern="1200" dirty="0"/>
            <a:t>. Feature Engineering &amp; Multicollinearity handling ii. Regularization techniques iii. Ensemble learning &amp; interpretability</a:t>
          </a:r>
        </a:p>
      </dsp:txBody>
      <dsp:txXfrm>
        <a:off x="512229" y="2093625"/>
        <a:ext cx="3522786" cy="1648041"/>
      </dsp:txXfrm>
    </dsp:sp>
    <dsp:sp modelId="{76F39F8C-A55F-4FDB-AF07-10C452F62C7A}">
      <dsp:nvSpPr>
        <dsp:cNvPr id="0" name=""/>
        <dsp:cNvSpPr/>
      </dsp:nvSpPr>
      <dsp:spPr>
        <a:xfrm>
          <a:off x="921912" y="4084704"/>
          <a:ext cx="5224170" cy="1750587"/>
        </a:xfrm>
        <a:prstGeom prst="roundRect">
          <a:avLst>
            <a:gd name="adj" fmla="val 10000"/>
          </a:avLst>
        </a:prstGeom>
        <a:solidFill>
          <a:schemeClr val="accent2">
            <a:hueOff val="-796883"/>
            <a:satOff val="12770"/>
            <a:lumOff val="11569"/>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dirty="0"/>
            <a:t>Understood how analytics translates into </a:t>
          </a:r>
          <a:r>
            <a:rPr lang="en-US" sz="1400" b="1" kern="1200" dirty="0"/>
            <a:t>real-world business value</a:t>
          </a:r>
          <a:r>
            <a:rPr lang="en-US" sz="1400" kern="1200" dirty="0"/>
            <a:t>.</a:t>
          </a:r>
        </a:p>
      </dsp:txBody>
      <dsp:txXfrm>
        <a:off x="973185" y="4135977"/>
        <a:ext cx="3522786" cy="1648041"/>
      </dsp:txXfrm>
    </dsp:sp>
    <dsp:sp modelId="{239491BD-B8C8-41E2-8614-90E4090F33C7}">
      <dsp:nvSpPr>
        <dsp:cNvPr id="0" name=""/>
        <dsp:cNvSpPr/>
      </dsp:nvSpPr>
      <dsp:spPr>
        <a:xfrm>
          <a:off x="4086288" y="1327528"/>
          <a:ext cx="1137881" cy="1137881"/>
        </a:xfrm>
        <a:prstGeom prst="downArrow">
          <a:avLst>
            <a:gd name="adj1" fmla="val 55000"/>
            <a:gd name="adj2" fmla="val 45000"/>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marL="0" lvl="0" indent="0" algn="ctr" defTabSz="1466850">
            <a:lnSpc>
              <a:spcPct val="90000"/>
            </a:lnSpc>
            <a:spcBef>
              <a:spcPct val="0"/>
            </a:spcBef>
            <a:spcAft>
              <a:spcPct val="35000"/>
            </a:spcAft>
            <a:buNone/>
          </a:pPr>
          <a:endParaRPr lang="en-US" sz="3300" kern="1200"/>
        </a:p>
      </dsp:txBody>
      <dsp:txXfrm>
        <a:off x="4342311" y="1327528"/>
        <a:ext cx="625835" cy="856255"/>
      </dsp:txXfrm>
    </dsp:sp>
    <dsp:sp modelId="{DBCCFBD4-B7CC-4EDC-9FC2-9A59D0210676}">
      <dsp:nvSpPr>
        <dsp:cNvPr id="0" name=""/>
        <dsp:cNvSpPr/>
      </dsp:nvSpPr>
      <dsp:spPr>
        <a:xfrm>
          <a:off x="4547244" y="3358210"/>
          <a:ext cx="1137881" cy="1137881"/>
        </a:xfrm>
        <a:prstGeom prst="downArrow">
          <a:avLst>
            <a:gd name="adj1" fmla="val 55000"/>
            <a:gd name="adj2" fmla="val 45000"/>
          </a:avLst>
        </a:prstGeom>
        <a:solidFill>
          <a:schemeClr val="accent2">
            <a:tint val="40000"/>
            <a:alpha val="90000"/>
            <a:hueOff val="-847117"/>
            <a:satOff val="16588"/>
            <a:lumOff val="2720"/>
            <a:alphaOff val="0"/>
          </a:schemeClr>
        </a:solidFill>
        <a:ln w="12700" cap="flat" cmpd="sng" algn="ctr">
          <a:solidFill>
            <a:schemeClr val="accent2">
              <a:tint val="40000"/>
              <a:alpha val="90000"/>
              <a:hueOff val="-847117"/>
              <a:satOff val="16588"/>
              <a:lumOff val="272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marL="0" lvl="0" indent="0" algn="ctr" defTabSz="1466850">
            <a:lnSpc>
              <a:spcPct val="90000"/>
            </a:lnSpc>
            <a:spcBef>
              <a:spcPct val="0"/>
            </a:spcBef>
            <a:spcAft>
              <a:spcPct val="35000"/>
            </a:spcAft>
            <a:buNone/>
          </a:pPr>
          <a:endParaRPr lang="en-US" sz="3300" kern="1200"/>
        </a:p>
      </dsp:txBody>
      <dsp:txXfrm>
        <a:off x="4803267" y="3358210"/>
        <a:ext cx="625835" cy="856255"/>
      </dsp:txXfrm>
    </dsp:sp>
  </dsp:spTree>
</dsp:drawing>
</file>

<file path=ppt/diagrams/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2.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5">
  <dgm:title val=""/>
  <dgm:desc val=""/>
  <dgm:catLst>
    <dgm:cat type="3D" pri="11500"/>
  </dgm:catLst>
  <dgm:scene3d>
    <a:camera prst="isometricOffAxis2Left" zoom="95000"/>
    <a:lightRig rig="flat" dir="t"/>
  </dgm:scene3d>
  <dgm:styleLbl name="node0">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extrusionH="381000" contourW="38100" prstMaterial="matte">
      <a:contourClr>
        <a:schemeClr val="lt1"/>
      </a:contourClr>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z="5715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dgm:scene3d>
    <dgm:sp3d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dgm:scene3d>
    <dgm:sp3d z="-381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dgm:scene3d>
    <dgm:sp3d z="-52400" extrusionH="1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z="57150" extrusionH="63500" contourW="12700" prstMaterial="matte">
      <a:contourClr>
        <a:schemeClr val="dk1">
          <a:tint val="20000"/>
        </a:schemeClr>
      </a:contourClr>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z="-381000" extrusionH="63500" contourW="12700" prstMaterial="matte">
      <a:contourClr>
        <a:schemeClr val="dk1">
          <a:tint val="20000"/>
        </a:schemeClr>
      </a:contourClr>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z="52400"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z="52400"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z="60000" prstMaterial="flat">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dgm:scene3d>
    <dgm:sp3d z="60000" prstMaterial="flat">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60000" extrusionH="63500" prstMaterial="matte"/>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z="-60000" extrusionH="63500" prstMaterial="matte"/>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extrusionH="381000" prstMaterial="matte"/>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z="-400500" extrusionH="63500" prstMaterial="matte"/>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z="57150" extrusionH="12700" prstMaterial="flat">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extrusionH="12700" prstMaterial="flat">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dgm:scene3d>
    <dgm:sp3d z="-63500" extrusionH="63500" prstMaterial="matte"/>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z="57150" extrusionH="63500" contourW="12700" prstMaterial="matte">
      <a:contourClr>
        <a:schemeClr val="dk1">
          <a:tint val="20000"/>
        </a:schemeClr>
      </a:contourClr>
    </dgm:sp3d>
    <dgm:txPr/>
    <dgm:style>
      <a:lnRef idx="0">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dgm:style>
  </dgm:styleLbl>
  <dgm:styleLbl name="bgAccFollowNode1">
    <dgm:scene3d>
      <a:camera prst="orthographicFront"/>
      <a:lightRig rig="threePt" dir="t"/>
    </dgm:scene3d>
    <dgm:sp3d z="-400500" extrusionH="63500" contourW="12700" prstMaterial="matte">
      <a:contourClr>
        <a:schemeClr val="lt1"/>
      </a:contourClr>
    </dgm:sp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400500" extrusionH="63500" contourW="12700" prstMaterial="matte">
      <a:contourClr>
        <a:schemeClr val="lt1">
          <a:tint val="50000"/>
        </a:schemeClr>
      </a:contourClr>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trBgShp">
    <dgm:scene3d>
      <a:camera prst="orthographicFront"/>
      <a:lightRig rig="threePt" dir="t"/>
    </dgm:scene3d>
    <dgm:sp3d z="-4005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7150" extrusionH="63500" contourW="12700" prstMaterial="matte">
      <a:contourClr>
        <a:schemeClr val="lt1">
          <a:tint val="50000"/>
        </a:schemeClr>
      </a:contourClr>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8" name="Freeform: Shape 27">
            <a:extLst>
              <a:ext uri="{FF2B5EF4-FFF2-40B4-BE49-F238E27FC236}">
                <a16:creationId xmlns:a16="http://schemas.microsoft.com/office/drawing/2014/main" id="{9B0F7D69-D93C-4C38-A23D-76E000D691CD}"/>
              </a:ext>
            </a:extLst>
          </p:cNvPr>
          <p:cNvSpPr/>
          <p:nvPr/>
        </p:nvSpPr>
        <p:spPr>
          <a:xfrm>
            <a:off x="0" y="0"/>
            <a:ext cx="3496422" cy="6858000"/>
          </a:xfrm>
          <a:custGeom>
            <a:avLst/>
            <a:gdLst>
              <a:gd name="connsiteX0" fmla="*/ 0 w 3496422"/>
              <a:gd name="connsiteY0" fmla="*/ 0 h 6858000"/>
              <a:gd name="connsiteX1" fmla="*/ 1873399 w 3496422"/>
              <a:gd name="connsiteY1" fmla="*/ 0 h 6858000"/>
              <a:gd name="connsiteX2" fmla="*/ 1895523 w 3496422"/>
              <a:gd name="connsiteY2" fmla="*/ 14997 h 6858000"/>
              <a:gd name="connsiteX3" fmla="*/ 3496422 w 3496422"/>
              <a:gd name="connsiteY3" fmla="*/ 3621656 h 6858000"/>
              <a:gd name="connsiteX4" fmla="*/ 1622072 w 3496422"/>
              <a:gd name="connsiteY4" fmla="*/ 6374814 h 6858000"/>
              <a:gd name="connsiteX5" fmla="*/ 1105424 w 3496422"/>
              <a:gd name="connsiteY5" fmla="*/ 6780599 h 6858000"/>
              <a:gd name="connsiteX6" fmla="*/ 993668 w 3496422"/>
              <a:gd name="connsiteY6" fmla="*/ 6858000 h 6858000"/>
              <a:gd name="connsiteX7" fmla="*/ 0 w 3496422"/>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96422" h="6858000">
                <a:moveTo>
                  <a:pt x="0" y="0"/>
                </a:moveTo>
                <a:lnTo>
                  <a:pt x="1873399" y="0"/>
                </a:lnTo>
                <a:lnTo>
                  <a:pt x="1895523" y="14997"/>
                </a:lnTo>
                <a:cubicBezTo>
                  <a:pt x="2922686" y="754641"/>
                  <a:pt x="3496422" y="2093192"/>
                  <a:pt x="3496422" y="3621656"/>
                </a:cubicBezTo>
                <a:cubicBezTo>
                  <a:pt x="3496422" y="4969131"/>
                  <a:pt x="2567697" y="5602839"/>
                  <a:pt x="1622072" y="6374814"/>
                </a:cubicBezTo>
                <a:cubicBezTo>
                  <a:pt x="1449869" y="6515397"/>
                  <a:pt x="1279242" y="6653108"/>
                  <a:pt x="1105424" y="6780599"/>
                </a:cubicBezTo>
                <a:lnTo>
                  <a:pt x="993668" y="6858000"/>
                </a:lnTo>
                <a:lnTo>
                  <a:pt x="0" y="6858000"/>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p:cNvSpPr>
            <a:spLocks noGrp="1"/>
          </p:cNvSpPr>
          <p:nvPr>
            <p:ph type="ctrTitle"/>
          </p:nvPr>
        </p:nvSpPr>
        <p:spPr>
          <a:xfrm>
            <a:off x="4654295" y="1346268"/>
            <a:ext cx="7060135" cy="3285207"/>
          </a:xfrm>
        </p:spPr>
        <p:txBody>
          <a:bodyPr anchor="b">
            <a:noAutofit/>
          </a:bodyPr>
          <a:lstStyle>
            <a:lvl1pPr algn="l">
              <a:lnSpc>
                <a:spcPct val="120000"/>
              </a:lnSpc>
              <a:defRPr sz="540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4662312" y="4631475"/>
            <a:ext cx="7052117" cy="1150200"/>
          </a:xfrm>
        </p:spPr>
        <p:txBody>
          <a:bodyPr lIns="109728" tIns="109728" rIns="109728" bIns="91440" anchor="t">
            <a:normAutofit/>
          </a:bodyPr>
          <a:lstStyle>
            <a:lvl1pPr marL="0" indent="0" algn="l">
              <a:lnSpc>
                <a:spcPct val="130000"/>
              </a:lnSpc>
              <a:buNone/>
              <a:defRPr sz="2400" baseline="0">
                <a:solidFill>
                  <a:schemeClr val="tx1">
                    <a:lumMod val="85000"/>
                    <a:lumOff val="1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0" name="Date Placeholder 9">
            <a:extLst>
              <a:ext uri="{FF2B5EF4-FFF2-40B4-BE49-F238E27FC236}">
                <a16:creationId xmlns:a16="http://schemas.microsoft.com/office/drawing/2014/main" id="{123E5C65-E22A-4865-9449-10140D62B655}"/>
              </a:ext>
            </a:extLst>
          </p:cNvPr>
          <p:cNvSpPr>
            <a:spLocks noGrp="1"/>
          </p:cNvSpPr>
          <p:nvPr>
            <p:ph type="dt" sz="half" idx="10"/>
          </p:nvPr>
        </p:nvSpPr>
        <p:spPr>
          <a:xfrm>
            <a:off x="4654295" y="617415"/>
            <a:ext cx="7123723" cy="457200"/>
          </a:xfrm>
        </p:spPr>
        <p:txBody>
          <a:bodyPr/>
          <a:lstStyle>
            <a:lvl1pPr algn="l">
              <a:defRPr/>
            </a:lvl1pPr>
          </a:lstStyle>
          <a:p>
            <a:fld id="{12241623-A064-4BED-B073-BA4D61433402}" type="datetime1">
              <a:rPr lang="en-US" smtClean="0"/>
              <a:t>10/24/2025</a:t>
            </a:fld>
            <a:endParaRPr lang="en-US" dirty="0"/>
          </a:p>
        </p:txBody>
      </p:sp>
      <p:sp>
        <p:nvSpPr>
          <p:cNvPr id="24" name="Footer Placeholder 23">
            <a:extLst>
              <a:ext uri="{FF2B5EF4-FFF2-40B4-BE49-F238E27FC236}">
                <a16:creationId xmlns:a16="http://schemas.microsoft.com/office/drawing/2014/main" id="{EF9C3DE0-E7F5-4B4D-B5AF-CDE724CE79A3}"/>
              </a:ext>
            </a:extLst>
          </p:cNvPr>
          <p:cNvSpPr>
            <a:spLocks noGrp="1"/>
          </p:cNvSpPr>
          <p:nvPr>
            <p:ph type="ftr" sz="quarter" idx="11"/>
          </p:nvPr>
        </p:nvSpPr>
        <p:spPr>
          <a:xfrm>
            <a:off x="4654295" y="6170490"/>
            <a:ext cx="5588349" cy="457200"/>
          </a:xfrm>
        </p:spPr>
        <p:txBody>
          <a:bodyPr/>
          <a:lstStyle/>
          <a:p>
            <a:endParaRPr lang="en-US" dirty="0"/>
          </a:p>
        </p:txBody>
      </p:sp>
      <p:sp>
        <p:nvSpPr>
          <p:cNvPr id="25" name="Slide Number Placeholder 24">
            <a:extLst>
              <a:ext uri="{FF2B5EF4-FFF2-40B4-BE49-F238E27FC236}">
                <a16:creationId xmlns:a16="http://schemas.microsoft.com/office/drawing/2014/main" id="{48C1E146-840A-4217-B63E-62E5CF8909C2}"/>
              </a:ext>
            </a:extLst>
          </p:cNvPr>
          <p:cNvSpPr>
            <a:spLocks noGrp="1"/>
          </p:cNvSpPr>
          <p:nvPr>
            <p:ph type="sldNum" sz="quarter" idx="12"/>
          </p:nvPr>
        </p:nvSpPr>
        <p:spPr>
          <a:xfrm>
            <a:off x="10515600" y="6170490"/>
            <a:ext cx="1198829" cy="457200"/>
          </a:xfrm>
        </p:spPr>
        <p:txBody>
          <a:bodyPr/>
          <a:lstStyle>
            <a:lvl1pPr algn="r">
              <a:defRPr/>
            </a:lvl1pPr>
          </a:lstStyle>
          <a:p>
            <a:fld id="{FAEF9944-A4F6-4C59-AEBD-678D6480B8EA}" type="slidenum">
              <a:rPr lang="en-US" smtClean="0"/>
              <a:pPr/>
              <a:t>‹#›</a:t>
            </a:fld>
            <a:endParaRPr lang="en-US" dirty="0"/>
          </a:p>
        </p:txBody>
      </p:sp>
      <p:sp>
        <p:nvSpPr>
          <p:cNvPr id="4" name="Freeform: Shape 3">
            <a:extLst>
              <a:ext uri="{FF2B5EF4-FFF2-40B4-BE49-F238E27FC236}">
                <a16:creationId xmlns:a16="http://schemas.microsoft.com/office/drawing/2014/main" id="{8CD419D4-EA9D-42D9-BF62-B07F0B7B672B}"/>
              </a:ext>
            </a:extLst>
          </p:cNvPr>
          <p:cNvSpPr/>
          <p:nvPr/>
        </p:nvSpPr>
        <p:spPr>
          <a:xfrm>
            <a:off x="1375409" y="0"/>
            <a:ext cx="2529723" cy="6858000"/>
          </a:xfrm>
          <a:custGeom>
            <a:avLst/>
            <a:gdLst>
              <a:gd name="connsiteX0" fmla="*/ 1258269 w 2529723"/>
              <a:gd name="connsiteY0" fmla="*/ 0 h 6858000"/>
              <a:gd name="connsiteX1" fmla="*/ 1275627 w 2529723"/>
              <a:gd name="connsiteY1" fmla="*/ 0 h 6858000"/>
              <a:gd name="connsiteX2" fmla="*/ 1302560 w 2529723"/>
              <a:gd name="connsiteY2" fmla="*/ 24338 h 6858000"/>
              <a:gd name="connsiteX3" fmla="*/ 2522825 w 2529723"/>
              <a:gd name="connsiteY3" fmla="*/ 3678515 h 6858000"/>
              <a:gd name="connsiteX4" fmla="*/ 557500 w 2529723"/>
              <a:gd name="connsiteY4" fmla="*/ 6451411 h 6858000"/>
              <a:gd name="connsiteX5" fmla="*/ 32482 w 2529723"/>
              <a:gd name="connsiteY5" fmla="*/ 6849373 h 6858000"/>
              <a:gd name="connsiteX6" fmla="*/ 19531 w 2529723"/>
              <a:gd name="connsiteY6" fmla="*/ 6858000 h 6858000"/>
              <a:gd name="connsiteX7" fmla="*/ 0 w 2529723"/>
              <a:gd name="connsiteY7" fmla="*/ 6858000 h 6858000"/>
              <a:gd name="connsiteX8" fmla="*/ 14202 w 2529723"/>
              <a:gd name="connsiteY8" fmla="*/ 6848540 h 6858000"/>
              <a:gd name="connsiteX9" fmla="*/ 539221 w 2529723"/>
              <a:gd name="connsiteY9" fmla="*/ 6450578 h 6858000"/>
              <a:gd name="connsiteX10" fmla="*/ 2504546 w 2529723"/>
              <a:gd name="connsiteY10" fmla="*/ 3677682 h 6858000"/>
              <a:gd name="connsiteX11" fmla="*/ 1284280 w 2529723"/>
              <a:gd name="connsiteY11" fmla="*/ 235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9723" h="685800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5" name="Freeform: Shape 4">
            <a:extLst>
              <a:ext uri="{FF2B5EF4-FFF2-40B4-BE49-F238E27FC236}">
                <a16:creationId xmlns:a16="http://schemas.microsoft.com/office/drawing/2014/main" id="{1C6FEC9B-9608-4181-A9E5-A1B80E72021C}"/>
              </a:ext>
            </a:extLst>
          </p:cNvPr>
          <p:cNvSpPr/>
          <p:nvPr/>
        </p:nvSpPr>
        <p:spPr>
          <a:xfrm>
            <a:off x="1155402" y="0"/>
            <a:ext cx="2536434" cy="6858000"/>
          </a:xfrm>
          <a:custGeom>
            <a:avLst/>
            <a:gdLst>
              <a:gd name="connsiteX0" fmla="*/ 879731 w 2536434"/>
              <a:gd name="connsiteY0" fmla="*/ 0 h 6858000"/>
              <a:gd name="connsiteX1" fmla="*/ 913411 w 2536434"/>
              <a:gd name="connsiteY1" fmla="*/ 0 h 6858000"/>
              <a:gd name="connsiteX2" fmla="*/ 935535 w 2536434"/>
              <a:gd name="connsiteY2" fmla="*/ 14997 h 6858000"/>
              <a:gd name="connsiteX3" fmla="*/ 2536434 w 2536434"/>
              <a:gd name="connsiteY3" fmla="*/ 3621656 h 6858000"/>
              <a:gd name="connsiteX4" fmla="*/ 662084 w 2536434"/>
              <a:gd name="connsiteY4" fmla="*/ 6374814 h 6858000"/>
              <a:gd name="connsiteX5" fmla="*/ 145436 w 2536434"/>
              <a:gd name="connsiteY5" fmla="*/ 6780599 h 6858000"/>
              <a:gd name="connsiteX6" fmla="*/ 33680 w 2536434"/>
              <a:gd name="connsiteY6" fmla="*/ 6858000 h 6858000"/>
              <a:gd name="connsiteX7" fmla="*/ 0 w 2536434"/>
              <a:gd name="connsiteY7" fmla="*/ 6858000 h 6858000"/>
              <a:gd name="connsiteX8" fmla="*/ 111756 w 2536434"/>
              <a:gd name="connsiteY8" fmla="*/ 6780599 h 6858000"/>
              <a:gd name="connsiteX9" fmla="*/ 628404 w 2536434"/>
              <a:gd name="connsiteY9" fmla="*/ 6374814 h 6858000"/>
              <a:gd name="connsiteX10" fmla="*/ 2502754 w 2536434"/>
              <a:gd name="connsiteY10" fmla="*/ 3621656 h 6858000"/>
              <a:gd name="connsiteX11" fmla="*/ 901855 w 2536434"/>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6" name="Freeform: Shape 5">
            <a:extLst>
              <a:ext uri="{FF2B5EF4-FFF2-40B4-BE49-F238E27FC236}">
                <a16:creationId xmlns:a16="http://schemas.microsoft.com/office/drawing/2014/main" id="{AB1564ED-F26F-451D-97D6-A6EC3E83FD55}"/>
              </a:ext>
            </a:extLst>
          </p:cNvPr>
          <p:cNvSpPr/>
          <p:nvPr/>
        </p:nvSpPr>
        <p:spPr>
          <a:xfrm>
            <a:off x="924161" y="0"/>
            <a:ext cx="2261351" cy="6858000"/>
          </a:xfrm>
          <a:custGeom>
            <a:avLst/>
            <a:gdLst>
              <a:gd name="connsiteX0" fmla="*/ 879731 w 2521425"/>
              <a:gd name="connsiteY0" fmla="*/ 0 h 6858000"/>
              <a:gd name="connsiteX1" fmla="*/ 898402 w 2521425"/>
              <a:gd name="connsiteY1" fmla="*/ 0 h 6858000"/>
              <a:gd name="connsiteX2" fmla="*/ 920526 w 2521425"/>
              <a:gd name="connsiteY2" fmla="*/ 14997 h 6858000"/>
              <a:gd name="connsiteX3" fmla="*/ 2521425 w 2521425"/>
              <a:gd name="connsiteY3" fmla="*/ 3621656 h 6858000"/>
              <a:gd name="connsiteX4" fmla="*/ 647075 w 2521425"/>
              <a:gd name="connsiteY4" fmla="*/ 6374814 h 6858000"/>
              <a:gd name="connsiteX5" fmla="*/ 130427 w 2521425"/>
              <a:gd name="connsiteY5" fmla="*/ 6780599 h 6858000"/>
              <a:gd name="connsiteX6" fmla="*/ 18671 w 2521425"/>
              <a:gd name="connsiteY6" fmla="*/ 6858000 h 6858000"/>
              <a:gd name="connsiteX7" fmla="*/ 0 w 2521425"/>
              <a:gd name="connsiteY7" fmla="*/ 6858000 h 6858000"/>
              <a:gd name="connsiteX8" fmla="*/ 111756 w 2521425"/>
              <a:gd name="connsiteY8" fmla="*/ 6780599 h 6858000"/>
              <a:gd name="connsiteX9" fmla="*/ 628404 w 2521425"/>
              <a:gd name="connsiteY9" fmla="*/ 6374814 h 6858000"/>
              <a:gd name="connsiteX10" fmla="*/ 2502754 w 2521425"/>
              <a:gd name="connsiteY10" fmla="*/ 3621656 h 6858000"/>
              <a:gd name="connsiteX11" fmla="*/ 901855 w 2521425"/>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1425" h="6858000">
                <a:moveTo>
                  <a:pt x="879731" y="0"/>
                </a:moveTo>
                <a:lnTo>
                  <a:pt x="898402" y="0"/>
                </a:lnTo>
                <a:lnTo>
                  <a:pt x="920526" y="14997"/>
                </a:lnTo>
                <a:cubicBezTo>
                  <a:pt x="1947689" y="754641"/>
                  <a:pt x="2521425" y="2093192"/>
                  <a:pt x="2521425" y="3621656"/>
                </a:cubicBezTo>
                <a:cubicBezTo>
                  <a:pt x="2521425" y="4969131"/>
                  <a:pt x="1592700" y="5602839"/>
                  <a:pt x="647075" y="6374814"/>
                </a:cubicBezTo>
                <a:cubicBezTo>
                  <a:pt x="474872" y="6515397"/>
                  <a:pt x="304245" y="6653108"/>
                  <a:pt x="130427" y="6780599"/>
                </a:cubicBezTo>
                <a:lnTo>
                  <a:pt x="18671"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Tree>
    <p:extLst>
      <p:ext uri="{BB962C8B-B14F-4D97-AF65-F5344CB8AC3E}">
        <p14:creationId xmlns:p14="http://schemas.microsoft.com/office/powerpoint/2010/main" val="36021385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Date Placeholder 9">
            <a:extLst>
              <a:ext uri="{FF2B5EF4-FFF2-40B4-BE49-F238E27FC236}">
                <a16:creationId xmlns:a16="http://schemas.microsoft.com/office/drawing/2014/main" id="{6923EF53-7767-4C94-BEF6-D452927945DA}"/>
              </a:ext>
            </a:extLst>
          </p:cNvPr>
          <p:cNvSpPr>
            <a:spLocks noGrp="1"/>
          </p:cNvSpPr>
          <p:nvPr>
            <p:ph type="dt" sz="half" idx="10"/>
          </p:nvPr>
        </p:nvSpPr>
        <p:spPr/>
        <p:txBody>
          <a:bodyPr/>
          <a:lstStyle/>
          <a:p>
            <a:fld id="{22F3E5F3-28EE-488F-BD53-B744C06C3DEC}" type="datetime1">
              <a:rPr lang="en-US" smtClean="0"/>
              <a:t>10/24/2025</a:t>
            </a:fld>
            <a:endParaRPr lang="en-US" dirty="0"/>
          </a:p>
        </p:txBody>
      </p:sp>
      <p:sp>
        <p:nvSpPr>
          <p:cNvPr id="11" name="Footer Placeholder 10">
            <a:extLst>
              <a:ext uri="{FF2B5EF4-FFF2-40B4-BE49-F238E27FC236}">
                <a16:creationId xmlns:a16="http://schemas.microsoft.com/office/drawing/2014/main" id="{ACF12700-F905-4CFA-970C-C81E05A64D5B}"/>
              </a:ext>
            </a:extLst>
          </p:cNvPr>
          <p:cNvSpPr>
            <a:spLocks noGrp="1"/>
          </p:cNvSpPr>
          <p:nvPr>
            <p:ph type="ftr" sz="quarter" idx="11"/>
          </p:nvPr>
        </p:nvSpPr>
        <p:spPr/>
        <p:txBody>
          <a:bodyPr/>
          <a:lstStyle/>
          <a:p>
            <a:endParaRPr lang="en-US" dirty="0"/>
          </a:p>
        </p:txBody>
      </p:sp>
      <p:sp>
        <p:nvSpPr>
          <p:cNvPr id="12" name="Slide Number Placeholder 11">
            <a:extLst>
              <a:ext uri="{FF2B5EF4-FFF2-40B4-BE49-F238E27FC236}">
                <a16:creationId xmlns:a16="http://schemas.microsoft.com/office/drawing/2014/main" id="{DA1B1EE2-BCA3-432B-A32D-B04C7F1DD93F}"/>
              </a:ext>
            </a:extLst>
          </p:cNvPr>
          <p:cNvSpPr>
            <a:spLocks noGrp="1"/>
          </p:cNvSpPr>
          <p:nvPr>
            <p:ph type="sldNum" sz="quarter" idx="12"/>
          </p:nvPr>
        </p:nvSpPr>
        <p:spPr/>
        <p:txBody>
          <a:bodyPr/>
          <a:lstStyle/>
          <a:p>
            <a:pPr algn="l"/>
            <a:fld id="{FAEF9944-A4F6-4C59-AEBD-678D6480B8EA}" type="slidenum">
              <a:rPr lang="en-US" smtClean="0"/>
              <a:pPr algn="l"/>
              <a:t>‹#›</a:t>
            </a:fld>
            <a:endParaRPr lang="en-US" dirty="0"/>
          </a:p>
        </p:txBody>
      </p:sp>
    </p:spTree>
    <p:extLst>
      <p:ext uri="{BB962C8B-B14F-4D97-AF65-F5344CB8AC3E}">
        <p14:creationId xmlns:p14="http://schemas.microsoft.com/office/powerpoint/2010/main" val="22035711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B84A89F5-6982-40AE-8108-88B93E85C8FF}"/>
              </a:ext>
            </a:extLst>
          </p:cNvPr>
          <p:cNvGrpSpPr/>
          <p:nvPr/>
        </p:nvGrpSpPr>
        <p:grpSpPr>
          <a:xfrm>
            <a:off x="3124577" y="0"/>
            <a:ext cx="4389519" cy="2916937"/>
            <a:chOff x="3124577" y="0"/>
            <a:chExt cx="4389519" cy="2916937"/>
          </a:xfrm>
        </p:grpSpPr>
        <p:sp>
          <p:nvSpPr>
            <p:cNvPr id="49" name="Freeform: Shape 48">
              <a:extLst>
                <a:ext uri="{FF2B5EF4-FFF2-40B4-BE49-F238E27FC236}">
                  <a16:creationId xmlns:a16="http://schemas.microsoft.com/office/drawing/2014/main" id="{B80BED93-E30B-4492-A268-84C33CA4F067}"/>
                </a:ext>
              </a:extLst>
            </p:cNvPr>
            <p:cNvSpPr/>
            <p:nvPr/>
          </p:nvSpPr>
          <p:spPr>
            <a:xfrm>
              <a:off x="3320637" y="0"/>
              <a:ext cx="4013331" cy="2742133"/>
            </a:xfrm>
            <a:custGeom>
              <a:avLst/>
              <a:gdLst>
                <a:gd name="connsiteX0" fmla="*/ 294151 w 4013331"/>
                <a:gd name="connsiteY0" fmla="*/ 0 h 2742133"/>
                <a:gd name="connsiteX1" fmla="*/ 3844057 w 4013331"/>
                <a:gd name="connsiteY1" fmla="*/ 0 h 2742133"/>
                <a:gd name="connsiteX2" fmla="*/ 3892490 w 4013331"/>
                <a:gd name="connsiteY2" fmla="*/ 131440 h 2742133"/>
                <a:gd name="connsiteX3" fmla="*/ 4013331 w 4013331"/>
                <a:gd name="connsiteY3" fmla="*/ 941251 h 2742133"/>
                <a:gd name="connsiteX4" fmla="*/ 3804827 w 4013331"/>
                <a:gd name="connsiteY4" fmla="*/ 1540292 h 2742133"/>
                <a:gd name="connsiteX5" fmla="*/ 3187498 w 4013331"/>
                <a:gd name="connsiteY5" fmla="*/ 2098087 h 2742133"/>
                <a:gd name="connsiteX6" fmla="*/ 3051769 w 4013331"/>
                <a:gd name="connsiteY6" fmla="*/ 2204787 h 2742133"/>
                <a:gd name="connsiteX7" fmla="*/ 1936476 w 4013331"/>
                <a:gd name="connsiteY7" fmla="*/ 2742133 h 2742133"/>
                <a:gd name="connsiteX8" fmla="*/ 467303 w 4013331"/>
                <a:gd name="connsiteY8" fmla="*/ 1868695 h 2742133"/>
                <a:gd name="connsiteX9" fmla="*/ 310732 w 4013331"/>
                <a:gd name="connsiteY9" fmla="*/ 1645244 h 2742133"/>
                <a:gd name="connsiteX10" fmla="*/ 0 w 4013331"/>
                <a:gd name="connsiteY10" fmla="*/ 941251 h 2742133"/>
                <a:gd name="connsiteX11" fmla="*/ 187749 w 4013331"/>
                <a:gd name="connsiteY11" fmla="*/ 183076 h 2742133"/>
                <a:gd name="connsiteX12" fmla="*/ 288888 w 4013331"/>
                <a:gd name="connsiteY12" fmla="*/ 7329 h 2742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013331" h="2742133">
                  <a:moveTo>
                    <a:pt x="294151" y="0"/>
                  </a:moveTo>
                  <a:lnTo>
                    <a:pt x="3844057" y="0"/>
                  </a:lnTo>
                  <a:lnTo>
                    <a:pt x="3892490" y="131440"/>
                  </a:lnTo>
                  <a:cubicBezTo>
                    <a:pt x="3971777" y="378867"/>
                    <a:pt x="4013331" y="652783"/>
                    <a:pt x="4013331" y="941251"/>
                  </a:cubicBezTo>
                  <a:cubicBezTo>
                    <a:pt x="4013331" y="1171430"/>
                    <a:pt x="3948997" y="1356167"/>
                    <a:pt x="3804827" y="1540292"/>
                  </a:cubicBezTo>
                  <a:cubicBezTo>
                    <a:pt x="3654026" y="1732895"/>
                    <a:pt x="3427436" y="1910292"/>
                    <a:pt x="3187498" y="2098087"/>
                  </a:cubicBezTo>
                  <a:cubicBezTo>
                    <a:pt x="3143231" y="2132693"/>
                    <a:pt x="3097499" y="2168522"/>
                    <a:pt x="3051769" y="2204787"/>
                  </a:cubicBezTo>
                  <a:cubicBezTo>
                    <a:pt x="2642425" y="2529345"/>
                    <a:pt x="2343664" y="2742133"/>
                    <a:pt x="1936476" y="2742133"/>
                  </a:cubicBezTo>
                  <a:cubicBezTo>
                    <a:pt x="1316045" y="2742133"/>
                    <a:pt x="876647" y="2480932"/>
                    <a:pt x="467303" y="1868695"/>
                  </a:cubicBezTo>
                  <a:cubicBezTo>
                    <a:pt x="413736" y="1788559"/>
                    <a:pt x="361372" y="1715679"/>
                    <a:pt x="310732" y="1645244"/>
                  </a:cubicBezTo>
                  <a:cubicBezTo>
                    <a:pt x="100850" y="1353195"/>
                    <a:pt x="0" y="1201315"/>
                    <a:pt x="0" y="941251"/>
                  </a:cubicBezTo>
                  <a:cubicBezTo>
                    <a:pt x="0" y="683021"/>
                    <a:pt x="63214" y="427935"/>
                    <a:pt x="187749" y="183076"/>
                  </a:cubicBezTo>
                  <a:cubicBezTo>
                    <a:pt x="218215" y="123194"/>
                    <a:pt x="251953" y="64578"/>
                    <a:pt x="288888" y="7329"/>
                  </a:cubicBez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50" name="Freeform: Shape 49">
              <a:extLst>
                <a:ext uri="{FF2B5EF4-FFF2-40B4-BE49-F238E27FC236}">
                  <a16:creationId xmlns:a16="http://schemas.microsoft.com/office/drawing/2014/main" id="{965F60C1-CD8B-4326-9B24-3D197CF382A6}"/>
                </a:ext>
              </a:extLst>
            </p:cNvPr>
            <p:cNvSpPr/>
            <p:nvPr/>
          </p:nvSpPr>
          <p:spPr>
            <a:xfrm>
              <a:off x="3566319" y="0"/>
              <a:ext cx="3401415" cy="2440484"/>
            </a:xfrm>
            <a:custGeom>
              <a:avLst/>
              <a:gdLst>
                <a:gd name="connsiteX0" fmla="*/ 332917 w 3401415"/>
                <a:gd name="connsiteY0" fmla="*/ 0 h 2440484"/>
                <a:gd name="connsiteX1" fmla="*/ 3207137 w 3401415"/>
                <a:gd name="connsiteY1" fmla="*/ 0 h 2440484"/>
                <a:gd name="connsiteX2" fmla="*/ 3242654 w 3401415"/>
                <a:gd name="connsiteY2" fmla="*/ 74937 h 2440484"/>
                <a:gd name="connsiteX3" fmla="*/ 3401415 w 3401415"/>
                <a:gd name="connsiteY3" fmla="*/ 914184 h 2440484"/>
                <a:gd name="connsiteX4" fmla="*/ 3224702 w 3401415"/>
                <a:gd name="connsiteY4" fmla="*/ 1421888 h 2440484"/>
                <a:gd name="connsiteX5" fmla="*/ 2701498 w 3401415"/>
                <a:gd name="connsiteY5" fmla="*/ 1894635 h 2440484"/>
                <a:gd name="connsiteX6" fmla="*/ 2586463 w 3401415"/>
                <a:gd name="connsiteY6" fmla="*/ 1985068 h 2440484"/>
                <a:gd name="connsiteX7" fmla="*/ 1641219 w 3401415"/>
                <a:gd name="connsiteY7" fmla="*/ 2440484 h 2440484"/>
                <a:gd name="connsiteX8" fmla="*/ 396053 w 3401415"/>
                <a:gd name="connsiteY8" fmla="*/ 1700219 h 2440484"/>
                <a:gd name="connsiteX9" fmla="*/ 263354 w 3401415"/>
                <a:gd name="connsiteY9" fmla="*/ 1510839 h 2440484"/>
                <a:gd name="connsiteX10" fmla="*/ 0 w 3401415"/>
                <a:gd name="connsiteY10" fmla="*/ 914184 h 2440484"/>
                <a:gd name="connsiteX11" fmla="*/ 159122 w 3401415"/>
                <a:gd name="connsiteY11" fmla="*/ 271610 h 2440484"/>
                <a:gd name="connsiteX12" fmla="*/ 244841 w 3401415"/>
                <a:gd name="connsiteY12" fmla="*/ 122658 h 2440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01415" h="2440484">
                  <a:moveTo>
                    <a:pt x="332917" y="0"/>
                  </a:moveTo>
                  <a:lnTo>
                    <a:pt x="3207137" y="0"/>
                  </a:lnTo>
                  <a:lnTo>
                    <a:pt x="3242654" y="74937"/>
                  </a:lnTo>
                  <a:cubicBezTo>
                    <a:pt x="3346386" y="322243"/>
                    <a:pt x="3401415" y="608579"/>
                    <a:pt x="3401415" y="914184"/>
                  </a:cubicBezTo>
                  <a:cubicBezTo>
                    <a:pt x="3401415" y="1109268"/>
                    <a:pt x="3346890" y="1265837"/>
                    <a:pt x="3224702" y="1421888"/>
                  </a:cubicBezTo>
                  <a:cubicBezTo>
                    <a:pt x="3096894" y="1585125"/>
                    <a:pt x="2904852" y="1735475"/>
                    <a:pt x="2701498" y="1894635"/>
                  </a:cubicBezTo>
                  <a:cubicBezTo>
                    <a:pt x="2663980" y="1923966"/>
                    <a:pt x="2625221" y="1954332"/>
                    <a:pt x="2586463" y="1985068"/>
                  </a:cubicBezTo>
                  <a:cubicBezTo>
                    <a:pt x="2239532" y="2260140"/>
                    <a:pt x="1986324" y="2440484"/>
                    <a:pt x="1641219" y="2440484"/>
                  </a:cubicBezTo>
                  <a:cubicBezTo>
                    <a:pt x="1115386" y="2440484"/>
                    <a:pt x="742984" y="2219109"/>
                    <a:pt x="396053" y="1700219"/>
                  </a:cubicBezTo>
                  <a:cubicBezTo>
                    <a:pt x="350653" y="1632303"/>
                    <a:pt x="306273" y="1570535"/>
                    <a:pt x="263354" y="1510839"/>
                  </a:cubicBezTo>
                  <a:cubicBezTo>
                    <a:pt x="85473" y="1263318"/>
                    <a:pt x="0" y="1134597"/>
                    <a:pt x="0" y="914184"/>
                  </a:cubicBezTo>
                  <a:cubicBezTo>
                    <a:pt x="0" y="695327"/>
                    <a:pt x="53576" y="479135"/>
                    <a:pt x="159122" y="271610"/>
                  </a:cubicBezTo>
                  <a:cubicBezTo>
                    <a:pt x="184943" y="220858"/>
                    <a:pt x="213538" y="171179"/>
                    <a:pt x="244841" y="122658"/>
                  </a:cubicBezTo>
                  <a:close/>
                </a:path>
              </a:pathLst>
            </a:custGeom>
            <a:noFill/>
            <a:ln w="15875">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51" name="Freeform: Shape 50">
              <a:extLst>
                <a:ext uri="{FF2B5EF4-FFF2-40B4-BE49-F238E27FC236}">
                  <a16:creationId xmlns:a16="http://schemas.microsoft.com/office/drawing/2014/main" id="{69511D06-104E-440E-8049-4CDCE4B87E96}"/>
                </a:ext>
              </a:extLst>
            </p:cNvPr>
            <p:cNvSpPr/>
            <p:nvPr/>
          </p:nvSpPr>
          <p:spPr>
            <a:xfrm>
              <a:off x="3232490" y="0"/>
              <a:ext cx="4164597" cy="2817185"/>
            </a:xfrm>
            <a:custGeom>
              <a:avLst/>
              <a:gdLst>
                <a:gd name="connsiteX0" fmla="*/ 237339 w 4130517"/>
                <a:gd name="connsiteY0" fmla="*/ 0 h 2806419"/>
                <a:gd name="connsiteX1" fmla="*/ 3997489 w 4130517"/>
                <a:gd name="connsiteY1" fmla="*/ 0 h 2806419"/>
                <a:gd name="connsiteX2" fmla="*/ 4006148 w 4130517"/>
                <a:gd name="connsiteY2" fmla="*/ 24333 h 2806419"/>
                <a:gd name="connsiteX3" fmla="*/ 4130517 w 4130517"/>
                <a:gd name="connsiteY3" fmla="*/ 887307 h 2806419"/>
                <a:gd name="connsiteX4" fmla="*/ 3915925 w 4130517"/>
                <a:gd name="connsiteY4" fmla="*/ 1525677 h 2806419"/>
                <a:gd name="connsiteX5" fmla="*/ 3280571 w 4130517"/>
                <a:gd name="connsiteY5" fmla="*/ 2120090 h 2806419"/>
                <a:gd name="connsiteX6" fmla="*/ 3140878 w 4130517"/>
                <a:gd name="connsiteY6" fmla="*/ 2233796 h 2806419"/>
                <a:gd name="connsiteX7" fmla="*/ 1993019 w 4130517"/>
                <a:gd name="connsiteY7" fmla="*/ 2806419 h 2806419"/>
                <a:gd name="connsiteX8" fmla="*/ 480948 w 4130517"/>
                <a:gd name="connsiteY8" fmla="*/ 1875638 h 2806419"/>
                <a:gd name="connsiteX9" fmla="*/ 319805 w 4130517"/>
                <a:gd name="connsiteY9" fmla="*/ 1637519 h 2806419"/>
                <a:gd name="connsiteX10" fmla="*/ 0 w 4130517"/>
                <a:gd name="connsiteY10" fmla="*/ 887307 h 2806419"/>
                <a:gd name="connsiteX11" fmla="*/ 193231 w 4130517"/>
                <a:gd name="connsiteY11" fmla="*/ 79360 h 2806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30517" h="2806419">
                  <a:moveTo>
                    <a:pt x="237339" y="0"/>
                  </a:moveTo>
                  <a:lnTo>
                    <a:pt x="3997489" y="0"/>
                  </a:lnTo>
                  <a:lnTo>
                    <a:pt x="4006148" y="24333"/>
                  </a:lnTo>
                  <a:cubicBezTo>
                    <a:pt x="4087750" y="288004"/>
                    <a:pt x="4130517" y="579903"/>
                    <a:pt x="4130517" y="887307"/>
                  </a:cubicBezTo>
                  <a:cubicBezTo>
                    <a:pt x="4130517" y="1132599"/>
                    <a:pt x="4064304" y="1329464"/>
                    <a:pt x="3915925" y="1525677"/>
                  </a:cubicBezTo>
                  <a:cubicBezTo>
                    <a:pt x="3760721" y="1730924"/>
                    <a:pt x="3527514" y="1919967"/>
                    <a:pt x="3280571" y="2120090"/>
                  </a:cubicBezTo>
                  <a:cubicBezTo>
                    <a:pt x="3235011" y="2156968"/>
                    <a:pt x="3187944" y="2195151"/>
                    <a:pt x="3140878" y="2233796"/>
                  </a:cubicBezTo>
                  <a:cubicBezTo>
                    <a:pt x="2719582" y="2579662"/>
                    <a:pt x="2412097" y="2806419"/>
                    <a:pt x="1993019" y="2806419"/>
                  </a:cubicBezTo>
                  <a:cubicBezTo>
                    <a:pt x="1354472" y="2806419"/>
                    <a:pt x="902244" y="2528070"/>
                    <a:pt x="480948" y="1875638"/>
                  </a:cubicBezTo>
                  <a:cubicBezTo>
                    <a:pt x="425816" y="1790244"/>
                    <a:pt x="371924" y="1712578"/>
                    <a:pt x="319805" y="1637519"/>
                  </a:cubicBezTo>
                  <a:cubicBezTo>
                    <a:pt x="103795" y="1326296"/>
                    <a:pt x="0" y="1164446"/>
                    <a:pt x="0" y="887307"/>
                  </a:cubicBezTo>
                  <a:cubicBezTo>
                    <a:pt x="0" y="612125"/>
                    <a:pt x="65060" y="340293"/>
                    <a:pt x="193231" y="79360"/>
                  </a:cubicBezTo>
                  <a:close/>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52" name="Freeform: Shape 51">
              <a:extLst>
                <a:ext uri="{FF2B5EF4-FFF2-40B4-BE49-F238E27FC236}">
                  <a16:creationId xmlns:a16="http://schemas.microsoft.com/office/drawing/2014/main" id="{164F6B39-7B0A-4839-9F52-1FFA2044F248}"/>
                </a:ext>
              </a:extLst>
            </p:cNvPr>
            <p:cNvSpPr/>
            <p:nvPr/>
          </p:nvSpPr>
          <p:spPr>
            <a:xfrm>
              <a:off x="3124577" y="0"/>
              <a:ext cx="4389519" cy="2916937"/>
            </a:xfrm>
            <a:custGeom>
              <a:avLst/>
              <a:gdLst>
                <a:gd name="connsiteX0" fmla="*/ 208215 w 4389519"/>
                <a:gd name="connsiteY0" fmla="*/ 0 h 2916937"/>
                <a:gd name="connsiteX1" fmla="*/ 4284014 w 4389519"/>
                <a:gd name="connsiteY1" fmla="*/ 0 h 2916937"/>
                <a:gd name="connsiteX2" fmla="*/ 4335794 w 4389519"/>
                <a:gd name="connsiteY2" fmla="*/ 207911 h 2916937"/>
                <a:gd name="connsiteX3" fmla="*/ 4376420 w 4389519"/>
                <a:gd name="connsiteY3" fmla="*/ 1078865 h 2916937"/>
                <a:gd name="connsiteX4" fmla="*/ 4090147 w 4389519"/>
                <a:gd name="connsiteY4" fmla="*/ 1734728 h 2916937"/>
                <a:gd name="connsiteX5" fmla="*/ 3362552 w 4389519"/>
                <a:gd name="connsiteY5" fmla="*/ 2305097 h 2916937"/>
                <a:gd name="connsiteX6" fmla="*/ 3204152 w 4389519"/>
                <a:gd name="connsiteY6" fmla="*/ 2412521 h 2916937"/>
                <a:gd name="connsiteX7" fmla="*/ 1936072 w 4389519"/>
                <a:gd name="connsiteY7" fmla="*/ 2912360 h 2916937"/>
                <a:gd name="connsiteX8" fmla="*/ 421690 w 4389519"/>
                <a:gd name="connsiteY8" fmla="*/ 1787063 h 2916937"/>
                <a:gd name="connsiteX9" fmla="*/ 273167 w 4389519"/>
                <a:gd name="connsiteY9" fmla="*/ 1520080 h 2916937"/>
                <a:gd name="connsiteX10" fmla="*/ 4118 w 4389519"/>
                <a:gd name="connsiteY10" fmla="*/ 696338 h 2916937"/>
                <a:gd name="connsiteX11" fmla="*/ 175984 w 4389519"/>
                <a:gd name="connsiteY11" fmla="*/ 60381 h 2916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89519" h="2916937">
                  <a:moveTo>
                    <a:pt x="208215" y="0"/>
                  </a:moveTo>
                  <a:lnTo>
                    <a:pt x="4284014" y="0"/>
                  </a:lnTo>
                  <a:lnTo>
                    <a:pt x="4335794" y="207911"/>
                  </a:lnTo>
                  <a:cubicBezTo>
                    <a:pt x="4388748" y="479686"/>
                    <a:pt x="4403109" y="773803"/>
                    <a:pt x="4376420" y="1078865"/>
                  </a:cubicBezTo>
                  <a:cubicBezTo>
                    <a:pt x="4353703" y="1338514"/>
                    <a:pt x="4265383" y="1540772"/>
                    <a:pt x="4090147" y="1734728"/>
                  </a:cubicBezTo>
                  <a:cubicBezTo>
                    <a:pt x="3906850" y="1937616"/>
                    <a:pt x="3642485" y="2116128"/>
                    <a:pt x="3362552" y="2305097"/>
                  </a:cubicBezTo>
                  <a:cubicBezTo>
                    <a:pt x="3310910" y="2339914"/>
                    <a:pt x="3257553" y="2375972"/>
                    <a:pt x="3204152" y="2412521"/>
                  </a:cubicBezTo>
                  <a:cubicBezTo>
                    <a:pt x="2726165" y="2739616"/>
                    <a:pt x="2379682" y="2951171"/>
                    <a:pt x="1936072" y="2912360"/>
                  </a:cubicBezTo>
                  <a:cubicBezTo>
                    <a:pt x="1260148" y="2853224"/>
                    <a:pt x="807225" y="2516700"/>
                    <a:pt x="421690" y="1787063"/>
                  </a:cubicBezTo>
                  <a:cubicBezTo>
                    <a:pt x="371240" y="1691563"/>
                    <a:pt x="321385" y="1604361"/>
                    <a:pt x="273167" y="1520080"/>
                  </a:cubicBezTo>
                  <a:cubicBezTo>
                    <a:pt x="73334" y="1170636"/>
                    <a:pt x="-21548" y="989700"/>
                    <a:pt x="4118" y="696338"/>
                  </a:cubicBezTo>
                  <a:cubicBezTo>
                    <a:pt x="23232" y="477870"/>
                    <a:pt x="80908" y="264786"/>
                    <a:pt x="175984" y="60381"/>
                  </a:cubicBezTo>
                  <a:close/>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grpSp>
      <p:grpSp>
        <p:nvGrpSpPr>
          <p:cNvPr id="8" name="Group 7">
            <a:extLst>
              <a:ext uri="{FF2B5EF4-FFF2-40B4-BE49-F238E27FC236}">
                <a16:creationId xmlns:a16="http://schemas.microsoft.com/office/drawing/2014/main" id="{03099122-D80B-4389-A1CF-52C635217F4B}"/>
              </a:ext>
            </a:extLst>
          </p:cNvPr>
          <p:cNvGrpSpPr/>
          <p:nvPr/>
        </p:nvGrpSpPr>
        <p:grpSpPr>
          <a:xfrm>
            <a:off x="8122942" y="0"/>
            <a:ext cx="4069058" cy="3547008"/>
            <a:chOff x="8122942" y="0"/>
            <a:chExt cx="4069058" cy="3547008"/>
          </a:xfrm>
        </p:grpSpPr>
        <p:sp>
          <p:nvSpPr>
            <p:cNvPr id="54" name="Freeform: Shape 53">
              <a:extLst>
                <a:ext uri="{FF2B5EF4-FFF2-40B4-BE49-F238E27FC236}">
                  <a16:creationId xmlns:a16="http://schemas.microsoft.com/office/drawing/2014/main" id="{CA535D59-CDAA-4AA9-84AC-A6142E857FE2}"/>
                </a:ext>
              </a:extLst>
            </p:cNvPr>
            <p:cNvSpPr/>
            <p:nvPr/>
          </p:nvSpPr>
          <p:spPr>
            <a:xfrm>
              <a:off x="8122942" y="0"/>
              <a:ext cx="4069058" cy="3547008"/>
            </a:xfrm>
            <a:custGeom>
              <a:avLst/>
              <a:gdLst>
                <a:gd name="connsiteX0" fmla="*/ 305212 w 4069058"/>
                <a:gd name="connsiteY0" fmla="*/ 0 h 3547008"/>
                <a:gd name="connsiteX1" fmla="*/ 4069058 w 4069058"/>
                <a:gd name="connsiteY1" fmla="*/ 0 h 3547008"/>
                <a:gd name="connsiteX2" fmla="*/ 4069058 w 4069058"/>
                <a:gd name="connsiteY2" fmla="*/ 2865785 h 3547008"/>
                <a:gd name="connsiteX3" fmla="*/ 3996814 w 4069058"/>
                <a:gd name="connsiteY3" fmla="*/ 2947457 h 3547008"/>
                <a:gd name="connsiteX4" fmla="*/ 2732780 w 4069058"/>
                <a:gd name="connsiteY4" fmla="*/ 3541640 h 3547008"/>
                <a:gd name="connsiteX5" fmla="*/ 1317550 w 4069058"/>
                <a:gd name="connsiteY5" fmla="*/ 3015110 h 3547008"/>
                <a:gd name="connsiteX6" fmla="*/ 1140977 w 4069058"/>
                <a:gd name="connsiteY6" fmla="*/ 2901419 h 3547008"/>
                <a:gd name="connsiteX7" fmla="*/ 330269 w 4069058"/>
                <a:gd name="connsiteY7" fmla="*/ 2297252 h 3547008"/>
                <a:gd name="connsiteX8" fmla="*/ 13299 w 4069058"/>
                <a:gd name="connsiteY8" fmla="*/ 1599966 h 3547008"/>
                <a:gd name="connsiteX9" fmla="*/ 217457 w 4069058"/>
                <a:gd name="connsiteY9" fmla="*/ 178659 h 35470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69058" h="3547008">
                  <a:moveTo>
                    <a:pt x="305212" y="0"/>
                  </a:moveTo>
                  <a:lnTo>
                    <a:pt x="4069058" y="0"/>
                  </a:lnTo>
                  <a:lnTo>
                    <a:pt x="4069058" y="2865785"/>
                  </a:lnTo>
                  <a:lnTo>
                    <a:pt x="3996814" y="2947457"/>
                  </a:lnTo>
                  <a:cubicBezTo>
                    <a:pt x="3654887" y="3311545"/>
                    <a:pt x="3252443" y="3496175"/>
                    <a:pt x="2732780" y="3541640"/>
                  </a:cubicBezTo>
                  <a:cubicBezTo>
                    <a:pt x="2236701" y="3585041"/>
                    <a:pt x="1850359" y="3361306"/>
                    <a:pt x="1317550" y="3015110"/>
                  </a:cubicBezTo>
                  <a:cubicBezTo>
                    <a:pt x="1258026" y="2976425"/>
                    <a:pt x="1198546" y="2938265"/>
                    <a:pt x="1140977" y="2901419"/>
                  </a:cubicBezTo>
                  <a:cubicBezTo>
                    <a:pt x="828927" y="2701433"/>
                    <a:pt x="534230" y="2512513"/>
                    <a:pt x="330269" y="2297252"/>
                  </a:cubicBezTo>
                  <a:cubicBezTo>
                    <a:pt x="135278" y="2091465"/>
                    <a:pt x="37487" y="1876435"/>
                    <a:pt x="13299" y="1599966"/>
                  </a:cubicBezTo>
                  <a:cubicBezTo>
                    <a:pt x="-32170" y="1080250"/>
                    <a:pt x="39709" y="589889"/>
                    <a:pt x="217457" y="178659"/>
                  </a:cubicBezTo>
                  <a:close/>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55" name="Freeform: Shape 54">
              <a:extLst>
                <a:ext uri="{FF2B5EF4-FFF2-40B4-BE49-F238E27FC236}">
                  <a16:creationId xmlns:a16="http://schemas.microsoft.com/office/drawing/2014/main" id="{CD6948CC-6D51-4092-887C-B0664DC102C7}"/>
                </a:ext>
              </a:extLst>
            </p:cNvPr>
            <p:cNvSpPr/>
            <p:nvPr/>
          </p:nvSpPr>
          <p:spPr>
            <a:xfrm flipH="1">
              <a:off x="8319994" y="0"/>
              <a:ext cx="3872006" cy="3321595"/>
            </a:xfrm>
            <a:custGeom>
              <a:avLst/>
              <a:gdLst>
                <a:gd name="connsiteX0" fmla="*/ 3466434 w 3872006"/>
                <a:gd name="connsiteY0" fmla="*/ 0 h 3321595"/>
                <a:gd name="connsiteX1" fmla="*/ 65800 w 3872006"/>
                <a:gd name="connsiteY1" fmla="*/ 0 h 3321595"/>
                <a:gd name="connsiteX2" fmla="*/ 0 w 3872006"/>
                <a:gd name="connsiteY2" fmla="*/ 59511 h 3321595"/>
                <a:gd name="connsiteX3" fmla="*/ 0 w 3872006"/>
                <a:gd name="connsiteY3" fmla="*/ 2518435 h 3321595"/>
                <a:gd name="connsiteX4" fmla="*/ 80122 w 3872006"/>
                <a:gd name="connsiteY4" fmla="*/ 2618704 h 3321595"/>
                <a:gd name="connsiteX5" fmla="*/ 1549501 w 3872006"/>
                <a:gd name="connsiteY5" fmla="*/ 3321595 h 3321595"/>
                <a:gd name="connsiteX6" fmla="*/ 2796711 w 3872006"/>
                <a:gd name="connsiteY6" fmla="*/ 2749441 h 3321595"/>
                <a:gd name="connsiteX7" fmla="*/ 2948494 w 3872006"/>
                <a:gd name="connsiteY7" fmla="*/ 2635829 h 3321595"/>
                <a:gd name="connsiteX8" fmla="*/ 3638840 w 3872006"/>
                <a:gd name="connsiteY8" fmla="*/ 2041901 h 3321595"/>
                <a:gd name="connsiteX9" fmla="*/ 3872006 w 3872006"/>
                <a:gd name="connsiteY9" fmla="*/ 1404055 h 3321595"/>
                <a:gd name="connsiteX10" fmla="*/ 3467973 w 3872006"/>
                <a:gd name="connsiteY10" fmla="*/ 1974 h 3321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872006" h="3321595">
                  <a:moveTo>
                    <a:pt x="3466434" y="0"/>
                  </a:moveTo>
                  <a:lnTo>
                    <a:pt x="65800" y="0"/>
                  </a:lnTo>
                  <a:lnTo>
                    <a:pt x="0" y="59511"/>
                  </a:lnTo>
                  <a:lnTo>
                    <a:pt x="0" y="2518435"/>
                  </a:lnTo>
                  <a:lnTo>
                    <a:pt x="80122" y="2618704"/>
                  </a:lnTo>
                  <a:cubicBezTo>
                    <a:pt x="490323" y="3108658"/>
                    <a:pt x="942414" y="3321595"/>
                    <a:pt x="1549501" y="3321595"/>
                  </a:cubicBezTo>
                  <a:cubicBezTo>
                    <a:pt x="2004852" y="3321595"/>
                    <a:pt x="2338950" y="3095023"/>
                    <a:pt x="2796711" y="2749441"/>
                  </a:cubicBezTo>
                  <a:cubicBezTo>
                    <a:pt x="2847850" y="2710827"/>
                    <a:pt x="2898991" y="2672676"/>
                    <a:pt x="2948494" y="2635829"/>
                  </a:cubicBezTo>
                  <a:cubicBezTo>
                    <a:pt x="3216812" y="2435869"/>
                    <a:pt x="3470203" y="2246981"/>
                    <a:pt x="3638840" y="2041901"/>
                  </a:cubicBezTo>
                  <a:cubicBezTo>
                    <a:pt x="3800062" y="1845849"/>
                    <a:pt x="3872006" y="1649145"/>
                    <a:pt x="3872006" y="1404055"/>
                  </a:cubicBezTo>
                  <a:cubicBezTo>
                    <a:pt x="3872006" y="866538"/>
                    <a:pt x="3729694" y="376466"/>
                    <a:pt x="3467973" y="1974"/>
                  </a:cubicBez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6" name="Freeform: Shape 55">
              <a:extLst>
                <a:ext uri="{FF2B5EF4-FFF2-40B4-BE49-F238E27FC236}">
                  <a16:creationId xmlns:a16="http://schemas.microsoft.com/office/drawing/2014/main" id="{F5F9FD94-99CC-42AD-8E66-CF99E8FD5A94}"/>
                </a:ext>
              </a:extLst>
            </p:cNvPr>
            <p:cNvSpPr/>
            <p:nvPr/>
          </p:nvSpPr>
          <p:spPr>
            <a:xfrm flipH="1">
              <a:off x="8729240" y="9274"/>
              <a:ext cx="3462454" cy="3010961"/>
            </a:xfrm>
            <a:custGeom>
              <a:avLst/>
              <a:gdLst>
                <a:gd name="connsiteX0" fmla="*/ 2953507 w 3462454"/>
                <a:gd name="connsiteY0" fmla="*/ 0 h 3010961"/>
                <a:gd name="connsiteX1" fmla="*/ 477652 w 3462454"/>
                <a:gd name="connsiteY1" fmla="*/ 0 h 3010961"/>
                <a:gd name="connsiteX2" fmla="*/ 327396 w 3462454"/>
                <a:gd name="connsiteY2" fmla="*/ 113681 h 3010961"/>
                <a:gd name="connsiteX3" fmla="*/ 46554 w 3462454"/>
                <a:gd name="connsiteY3" fmla="*/ 391785 h 3010961"/>
                <a:gd name="connsiteX4" fmla="*/ 0 w 3462454"/>
                <a:gd name="connsiteY4" fmla="*/ 453516 h 3010961"/>
                <a:gd name="connsiteX5" fmla="*/ 0 w 3462454"/>
                <a:gd name="connsiteY5" fmla="*/ 2083461 h 3010961"/>
                <a:gd name="connsiteX6" fmla="*/ 26382 w 3462454"/>
                <a:gd name="connsiteY6" fmla="*/ 2118637 h 3010961"/>
                <a:gd name="connsiteX7" fmla="*/ 101620 w 3462454"/>
                <a:gd name="connsiteY7" fmla="*/ 2222744 h 3010961"/>
                <a:gd name="connsiteX8" fmla="*/ 1494064 w 3462454"/>
                <a:gd name="connsiteY8" fmla="*/ 3010961 h 3010961"/>
                <a:gd name="connsiteX9" fmla="*/ 2551110 w 3462454"/>
                <a:gd name="connsiteY9" fmla="*/ 2526044 h 3010961"/>
                <a:gd name="connsiteX10" fmla="*/ 2679751 w 3462454"/>
                <a:gd name="connsiteY10" fmla="*/ 2429754 h 3010961"/>
                <a:gd name="connsiteX11" fmla="*/ 3264840 w 3462454"/>
                <a:gd name="connsiteY11" fmla="*/ 1926383 h 3010961"/>
                <a:gd name="connsiteX12" fmla="*/ 3462454 w 3462454"/>
                <a:gd name="connsiteY12" fmla="*/ 1385790 h 3010961"/>
                <a:gd name="connsiteX13" fmla="*/ 3018820 w 3462454"/>
                <a:gd name="connsiteY13" fmla="*/ 67626 h 3010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462454" h="3010961">
                  <a:moveTo>
                    <a:pt x="2953507" y="0"/>
                  </a:moveTo>
                  <a:lnTo>
                    <a:pt x="477652" y="0"/>
                  </a:lnTo>
                  <a:lnTo>
                    <a:pt x="327396" y="113681"/>
                  </a:lnTo>
                  <a:cubicBezTo>
                    <a:pt x="222344" y="200626"/>
                    <a:pt x="128536" y="293564"/>
                    <a:pt x="46554" y="391785"/>
                  </a:cubicBezTo>
                  <a:lnTo>
                    <a:pt x="0" y="453516"/>
                  </a:lnTo>
                  <a:lnTo>
                    <a:pt x="0" y="2083461"/>
                  </a:lnTo>
                  <a:lnTo>
                    <a:pt x="26382" y="2118637"/>
                  </a:lnTo>
                  <a:cubicBezTo>
                    <a:pt x="51135" y="2152065"/>
                    <a:pt x="76235" y="2186586"/>
                    <a:pt x="101620" y="2222744"/>
                  </a:cubicBezTo>
                  <a:cubicBezTo>
                    <a:pt x="489585" y="2775245"/>
                    <a:pt x="906035" y="3010961"/>
                    <a:pt x="1494064" y="3010961"/>
                  </a:cubicBezTo>
                  <a:cubicBezTo>
                    <a:pt x="1879987" y="3010961"/>
                    <a:pt x="2163144" y="2818935"/>
                    <a:pt x="2551110" y="2526044"/>
                  </a:cubicBezTo>
                  <a:cubicBezTo>
                    <a:pt x="2594452" y="2493317"/>
                    <a:pt x="2637795" y="2460984"/>
                    <a:pt x="2679751" y="2429754"/>
                  </a:cubicBezTo>
                  <a:cubicBezTo>
                    <a:pt x="2907158" y="2260282"/>
                    <a:pt x="3121914" y="2100194"/>
                    <a:pt x="3264840" y="1926383"/>
                  </a:cubicBezTo>
                  <a:cubicBezTo>
                    <a:pt x="3401480" y="1760224"/>
                    <a:pt x="3462454" y="1593511"/>
                    <a:pt x="3462454" y="1385790"/>
                  </a:cubicBezTo>
                  <a:cubicBezTo>
                    <a:pt x="3462454" y="865148"/>
                    <a:pt x="3304918" y="397028"/>
                    <a:pt x="3018820" y="67626"/>
                  </a:cubicBezTo>
                  <a:close/>
                </a:path>
              </a:pathLst>
            </a:custGeom>
            <a:noFill/>
            <a:ln w="15875">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7" name="Freeform: Shape 56">
              <a:extLst>
                <a:ext uri="{FF2B5EF4-FFF2-40B4-BE49-F238E27FC236}">
                  <a16:creationId xmlns:a16="http://schemas.microsoft.com/office/drawing/2014/main" id="{F47D3E70-A759-410D-B5DB-855218E138C3}"/>
                </a:ext>
              </a:extLst>
            </p:cNvPr>
            <p:cNvSpPr/>
            <p:nvPr/>
          </p:nvSpPr>
          <p:spPr>
            <a:xfrm flipH="1">
              <a:off x="8243247" y="9274"/>
              <a:ext cx="3948447" cy="3411460"/>
            </a:xfrm>
            <a:custGeom>
              <a:avLst/>
              <a:gdLst>
                <a:gd name="connsiteX0" fmla="*/ 3564894 w 3904481"/>
                <a:gd name="connsiteY0" fmla="*/ 0 h 3411460"/>
                <a:gd name="connsiteX1" fmla="*/ 0 w 3904481"/>
                <a:gd name="connsiteY1" fmla="*/ 0 h 3411460"/>
                <a:gd name="connsiteX2" fmla="*/ 0 w 3904481"/>
                <a:gd name="connsiteY2" fmla="*/ 2659993 h 3411460"/>
                <a:gd name="connsiteX3" fmla="*/ 1876 w 3904481"/>
                <a:gd name="connsiteY3" fmla="*/ 2662425 h 3411460"/>
                <a:gd name="connsiteX4" fmla="*/ 1514161 w 3904481"/>
                <a:gd name="connsiteY4" fmla="*/ 3411460 h 3411460"/>
                <a:gd name="connsiteX5" fmla="*/ 2797788 w 3904481"/>
                <a:gd name="connsiteY5" fmla="*/ 2801744 h 3411460"/>
                <a:gd name="connsiteX6" fmla="*/ 2954004 w 3904481"/>
                <a:gd name="connsiteY6" fmla="*/ 2680673 h 3411460"/>
                <a:gd name="connsiteX7" fmla="*/ 3664508 w 3904481"/>
                <a:gd name="connsiteY7" fmla="*/ 2047754 h 3411460"/>
                <a:gd name="connsiteX8" fmla="*/ 3904481 w 3904481"/>
                <a:gd name="connsiteY8" fmla="*/ 1368033 h 3411460"/>
                <a:gd name="connsiteX9" fmla="*/ 3596499 w 3904481"/>
                <a:gd name="connsiteY9" fmla="*/ 52268 h 34114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904481" h="3411460">
                  <a:moveTo>
                    <a:pt x="3564894" y="0"/>
                  </a:moveTo>
                  <a:lnTo>
                    <a:pt x="0" y="0"/>
                  </a:lnTo>
                  <a:lnTo>
                    <a:pt x="0" y="2659993"/>
                  </a:lnTo>
                  <a:lnTo>
                    <a:pt x="1876" y="2662425"/>
                  </a:lnTo>
                  <a:cubicBezTo>
                    <a:pt x="424055" y="3184544"/>
                    <a:pt x="889346" y="3411460"/>
                    <a:pt x="1514161" y="3411460"/>
                  </a:cubicBezTo>
                  <a:cubicBezTo>
                    <a:pt x="1982808" y="3411460"/>
                    <a:pt x="2326661" y="3170014"/>
                    <a:pt x="2797788" y="2801744"/>
                  </a:cubicBezTo>
                  <a:cubicBezTo>
                    <a:pt x="2850420" y="2760595"/>
                    <a:pt x="2903054" y="2719940"/>
                    <a:pt x="2954004" y="2680673"/>
                  </a:cubicBezTo>
                  <a:cubicBezTo>
                    <a:pt x="3230156" y="2467586"/>
                    <a:pt x="3490946" y="2266297"/>
                    <a:pt x="3664508" y="2047754"/>
                  </a:cubicBezTo>
                  <a:cubicBezTo>
                    <a:pt x="3830437" y="1838832"/>
                    <a:pt x="3904481" y="1629214"/>
                    <a:pt x="3904481" y="1368033"/>
                  </a:cubicBezTo>
                  <a:cubicBezTo>
                    <a:pt x="3904481" y="877057"/>
                    <a:pt x="3796872" y="423228"/>
                    <a:pt x="3596499" y="52268"/>
                  </a:cubicBezTo>
                  <a:close/>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grpSp>
        <p:nvGrpSpPr>
          <p:cNvPr id="9" name="Group 8">
            <a:extLst>
              <a:ext uri="{FF2B5EF4-FFF2-40B4-BE49-F238E27FC236}">
                <a16:creationId xmlns:a16="http://schemas.microsoft.com/office/drawing/2014/main" id="{90302A25-2D4F-4AD5-B0E9-C12184C3599E}"/>
              </a:ext>
            </a:extLst>
          </p:cNvPr>
          <p:cNvGrpSpPr/>
          <p:nvPr/>
        </p:nvGrpSpPr>
        <p:grpSpPr>
          <a:xfrm>
            <a:off x="-1" y="1355238"/>
            <a:ext cx="4381339" cy="5510713"/>
            <a:chOff x="0" y="1347287"/>
            <a:chExt cx="4259808" cy="5510713"/>
          </a:xfrm>
        </p:grpSpPr>
        <p:sp>
          <p:nvSpPr>
            <p:cNvPr id="59" name="Freeform: Shape 58">
              <a:extLst>
                <a:ext uri="{FF2B5EF4-FFF2-40B4-BE49-F238E27FC236}">
                  <a16:creationId xmlns:a16="http://schemas.microsoft.com/office/drawing/2014/main" id="{E227AF03-773A-4B1E-8FED-67198038E60D}"/>
                </a:ext>
              </a:extLst>
            </p:cNvPr>
            <p:cNvSpPr/>
            <p:nvPr/>
          </p:nvSpPr>
          <p:spPr>
            <a:xfrm>
              <a:off x="0" y="1676545"/>
              <a:ext cx="4174269" cy="5181455"/>
            </a:xfrm>
            <a:custGeom>
              <a:avLst/>
              <a:gdLst>
                <a:gd name="connsiteX0" fmla="*/ 1155130 w 4174269"/>
                <a:gd name="connsiteY0" fmla="*/ 990 h 5181455"/>
                <a:gd name="connsiteX1" fmla="*/ 2396955 w 4174269"/>
                <a:gd name="connsiteY1" fmla="*/ 367328 h 5181455"/>
                <a:gd name="connsiteX2" fmla="*/ 3827960 w 4174269"/>
                <a:gd name="connsiteY2" fmla="*/ 4749328 h 5181455"/>
                <a:gd name="connsiteX3" fmla="*/ 3561502 w 4174269"/>
                <a:gd name="connsiteY3" fmla="*/ 5090948 h 5181455"/>
                <a:gd name="connsiteX4" fmla="*/ 3452726 w 4174269"/>
                <a:gd name="connsiteY4" fmla="*/ 5181455 h 5181455"/>
                <a:gd name="connsiteX5" fmla="*/ 0 w 4174269"/>
                <a:gd name="connsiteY5" fmla="*/ 5181455 h 5181455"/>
                <a:gd name="connsiteX6" fmla="*/ 0 w 4174269"/>
                <a:gd name="connsiteY6" fmla="*/ 251605 h 5181455"/>
                <a:gd name="connsiteX7" fmla="*/ 157396 w 4174269"/>
                <a:gd name="connsiteY7" fmla="*/ 182600 h 5181455"/>
                <a:gd name="connsiteX8" fmla="*/ 1155130 w 4174269"/>
                <a:gd name="connsiteY8" fmla="*/ 990 h 5181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74269" h="5181455">
                  <a:moveTo>
                    <a:pt x="1155130" y="990"/>
                  </a:moveTo>
                  <a:cubicBezTo>
                    <a:pt x="1564667" y="12730"/>
                    <a:pt x="1984593" y="129250"/>
                    <a:pt x="2396955" y="367328"/>
                  </a:cubicBezTo>
                  <a:cubicBezTo>
                    <a:pt x="3871760" y="1218807"/>
                    <a:pt x="4678347" y="3276416"/>
                    <a:pt x="3827960" y="4749328"/>
                  </a:cubicBezTo>
                  <a:cubicBezTo>
                    <a:pt x="3748235" y="4887417"/>
                    <a:pt x="3658928" y="4998272"/>
                    <a:pt x="3561502" y="5090948"/>
                  </a:cubicBezTo>
                  <a:lnTo>
                    <a:pt x="3452726" y="5181455"/>
                  </a:lnTo>
                  <a:lnTo>
                    <a:pt x="0" y="5181455"/>
                  </a:lnTo>
                  <a:lnTo>
                    <a:pt x="0" y="251605"/>
                  </a:lnTo>
                  <a:lnTo>
                    <a:pt x="157396" y="182600"/>
                  </a:lnTo>
                  <a:cubicBezTo>
                    <a:pt x="475610" y="54980"/>
                    <a:pt x="811718" y="-8854"/>
                    <a:pt x="1155130" y="990"/>
                  </a:cubicBez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60" name="Freeform: Shape 59">
              <a:extLst>
                <a:ext uri="{FF2B5EF4-FFF2-40B4-BE49-F238E27FC236}">
                  <a16:creationId xmlns:a16="http://schemas.microsoft.com/office/drawing/2014/main" id="{D6FE8FAD-8A4A-49E1-AFAF-A074482295A9}"/>
                </a:ext>
              </a:extLst>
            </p:cNvPr>
            <p:cNvSpPr/>
            <p:nvPr/>
          </p:nvSpPr>
          <p:spPr>
            <a:xfrm>
              <a:off x="0" y="1347287"/>
              <a:ext cx="4259808" cy="5510713"/>
            </a:xfrm>
            <a:custGeom>
              <a:avLst/>
              <a:gdLst>
                <a:gd name="connsiteX0" fmla="*/ 948905 w 4259808"/>
                <a:gd name="connsiteY0" fmla="*/ 1556 h 5510713"/>
                <a:gd name="connsiteX1" fmla="*/ 2304106 w 4259808"/>
                <a:gd name="connsiteY1" fmla="*/ 405867 h 5510713"/>
                <a:gd name="connsiteX2" fmla="*/ 3890982 w 4259808"/>
                <a:gd name="connsiteY2" fmla="*/ 5156588 h 5510713"/>
                <a:gd name="connsiteX3" fmla="*/ 3680329 w 4259808"/>
                <a:gd name="connsiteY3" fmla="*/ 5445948 h 5510713"/>
                <a:gd name="connsiteX4" fmla="*/ 3616504 w 4259808"/>
                <a:gd name="connsiteY4" fmla="*/ 5510713 h 5510713"/>
                <a:gd name="connsiteX5" fmla="*/ 0 w 4259808"/>
                <a:gd name="connsiteY5" fmla="*/ 5510713 h 5510713"/>
                <a:gd name="connsiteX6" fmla="*/ 0 w 4259808"/>
                <a:gd name="connsiteY6" fmla="*/ 144797 h 5510713"/>
                <a:gd name="connsiteX7" fmla="*/ 164164 w 4259808"/>
                <a:gd name="connsiteY7" fmla="*/ 92266 h 5510713"/>
                <a:gd name="connsiteX8" fmla="*/ 948905 w 4259808"/>
                <a:gd name="connsiteY8" fmla="*/ 1556 h 5510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9808" h="5510713">
                  <a:moveTo>
                    <a:pt x="948905" y="1556"/>
                  </a:moveTo>
                  <a:cubicBezTo>
                    <a:pt x="1395136" y="16867"/>
                    <a:pt x="1853354" y="145625"/>
                    <a:pt x="2304106" y="405867"/>
                  </a:cubicBezTo>
                  <a:cubicBezTo>
                    <a:pt x="3916211" y="1336616"/>
                    <a:pt x="4808028" y="3568218"/>
                    <a:pt x="3890982" y="5156588"/>
                  </a:cubicBezTo>
                  <a:cubicBezTo>
                    <a:pt x="3826502" y="5268272"/>
                    <a:pt x="3756052" y="5363347"/>
                    <a:pt x="3680329" y="5445948"/>
                  </a:cubicBezTo>
                  <a:lnTo>
                    <a:pt x="3616504" y="5510713"/>
                  </a:lnTo>
                  <a:lnTo>
                    <a:pt x="0" y="5510713"/>
                  </a:lnTo>
                  <a:lnTo>
                    <a:pt x="0" y="144797"/>
                  </a:lnTo>
                  <a:lnTo>
                    <a:pt x="164164" y="92266"/>
                  </a:lnTo>
                  <a:cubicBezTo>
                    <a:pt x="418657" y="23914"/>
                    <a:pt x="681631" y="-7614"/>
                    <a:pt x="948905" y="1556"/>
                  </a:cubicBezTo>
                  <a:close/>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61" name="Freeform: Shape 60">
              <a:extLst>
                <a:ext uri="{FF2B5EF4-FFF2-40B4-BE49-F238E27FC236}">
                  <a16:creationId xmlns:a16="http://schemas.microsoft.com/office/drawing/2014/main" id="{0A7C4DFB-FDFD-4F28-8B00-287EB75C79EB}"/>
                </a:ext>
              </a:extLst>
            </p:cNvPr>
            <p:cNvSpPr/>
            <p:nvPr/>
          </p:nvSpPr>
          <p:spPr>
            <a:xfrm>
              <a:off x="0" y="1592806"/>
              <a:ext cx="4029221" cy="5265194"/>
            </a:xfrm>
            <a:custGeom>
              <a:avLst/>
              <a:gdLst>
                <a:gd name="connsiteX0" fmla="*/ 812878 w 4029221"/>
                <a:gd name="connsiteY0" fmla="*/ 840 h 5265194"/>
                <a:gd name="connsiteX1" fmla="*/ 960980 w 4029221"/>
                <a:gd name="connsiteY1" fmla="*/ 1442 h 5265194"/>
                <a:gd name="connsiteX2" fmla="*/ 2216856 w 4029221"/>
                <a:gd name="connsiteY2" fmla="*/ 376120 h 5265194"/>
                <a:gd name="connsiteX3" fmla="*/ 3687427 w 4029221"/>
                <a:gd name="connsiteY3" fmla="*/ 4778650 h 5265194"/>
                <a:gd name="connsiteX4" fmla="*/ 3267677 w 4029221"/>
                <a:gd name="connsiteY4" fmla="*/ 5245601 h 5265194"/>
                <a:gd name="connsiteX5" fmla="*/ 3237167 w 4029221"/>
                <a:gd name="connsiteY5" fmla="*/ 5265194 h 5265194"/>
                <a:gd name="connsiteX6" fmla="*/ 0 w 4029221"/>
                <a:gd name="connsiteY6" fmla="*/ 5265194 h 5265194"/>
                <a:gd name="connsiteX7" fmla="*/ 0 w 4029221"/>
                <a:gd name="connsiteY7" fmla="*/ 162790 h 5265194"/>
                <a:gd name="connsiteX8" fmla="*/ 58408 w 4029221"/>
                <a:gd name="connsiteY8" fmla="*/ 139352 h 5265194"/>
                <a:gd name="connsiteX9" fmla="*/ 812878 w 4029221"/>
                <a:gd name="connsiteY9" fmla="*/ 840 h 5265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29221" h="5265194">
                  <a:moveTo>
                    <a:pt x="812878" y="840"/>
                  </a:moveTo>
                  <a:cubicBezTo>
                    <a:pt x="862065" y="-449"/>
                    <a:pt x="911443" y="-258"/>
                    <a:pt x="960980" y="1442"/>
                  </a:cubicBezTo>
                  <a:cubicBezTo>
                    <a:pt x="1374507" y="15631"/>
                    <a:pt x="1799140" y="134952"/>
                    <a:pt x="2216856" y="376120"/>
                  </a:cubicBezTo>
                  <a:cubicBezTo>
                    <a:pt x="3710806" y="1238652"/>
                    <a:pt x="4537261" y="3306696"/>
                    <a:pt x="3687427" y="4778650"/>
                  </a:cubicBezTo>
                  <a:cubicBezTo>
                    <a:pt x="3567917" y="4985647"/>
                    <a:pt x="3426282" y="5131074"/>
                    <a:pt x="3267677" y="5245601"/>
                  </a:cubicBezTo>
                  <a:lnTo>
                    <a:pt x="3237167" y="5265194"/>
                  </a:lnTo>
                  <a:lnTo>
                    <a:pt x="0" y="5265194"/>
                  </a:lnTo>
                  <a:lnTo>
                    <a:pt x="0" y="162790"/>
                  </a:lnTo>
                  <a:lnTo>
                    <a:pt x="58408" y="139352"/>
                  </a:lnTo>
                  <a:cubicBezTo>
                    <a:pt x="301661" y="55163"/>
                    <a:pt x="554646" y="7607"/>
                    <a:pt x="812878" y="840"/>
                  </a:cubicBezTo>
                  <a:close/>
                </a:path>
              </a:pathLst>
            </a:custGeom>
            <a:noFill/>
            <a:ln w="19050">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62" name="Freeform: Shape 61">
              <a:extLst>
                <a:ext uri="{FF2B5EF4-FFF2-40B4-BE49-F238E27FC236}">
                  <a16:creationId xmlns:a16="http://schemas.microsoft.com/office/drawing/2014/main" id="{B6E867DF-0B62-429A-A554-CBE585048439}"/>
                </a:ext>
              </a:extLst>
            </p:cNvPr>
            <p:cNvSpPr/>
            <p:nvPr/>
          </p:nvSpPr>
          <p:spPr>
            <a:xfrm>
              <a:off x="0" y="2147333"/>
              <a:ext cx="3702048" cy="4710667"/>
            </a:xfrm>
            <a:custGeom>
              <a:avLst/>
              <a:gdLst>
                <a:gd name="connsiteX0" fmla="*/ 1057511 w 3702048"/>
                <a:gd name="connsiteY0" fmla="*/ 1243 h 4710667"/>
                <a:gd name="connsiteX1" fmla="*/ 2139959 w 3702048"/>
                <a:gd name="connsiteY1" fmla="*/ 324180 h 4710667"/>
                <a:gd name="connsiteX2" fmla="*/ 3407455 w 3702048"/>
                <a:gd name="connsiteY2" fmla="*/ 4118750 h 4710667"/>
                <a:gd name="connsiteX3" fmla="*/ 2754080 w 3702048"/>
                <a:gd name="connsiteY3" fmla="*/ 4690965 h 4710667"/>
                <a:gd name="connsiteX4" fmla="*/ 2711405 w 3702048"/>
                <a:gd name="connsiteY4" fmla="*/ 4710667 h 4710667"/>
                <a:gd name="connsiteX5" fmla="*/ 0 w 3702048"/>
                <a:gd name="connsiteY5" fmla="*/ 4710667 h 4710667"/>
                <a:gd name="connsiteX6" fmla="*/ 0 w 3702048"/>
                <a:gd name="connsiteY6" fmla="*/ 239601 h 4710667"/>
                <a:gd name="connsiteX7" fmla="*/ 72857 w 3702048"/>
                <a:gd name="connsiteY7" fmla="*/ 203063 h 4710667"/>
                <a:gd name="connsiteX8" fmla="*/ 1057511 w 3702048"/>
                <a:gd name="connsiteY8" fmla="*/ 1243 h 4710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02048" h="4710667">
                  <a:moveTo>
                    <a:pt x="1057511" y="1243"/>
                  </a:moveTo>
                  <a:cubicBezTo>
                    <a:pt x="1413932" y="13473"/>
                    <a:pt x="1779927" y="116316"/>
                    <a:pt x="2139959" y="324180"/>
                  </a:cubicBezTo>
                  <a:cubicBezTo>
                    <a:pt x="3427605" y="1067603"/>
                    <a:pt x="4139931" y="2850064"/>
                    <a:pt x="3407455" y="4118750"/>
                  </a:cubicBezTo>
                  <a:cubicBezTo>
                    <a:pt x="3235777" y="4416105"/>
                    <a:pt x="3011128" y="4566048"/>
                    <a:pt x="2754080" y="4690965"/>
                  </a:cubicBezTo>
                  <a:lnTo>
                    <a:pt x="2711405" y="4710667"/>
                  </a:lnTo>
                  <a:lnTo>
                    <a:pt x="0" y="4710667"/>
                  </a:lnTo>
                  <a:lnTo>
                    <a:pt x="0" y="239601"/>
                  </a:lnTo>
                  <a:lnTo>
                    <a:pt x="72857" y="203063"/>
                  </a:lnTo>
                  <a:cubicBezTo>
                    <a:pt x="383165" y="61024"/>
                    <a:pt x="715942" y="-10476"/>
                    <a:pt x="1057511" y="1243"/>
                  </a:cubicBezTo>
                  <a:close/>
                </a:path>
              </a:pathLst>
            </a:custGeom>
            <a:noFill/>
            <a:ln w="15875">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grpSp>
      <p:sp>
        <p:nvSpPr>
          <p:cNvPr id="2" name="Title 1"/>
          <p:cNvSpPr>
            <a:spLocks noGrp="1"/>
          </p:cNvSpPr>
          <p:nvPr>
            <p:ph type="title"/>
          </p:nvPr>
        </p:nvSpPr>
        <p:spPr>
          <a:xfrm>
            <a:off x="4654296" y="3420734"/>
            <a:ext cx="6665976" cy="2129674"/>
          </a:xfrm>
        </p:spPr>
        <p:txBody>
          <a:bodyPr anchor="b">
            <a:noAutofit/>
          </a:bodyPr>
          <a:lstStyle>
            <a:lvl1pPr algn="l">
              <a:lnSpc>
                <a:spcPct val="110000"/>
              </a:lnSpc>
              <a:defRPr sz="4800" cap="none" baseline="0">
                <a:solidFill>
                  <a:schemeClr val="tx1">
                    <a:lumMod val="75000"/>
                    <a:lumOff val="25000"/>
                  </a:schemeClr>
                </a:solidFill>
              </a:defRPr>
            </a:lvl1pPr>
          </a:lstStyle>
          <a:p>
            <a:r>
              <a:rPr lang="en-US"/>
              <a:t>Click to edit Master title style</a:t>
            </a:r>
            <a:endParaRPr lang="en-US" dirty="0"/>
          </a:p>
        </p:txBody>
      </p:sp>
      <p:sp>
        <p:nvSpPr>
          <p:cNvPr id="23" name="Footer Placeholder 22">
            <a:extLst>
              <a:ext uri="{FF2B5EF4-FFF2-40B4-BE49-F238E27FC236}">
                <a16:creationId xmlns:a16="http://schemas.microsoft.com/office/drawing/2014/main" id="{E197B67B-BA44-4D2A-B31D-35A89323C4B1}"/>
              </a:ext>
            </a:extLst>
          </p:cNvPr>
          <p:cNvSpPr>
            <a:spLocks noGrp="1"/>
          </p:cNvSpPr>
          <p:nvPr>
            <p:ph type="ftr" sz="quarter" idx="11"/>
          </p:nvPr>
        </p:nvSpPr>
        <p:spPr>
          <a:xfrm>
            <a:off x="4654296" y="6170490"/>
            <a:ext cx="5713314" cy="457200"/>
          </a:xfrm>
        </p:spPr>
        <p:txBody>
          <a:bodyPr/>
          <a:lstStyle/>
          <a:p>
            <a:endParaRPr lang="en-US" dirty="0"/>
          </a:p>
        </p:txBody>
      </p:sp>
      <p:sp>
        <p:nvSpPr>
          <p:cNvPr id="27" name="Slide Number Placeholder 26">
            <a:extLst>
              <a:ext uri="{FF2B5EF4-FFF2-40B4-BE49-F238E27FC236}">
                <a16:creationId xmlns:a16="http://schemas.microsoft.com/office/drawing/2014/main" id="{1D718595-24D3-4517-A62E-C1F493407AAE}"/>
              </a:ext>
            </a:extLst>
          </p:cNvPr>
          <p:cNvSpPr>
            <a:spLocks noGrp="1"/>
          </p:cNvSpPr>
          <p:nvPr>
            <p:ph type="sldNum" sz="quarter" idx="12"/>
          </p:nvPr>
        </p:nvSpPr>
        <p:spPr/>
        <p:txBody>
          <a:bodyPr/>
          <a:lstStyle/>
          <a:p>
            <a:pPr algn="l"/>
            <a:fld id="{FAEF9944-A4F6-4C59-AEBD-678D6480B8EA}" type="slidenum">
              <a:rPr lang="en-US" smtClean="0"/>
              <a:pPr algn="l"/>
              <a:t>‹#›</a:t>
            </a:fld>
            <a:endParaRPr lang="en-US" dirty="0"/>
          </a:p>
        </p:txBody>
      </p:sp>
      <p:sp>
        <p:nvSpPr>
          <p:cNvPr id="3" name="Text Placeholder 2"/>
          <p:cNvSpPr>
            <a:spLocks noGrp="1"/>
          </p:cNvSpPr>
          <p:nvPr>
            <p:ph type="body" idx="1"/>
          </p:nvPr>
        </p:nvSpPr>
        <p:spPr>
          <a:xfrm>
            <a:off x="4654295" y="5550408"/>
            <a:ext cx="6665975" cy="512064"/>
          </a:xfrm>
        </p:spPr>
        <p:txBody>
          <a:bodyPr>
            <a:normAutofit/>
          </a:bodyPr>
          <a:lstStyle>
            <a:lvl1pPr marL="0" indent="0" algn="l">
              <a:lnSpc>
                <a:spcPct val="130000"/>
              </a:lnSpc>
              <a:spcBef>
                <a:spcPts val="0"/>
              </a:spcBef>
              <a:buNone/>
              <a:defRPr sz="2000" baseline="0">
                <a:solidFill>
                  <a:schemeClr val="tx1">
                    <a:lumMod val="75000"/>
                    <a:lumOff val="2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8" name="Date Placeholder 17">
            <a:extLst>
              <a:ext uri="{FF2B5EF4-FFF2-40B4-BE49-F238E27FC236}">
                <a16:creationId xmlns:a16="http://schemas.microsoft.com/office/drawing/2014/main" id="{3C6217BB-A228-414D-92D9-E1D1EFEB8BE6}"/>
              </a:ext>
            </a:extLst>
          </p:cNvPr>
          <p:cNvSpPr>
            <a:spLocks noGrp="1"/>
          </p:cNvSpPr>
          <p:nvPr>
            <p:ph type="dt" sz="half" idx="10"/>
          </p:nvPr>
        </p:nvSpPr>
        <p:spPr>
          <a:xfrm>
            <a:off x="640080" y="6170491"/>
            <a:ext cx="2840083" cy="457200"/>
          </a:xfrm>
        </p:spPr>
        <p:txBody>
          <a:bodyPr/>
          <a:lstStyle>
            <a:lvl1pPr algn="l">
              <a:defRPr/>
            </a:lvl1pPr>
          </a:lstStyle>
          <a:p>
            <a:fld id="{E72EB70D-CD01-44DA-83B3-8FEB3383D307}" type="datetime1">
              <a:rPr lang="en-US" smtClean="0"/>
              <a:t>10/24/2025</a:t>
            </a:fld>
            <a:endParaRPr lang="en-US" dirty="0"/>
          </a:p>
        </p:txBody>
      </p:sp>
    </p:spTree>
    <p:extLst>
      <p:ext uri="{BB962C8B-B14F-4D97-AF65-F5344CB8AC3E}">
        <p14:creationId xmlns:p14="http://schemas.microsoft.com/office/powerpoint/2010/main" val="38475344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920240" y="2438399"/>
            <a:ext cx="4160520" cy="36576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30290" y="2438399"/>
            <a:ext cx="4160520" cy="36576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7C1D6427-F07F-4D50-B151-455100AF70FF}"/>
              </a:ext>
            </a:extLst>
          </p:cNvPr>
          <p:cNvSpPr>
            <a:spLocks noGrp="1"/>
          </p:cNvSpPr>
          <p:nvPr>
            <p:ph type="dt" sz="half" idx="10"/>
          </p:nvPr>
        </p:nvSpPr>
        <p:spPr/>
        <p:txBody>
          <a:bodyPr/>
          <a:lstStyle/>
          <a:p>
            <a:fld id="{D0158CFD-9357-46BE-A189-D637A67C8730}" type="datetime1">
              <a:rPr lang="en-US" smtClean="0"/>
              <a:t>10/24/2025</a:t>
            </a:fld>
            <a:endParaRPr lang="en-US" dirty="0"/>
          </a:p>
        </p:txBody>
      </p:sp>
      <p:sp>
        <p:nvSpPr>
          <p:cNvPr id="9" name="Footer Placeholder 8">
            <a:extLst>
              <a:ext uri="{FF2B5EF4-FFF2-40B4-BE49-F238E27FC236}">
                <a16:creationId xmlns:a16="http://schemas.microsoft.com/office/drawing/2014/main" id="{479EFBB2-C5E0-4D57-AB1D-3AA907ECFD72}"/>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7AE6B7E1-F60B-4D08-9052-423D6FBFAD64}"/>
              </a:ext>
            </a:extLst>
          </p:cNvPr>
          <p:cNvSpPr>
            <a:spLocks noGrp="1"/>
          </p:cNvSpPr>
          <p:nvPr>
            <p:ph type="sldNum" sz="quarter" idx="12"/>
          </p:nvPr>
        </p:nvSpPr>
        <p:spPr/>
        <p:txBody>
          <a:bodyPr/>
          <a:lstStyle/>
          <a:p>
            <a:pPr algn="l"/>
            <a:fld id="{FAEF9944-A4F6-4C59-AEBD-678D6480B8EA}" type="slidenum">
              <a:rPr lang="en-US" smtClean="0"/>
              <a:pPr algn="l"/>
              <a:t>‹#›</a:t>
            </a:fld>
            <a:endParaRPr lang="en-US" dirty="0"/>
          </a:p>
        </p:txBody>
      </p:sp>
    </p:spTree>
    <p:extLst>
      <p:ext uri="{BB962C8B-B14F-4D97-AF65-F5344CB8AC3E}">
        <p14:creationId xmlns:p14="http://schemas.microsoft.com/office/powerpoint/2010/main" val="5546475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920241" y="2456408"/>
            <a:ext cx="4160520" cy="823912"/>
          </a:xfrm>
        </p:spPr>
        <p:txBody>
          <a:bodyPr anchor="b">
            <a:normAutofit/>
          </a:bodyPr>
          <a:lstStyle>
            <a:lvl1pPr marL="0" indent="0">
              <a:lnSpc>
                <a:spcPct val="130000"/>
              </a:lnSpc>
              <a:buNone/>
              <a:defRPr sz="1800" b="1"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920241" y="3316639"/>
            <a:ext cx="4160520" cy="27793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30290" y="2456408"/>
            <a:ext cx="4160520" cy="823912"/>
          </a:xfrm>
        </p:spPr>
        <p:txBody>
          <a:bodyPr anchor="b">
            <a:normAutofit/>
          </a:bodyPr>
          <a:lstStyle>
            <a:lvl1pPr marL="0" indent="0">
              <a:lnSpc>
                <a:spcPct val="99000"/>
              </a:lnSpc>
              <a:buNone/>
              <a:defRPr lang="en-US" sz="1800" b="1" kern="1200" cap="all" spc="150"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130000"/>
              </a:lnSpc>
              <a:spcBef>
                <a:spcPts val="930"/>
              </a:spcBef>
              <a:buFont typeface="Corbel" panose="020B0503020204020204" pitchFamily="34" charset="0"/>
              <a:buNone/>
            </a:pPr>
            <a:r>
              <a:rPr lang="en-US"/>
              <a:t>Click to edit Master text styles</a:t>
            </a:r>
          </a:p>
        </p:txBody>
      </p:sp>
      <p:sp>
        <p:nvSpPr>
          <p:cNvPr id="6" name="Content Placeholder 5"/>
          <p:cNvSpPr>
            <a:spLocks noGrp="1"/>
          </p:cNvSpPr>
          <p:nvPr>
            <p:ph sz="quarter" idx="4"/>
          </p:nvPr>
        </p:nvSpPr>
        <p:spPr>
          <a:xfrm>
            <a:off x="6530290" y="3316639"/>
            <a:ext cx="4160520" cy="27793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Date Placeholder 9">
            <a:extLst>
              <a:ext uri="{FF2B5EF4-FFF2-40B4-BE49-F238E27FC236}">
                <a16:creationId xmlns:a16="http://schemas.microsoft.com/office/drawing/2014/main" id="{3771BF97-4D2A-43A4-8CDC-2250017EB045}"/>
              </a:ext>
            </a:extLst>
          </p:cNvPr>
          <p:cNvSpPr>
            <a:spLocks noGrp="1"/>
          </p:cNvSpPr>
          <p:nvPr>
            <p:ph type="dt" sz="half" idx="10"/>
          </p:nvPr>
        </p:nvSpPr>
        <p:spPr/>
        <p:txBody>
          <a:bodyPr/>
          <a:lstStyle/>
          <a:p>
            <a:fld id="{7B4742EE-B331-4632-BD10-A82FED6B6FC0}" type="datetime1">
              <a:rPr lang="en-US" smtClean="0"/>
              <a:t>10/24/2025</a:t>
            </a:fld>
            <a:endParaRPr lang="en-US" dirty="0"/>
          </a:p>
        </p:txBody>
      </p:sp>
      <p:sp>
        <p:nvSpPr>
          <p:cNvPr id="11" name="Footer Placeholder 10">
            <a:extLst>
              <a:ext uri="{FF2B5EF4-FFF2-40B4-BE49-F238E27FC236}">
                <a16:creationId xmlns:a16="http://schemas.microsoft.com/office/drawing/2014/main" id="{6020661A-DA07-4679-9226-945B5DD2480C}"/>
              </a:ext>
            </a:extLst>
          </p:cNvPr>
          <p:cNvSpPr>
            <a:spLocks noGrp="1"/>
          </p:cNvSpPr>
          <p:nvPr>
            <p:ph type="ftr" sz="quarter" idx="11"/>
          </p:nvPr>
        </p:nvSpPr>
        <p:spPr/>
        <p:txBody>
          <a:bodyPr/>
          <a:lstStyle/>
          <a:p>
            <a:endParaRPr lang="en-US" dirty="0"/>
          </a:p>
        </p:txBody>
      </p:sp>
      <p:sp>
        <p:nvSpPr>
          <p:cNvPr id="12" name="Slide Number Placeholder 11">
            <a:extLst>
              <a:ext uri="{FF2B5EF4-FFF2-40B4-BE49-F238E27FC236}">
                <a16:creationId xmlns:a16="http://schemas.microsoft.com/office/drawing/2014/main" id="{EEFCE38B-E087-4988-BC3A-FE3B55E70D7E}"/>
              </a:ext>
            </a:extLst>
          </p:cNvPr>
          <p:cNvSpPr>
            <a:spLocks noGrp="1"/>
          </p:cNvSpPr>
          <p:nvPr>
            <p:ph type="sldNum" sz="quarter" idx="12"/>
          </p:nvPr>
        </p:nvSpPr>
        <p:spPr/>
        <p:txBody>
          <a:bodyPr/>
          <a:lstStyle/>
          <a:p>
            <a:pPr algn="l"/>
            <a:fld id="{FAEF9944-A4F6-4C59-AEBD-678D6480B8EA}" type="slidenum">
              <a:rPr lang="en-US" smtClean="0"/>
              <a:pPr algn="l"/>
              <a:t>‹#›</a:t>
            </a:fld>
            <a:endParaRPr lang="en-US" dirty="0"/>
          </a:p>
        </p:txBody>
      </p:sp>
      <p:sp>
        <p:nvSpPr>
          <p:cNvPr id="13" name="Title 12">
            <a:extLst>
              <a:ext uri="{FF2B5EF4-FFF2-40B4-BE49-F238E27FC236}">
                <a16:creationId xmlns:a16="http://schemas.microsoft.com/office/drawing/2014/main" id="{D3BC439C-E995-4E1F-8DE9-75C32785E00F}"/>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8411754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CF30096C-3491-4EF2-ABB2-D57F3F4B5BD5}"/>
              </a:ext>
            </a:extLst>
          </p:cNvPr>
          <p:cNvSpPr>
            <a:spLocks noGrp="1"/>
          </p:cNvSpPr>
          <p:nvPr>
            <p:ph type="dt" sz="half" idx="10"/>
          </p:nvPr>
        </p:nvSpPr>
        <p:spPr/>
        <p:txBody>
          <a:bodyPr/>
          <a:lstStyle/>
          <a:p>
            <a:fld id="{451BA835-D13F-49F4-8F11-5D576AC65FAD}" type="datetime1">
              <a:rPr lang="en-US" smtClean="0"/>
              <a:t>10/24/2025</a:t>
            </a:fld>
            <a:endParaRPr lang="en-US" dirty="0"/>
          </a:p>
        </p:txBody>
      </p:sp>
      <p:sp>
        <p:nvSpPr>
          <p:cNvPr id="7" name="Footer Placeholder 6">
            <a:extLst>
              <a:ext uri="{FF2B5EF4-FFF2-40B4-BE49-F238E27FC236}">
                <a16:creationId xmlns:a16="http://schemas.microsoft.com/office/drawing/2014/main" id="{79DA3A85-7147-4F32-944A-B079AF5147E2}"/>
              </a:ext>
            </a:extLst>
          </p:cNvPr>
          <p:cNvSpPr>
            <a:spLocks noGrp="1"/>
          </p:cNvSpPr>
          <p:nvPr>
            <p:ph type="ftr" sz="quarter" idx="11"/>
          </p:nvPr>
        </p:nvSpPr>
        <p:spPr/>
        <p:txBody>
          <a:bodyPr/>
          <a:lstStyle/>
          <a:p>
            <a:endParaRPr lang="en-US" dirty="0"/>
          </a:p>
        </p:txBody>
      </p:sp>
      <p:sp>
        <p:nvSpPr>
          <p:cNvPr id="8" name="Slide Number Placeholder 7">
            <a:extLst>
              <a:ext uri="{FF2B5EF4-FFF2-40B4-BE49-F238E27FC236}">
                <a16:creationId xmlns:a16="http://schemas.microsoft.com/office/drawing/2014/main" id="{EEDDF50D-95C0-4DA2-BBC6-41774FAC1404}"/>
              </a:ext>
            </a:extLst>
          </p:cNvPr>
          <p:cNvSpPr>
            <a:spLocks noGrp="1"/>
          </p:cNvSpPr>
          <p:nvPr>
            <p:ph type="sldNum" sz="quarter" idx="12"/>
          </p:nvPr>
        </p:nvSpPr>
        <p:spPr/>
        <p:txBody>
          <a:bodyPr/>
          <a:lstStyle/>
          <a:p>
            <a:pPr algn="l"/>
            <a:fld id="{FAEF9944-A4F6-4C59-AEBD-678D6480B8EA}" type="slidenum">
              <a:rPr lang="en-US" smtClean="0"/>
              <a:pPr algn="l"/>
              <a:t>‹#›</a:t>
            </a:fld>
            <a:endParaRPr lang="en-US" dirty="0"/>
          </a:p>
        </p:txBody>
      </p:sp>
    </p:spTree>
    <p:extLst>
      <p:ext uri="{BB962C8B-B14F-4D97-AF65-F5344CB8AC3E}">
        <p14:creationId xmlns:p14="http://schemas.microsoft.com/office/powerpoint/2010/main" val="13139237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209BEFCA-6D6F-4F26-823F-C86CA694B830}"/>
              </a:ext>
            </a:extLst>
          </p:cNvPr>
          <p:cNvSpPr>
            <a:spLocks noGrp="1"/>
          </p:cNvSpPr>
          <p:nvPr>
            <p:ph type="dt" sz="half" idx="10"/>
          </p:nvPr>
        </p:nvSpPr>
        <p:spPr/>
        <p:txBody>
          <a:bodyPr/>
          <a:lstStyle/>
          <a:p>
            <a:fld id="{ADBD1799-ACB5-4CB2-86A2-5C574F1C8706}" type="datetime1">
              <a:rPr lang="en-US" smtClean="0"/>
              <a:t>10/24/2025</a:t>
            </a:fld>
            <a:endParaRPr lang="en-US" dirty="0"/>
          </a:p>
        </p:txBody>
      </p:sp>
      <p:sp>
        <p:nvSpPr>
          <p:cNvPr id="6" name="Footer Placeholder 5">
            <a:extLst>
              <a:ext uri="{FF2B5EF4-FFF2-40B4-BE49-F238E27FC236}">
                <a16:creationId xmlns:a16="http://schemas.microsoft.com/office/drawing/2014/main" id="{BC2EE2C9-E87D-4495-9EDA-6BC0EDC27097}"/>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4E5557A9-903F-4B36-8B06-D9EADF230508}"/>
              </a:ext>
            </a:extLst>
          </p:cNvPr>
          <p:cNvSpPr>
            <a:spLocks noGrp="1"/>
          </p:cNvSpPr>
          <p:nvPr>
            <p:ph type="sldNum" sz="quarter" idx="12"/>
          </p:nvPr>
        </p:nvSpPr>
        <p:spPr/>
        <p:txBody>
          <a:bodyPr/>
          <a:lstStyle/>
          <a:p>
            <a:pPr algn="l"/>
            <a:fld id="{FAEF9944-A4F6-4C59-AEBD-678D6480B8EA}" type="slidenum">
              <a:rPr lang="en-US" smtClean="0"/>
              <a:pPr algn="l"/>
              <a:t>‹#›</a:t>
            </a:fld>
            <a:endParaRPr lang="en-US" dirty="0"/>
          </a:p>
        </p:txBody>
      </p:sp>
    </p:spTree>
    <p:extLst>
      <p:ext uri="{BB962C8B-B14F-4D97-AF65-F5344CB8AC3E}">
        <p14:creationId xmlns:p14="http://schemas.microsoft.com/office/powerpoint/2010/main" val="18757143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76488" y="640080"/>
            <a:ext cx="3227715" cy="2551751"/>
          </a:xfrm>
        </p:spPr>
        <p:txBody>
          <a:bodyPr anchor="b">
            <a:normAutofit/>
          </a:bodyPr>
          <a:lstStyle>
            <a:lvl1pPr>
              <a:lnSpc>
                <a:spcPct val="104000"/>
              </a:lnSpc>
              <a:defRPr sz="3400"/>
            </a:lvl1pPr>
          </a:lstStyle>
          <a:p>
            <a:r>
              <a:rPr lang="en-US"/>
              <a:t>Click to edit Master title style</a:t>
            </a:r>
            <a:endParaRPr lang="en-US" dirty="0"/>
          </a:p>
        </p:txBody>
      </p:sp>
      <p:sp>
        <p:nvSpPr>
          <p:cNvPr id="3" name="Content Placeholder 2"/>
          <p:cNvSpPr>
            <a:spLocks noGrp="1"/>
          </p:cNvSpPr>
          <p:nvPr>
            <p:ph idx="1"/>
          </p:nvPr>
        </p:nvSpPr>
        <p:spPr>
          <a:xfrm>
            <a:off x="1280160" y="640080"/>
            <a:ext cx="6949440" cy="5455919"/>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76488" y="3223803"/>
            <a:ext cx="3227715" cy="2872197"/>
          </a:xfrm>
        </p:spPr>
        <p:txBody>
          <a:bodyPr/>
          <a:lstStyle>
            <a:lvl1pPr marL="0" indent="0">
              <a:spcBef>
                <a:spcPts val="1400"/>
              </a:spcBef>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a:extLst>
              <a:ext uri="{FF2B5EF4-FFF2-40B4-BE49-F238E27FC236}">
                <a16:creationId xmlns:a16="http://schemas.microsoft.com/office/drawing/2014/main" id="{BB904BE8-2080-4FFA-9239-A8929E28FAD9}"/>
              </a:ext>
            </a:extLst>
          </p:cNvPr>
          <p:cNvSpPr>
            <a:spLocks noGrp="1"/>
          </p:cNvSpPr>
          <p:nvPr>
            <p:ph type="dt" sz="half" idx="10"/>
          </p:nvPr>
        </p:nvSpPr>
        <p:spPr>
          <a:xfrm>
            <a:off x="8476488" y="6170491"/>
            <a:ext cx="2214322" cy="457200"/>
          </a:xfrm>
        </p:spPr>
        <p:txBody>
          <a:bodyPr/>
          <a:lstStyle/>
          <a:p>
            <a:fld id="{ED5DD0D6-7A82-473E-879B-C6ECD6CCCFEC}" type="datetime1">
              <a:rPr lang="en-US" smtClean="0"/>
              <a:t>10/24/2025</a:t>
            </a:fld>
            <a:endParaRPr lang="en-US" dirty="0"/>
          </a:p>
        </p:txBody>
      </p:sp>
      <p:sp>
        <p:nvSpPr>
          <p:cNvPr id="9" name="Footer Placeholder 8">
            <a:extLst>
              <a:ext uri="{FF2B5EF4-FFF2-40B4-BE49-F238E27FC236}">
                <a16:creationId xmlns:a16="http://schemas.microsoft.com/office/drawing/2014/main" id="{ED5580C6-5CD7-4CDD-977D-0533C84F2F45}"/>
              </a:ext>
            </a:extLst>
          </p:cNvPr>
          <p:cNvSpPr>
            <a:spLocks noGrp="1"/>
          </p:cNvSpPr>
          <p:nvPr>
            <p:ph type="ftr" sz="quarter" idx="11"/>
          </p:nvPr>
        </p:nvSpPr>
        <p:spPr>
          <a:xfrm>
            <a:off x="1280160" y="6170490"/>
            <a:ext cx="6949440" cy="457200"/>
          </a:xfrm>
        </p:spPr>
        <p:txBody>
          <a:bodyPr/>
          <a:lstStyle/>
          <a:p>
            <a:endParaRPr lang="en-US" dirty="0"/>
          </a:p>
        </p:txBody>
      </p:sp>
      <p:sp>
        <p:nvSpPr>
          <p:cNvPr id="10" name="Slide Number Placeholder 9">
            <a:extLst>
              <a:ext uri="{FF2B5EF4-FFF2-40B4-BE49-F238E27FC236}">
                <a16:creationId xmlns:a16="http://schemas.microsoft.com/office/drawing/2014/main" id="{518D0320-9B66-443F-8E28-8BCF07E082BD}"/>
              </a:ext>
            </a:extLst>
          </p:cNvPr>
          <p:cNvSpPr>
            <a:spLocks noGrp="1"/>
          </p:cNvSpPr>
          <p:nvPr>
            <p:ph type="sldNum" sz="quarter" idx="12"/>
          </p:nvPr>
        </p:nvSpPr>
        <p:spPr/>
        <p:txBody>
          <a:bodyPr/>
          <a:lstStyle/>
          <a:p>
            <a:pPr algn="l"/>
            <a:fld id="{FAEF9944-A4F6-4C59-AEBD-678D6480B8EA}" type="slidenum">
              <a:rPr lang="en-US" smtClean="0"/>
              <a:pPr algn="l"/>
              <a:t>‹#›</a:t>
            </a:fld>
            <a:endParaRPr lang="en-US" dirty="0"/>
          </a:p>
        </p:txBody>
      </p:sp>
    </p:spTree>
    <p:extLst>
      <p:ext uri="{BB962C8B-B14F-4D97-AF65-F5344CB8AC3E}">
        <p14:creationId xmlns:p14="http://schemas.microsoft.com/office/powerpoint/2010/main" val="5598910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0" y="0"/>
            <a:ext cx="8102651" cy="6857999"/>
          </a:xfrm>
          <a:solidFill>
            <a:schemeClr val="bg2">
              <a:lumMod val="9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8476488" y="1503910"/>
            <a:ext cx="3230625" cy="1687924"/>
          </a:xfrm>
        </p:spPr>
        <p:txBody>
          <a:bodyPr anchor="b">
            <a:noAutofit/>
          </a:bodyPr>
          <a:lstStyle>
            <a:lvl1pPr>
              <a:lnSpc>
                <a:spcPct val="104000"/>
              </a:lnSpc>
              <a:defRPr sz="3400"/>
            </a:lvl1pPr>
          </a:lstStyle>
          <a:p>
            <a:r>
              <a:rPr lang="en-US"/>
              <a:t>Click to edit Master title style</a:t>
            </a:r>
            <a:endParaRPr lang="en-US" dirty="0"/>
          </a:p>
        </p:txBody>
      </p:sp>
      <p:sp>
        <p:nvSpPr>
          <p:cNvPr id="4" name="Text Placeholder 3"/>
          <p:cNvSpPr>
            <a:spLocks noGrp="1"/>
          </p:cNvSpPr>
          <p:nvPr>
            <p:ph type="body" sz="half" idx="2"/>
          </p:nvPr>
        </p:nvSpPr>
        <p:spPr>
          <a:xfrm>
            <a:off x="8476488" y="3223806"/>
            <a:ext cx="3227832" cy="2872194"/>
          </a:xfrm>
        </p:spPr>
        <p:txBody>
          <a:bodyPr/>
          <a:lstStyle>
            <a:lvl1pPr marL="0" indent="0">
              <a:spcBef>
                <a:spcPts val="1400"/>
              </a:spcBef>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1" name="Date Placeholder 10">
            <a:extLst>
              <a:ext uri="{FF2B5EF4-FFF2-40B4-BE49-F238E27FC236}">
                <a16:creationId xmlns:a16="http://schemas.microsoft.com/office/drawing/2014/main" id="{41C2A9DB-B176-4069-8734-5B4ED352BA2B}"/>
              </a:ext>
            </a:extLst>
          </p:cNvPr>
          <p:cNvSpPr>
            <a:spLocks noGrp="1"/>
          </p:cNvSpPr>
          <p:nvPr>
            <p:ph type="dt" sz="half" idx="10"/>
          </p:nvPr>
        </p:nvSpPr>
        <p:spPr>
          <a:xfrm>
            <a:off x="8476488" y="6170491"/>
            <a:ext cx="2214322" cy="457200"/>
          </a:xfrm>
        </p:spPr>
        <p:txBody>
          <a:bodyPr/>
          <a:lstStyle/>
          <a:p>
            <a:fld id="{D4605E03-BC17-41A7-854C-DFAB672737DC}" type="datetime1">
              <a:rPr lang="en-US" smtClean="0"/>
              <a:t>10/24/2025</a:t>
            </a:fld>
            <a:endParaRPr lang="en-US" dirty="0"/>
          </a:p>
        </p:txBody>
      </p:sp>
      <p:sp>
        <p:nvSpPr>
          <p:cNvPr id="12" name="Footer Placeholder 11">
            <a:extLst>
              <a:ext uri="{FF2B5EF4-FFF2-40B4-BE49-F238E27FC236}">
                <a16:creationId xmlns:a16="http://schemas.microsoft.com/office/drawing/2014/main" id="{430F9A2F-C2C4-4E1C-B4B3-07ED84F28CE8}"/>
              </a:ext>
            </a:extLst>
          </p:cNvPr>
          <p:cNvSpPr>
            <a:spLocks noGrp="1"/>
          </p:cNvSpPr>
          <p:nvPr>
            <p:ph type="ftr" sz="quarter" idx="11"/>
          </p:nvPr>
        </p:nvSpPr>
        <p:spPr>
          <a:xfrm>
            <a:off x="1280160" y="6170490"/>
            <a:ext cx="6464410" cy="457200"/>
          </a:xfrm>
        </p:spPr>
        <p:txBody>
          <a:bodyPr/>
          <a:lstStyle>
            <a:lvl1pPr>
              <a:defRPr b="1">
                <a:solidFill>
                  <a:srgbClr val="FFFFFF"/>
                </a:solidFill>
                <a:effectLst>
                  <a:outerShdw blurRad="50800" dist="38100" dir="2700000" algn="tl" rotWithShape="0">
                    <a:prstClr val="black">
                      <a:alpha val="43000"/>
                    </a:prstClr>
                  </a:outerShdw>
                </a:effectLst>
              </a:defRPr>
            </a:lvl1pPr>
          </a:lstStyle>
          <a:p>
            <a:endParaRPr lang="en-US" dirty="0"/>
          </a:p>
        </p:txBody>
      </p:sp>
      <p:sp>
        <p:nvSpPr>
          <p:cNvPr id="13" name="Slide Number Placeholder 12">
            <a:extLst>
              <a:ext uri="{FF2B5EF4-FFF2-40B4-BE49-F238E27FC236}">
                <a16:creationId xmlns:a16="http://schemas.microsoft.com/office/drawing/2014/main" id="{F9BFA0A0-2117-4A10-9DAA-080C21559CF3}"/>
              </a:ext>
            </a:extLst>
          </p:cNvPr>
          <p:cNvSpPr>
            <a:spLocks noGrp="1"/>
          </p:cNvSpPr>
          <p:nvPr>
            <p:ph type="sldNum" sz="quarter" idx="12"/>
          </p:nvPr>
        </p:nvSpPr>
        <p:spPr/>
        <p:txBody>
          <a:bodyPr/>
          <a:lstStyle/>
          <a:p>
            <a:pPr algn="l"/>
            <a:fld id="{FAEF9944-A4F6-4C59-AEBD-678D6480B8EA}" type="slidenum">
              <a:rPr lang="en-US" smtClean="0"/>
              <a:pPr algn="l"/>
              <a:t>‹#›</a:t>
            </a:fld>
            <a:endParaRPr lang="en-US" dirty="0"/>
          </a:p>
        </p:txBody>
      </p:sp>
    </p:spTree>
    <p:extLst>
      <p:ext uri="{BB962C8B-B14F-4D97-AF65-F5344CB8AC3E}">
        <p14:creationId xmlns:p14="http://schemas.microsoft.com/office/powerpoint/2010/main" val="5582057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6397E4A-EB6A-4FA6-AA4F-69EA0C70FDC9}"/>
              </a:ext>
            </a:extLst>
          </p:cNvPr>
          <p:cNvSpPr>
            <a:spLocks noGrp="1"/>
          </p:cNvSpPr>
          <p:nvPr>
            <p:ph type="dt" sz="half" idx="10"/>
          </p:nvPr>
        </p:nvSpPr>
        <p:spPr/>
        <p:txBody>
          <a:bodyPr/>
          <a:lstStyle/>
          <a:p>
            <a:fld id="{6F86ED0C-1DA7-41F0-94CF-6218B1FEDFF1}" type="datetime1">
              <a:rPr lang="en-US" smtClean="0"/>
              <a:t>10/24/2025</a:t>
            </a:fld>
            <a:endParaRPr lang="en-US" dirty="0"/>
          </a:p>
        </p:txBody>
      </p:sp>
      <p:sp>
        <p:nvSpPr>
          <p:cNvPr id="8" name="Footer Placeholder 7">
            <a:extLst>
              <a:ext uri="{FF2B5EF4-FFF2-40B4-BE49-F238E27FC236}">
                <a16:creationId xmlns:a16="http://schemas.microsoft.com/office/drawing/2014/main" id="{051A2F5D-7AC4-4F91-965A-7B6A45D6F414}"/>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D26E8B86-CDB8-482F-9D9F-1BFDA3638B3E}"/>
              </a:ext>
            </a:extLst>
          </p:cNvPr>
          <p:cNvSpPr>
            <a:spLocks noGrp="1"/>
          </p:cNvSpPr>
          <p:nvPr>
            <p:ph type="sldNum" sz="quarter" idx="12"/>
          </p:nvPr>
        </p:nvSpPr>
        <p:spPr/>
        <p:txBody>
          <a:bodyPr/>
          <a:lstStyle/>
          <a:p>
            <a:pPr algn="l"/>
            <a:fld id="{FAEF9944-A4F6-4C59-AEBD-678D6480B8EA}" type="slidenum">
              <a:rPr lang="en-US" smtClean="0"/>
              <a:pPr algn="l"/>
              <a:t>‹#›</a:t>
            </a:fld>
            <a:endParaRPr lang="en-US" dirty="0"/>
          </a:p>
        </p:txBody>
      </p:sp>
    </p:spTree>
    <p:extLst>
      <p:ext uri="{BB962C8B-B14F-4D97-AF65-F5344CB8AC3E}">
        <p14:creationId xmlns:p14="http://schemas.microsoft.com/office/powerpoint/2010/main" val="5262295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77965" y="507037"/>
            <a:ext cx="1571626" cy="533993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933700" y="524373"/>
            <a:ext cx="5959577" cy="532259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9277965" y="6296615"/>
            <a:ext cx="2505996" cy="365125"/>
          </a:xfrm>
        </p:spPr>
        <p:txBody>
          <a:bodyPr/>
          <a:lstStyle/>
          <a:p>
            <a:fld id="{EECF02AB-6034-4B88-BC5A-7C17CB0EF809}" type="datetime1">
              <a:rPr lang="en-US" smtClean="0"/>
              <a:t>10/24/2025</a:t>
            </a:fld>
            <a:endParaRPr lang="en-US" dirty="0"/>
          </a:p>
        </p:txBody>
      </p:sp>
      <p:sp>
        <p:nvSpPr>
          <p:cNvPr id="5" name="Footer Placeholder 4"/>
          <p:cNvSpPr>
            <a:spLocks noGrp="1"/>
          </p:cNvSpPr>
          <p:nvPr>
            <p:ph type="ftr" sz="quarter" idx="11"/>
          </p:nvPr>
        </p:nvSpPr>
        <p:spPr>
          <a:xfrm>
            <a:off x="2933699" y="6296615"/>
            <a:ext cx="5959577" cy="365125"/>
          </a:xfrm>
        </p:spPr>
        <p:txBody>
          <a:bodyPr/>
          <a:lstStyle/>
          <a:p>
            <a:endParaRPr lang="en-US" dirty="0"/>
          </a:p>
        </p:txBody>
      </p:sp>
      <p:sp>
        <p:nvSpPr>
          <p:cNvPr id="6" name="Slide Number Placeholder 5"/>
          <p:cNvSpPr>
            <a:spLocks noGrp="1"/>
          </p:cNvSpPr>
          <p:nvPr>
            <p:ph type="sldNum" sz="quarter" idx="12"/>
          </p:nvPr>
        </p:nvSpPr>
        <p:spPr>
          <a:xfrm rot="5400000">
            <a:off x="8734643" y="2853201"/>
            <a:ext cx="5383267" cy="604269"/>
          </a:xfrm>
        </p:spPr>
        <p:txBody>
          <a:bodyPr/>
          <a:lstStyle>
            <a:lvl1pPr algn="l">
              <a:defRPr/>
            </a:lvl1pPr>
          </a:lstStyle>
          <a:p>
            <a:fld id="{FAEF9944-A4F6-4C59-AEBD-678D6480B8EA}" type="slidenum">
              <a:rPr lang="en-US" smtClean="0"/>
              <a:pPr/>
              <a:t>‹#›</a:t>
            </a:fld>
            <a:endParaRPr lang="en-US" dirty="0"/>
          </a:p>
        </p:txBody>
      </p:sp>
      <p:cxnSp>
        <p:nvCxnSpPr>
          <p:cNvPr id="7" name="Straight Connector 6" title="Rule Line">
            <a:extLst>
              <a:ext uri="{FF2B5EF4-FFF2-40B4-BE49-F238E27FC236}">
                <a16:creationId xmlns:a16="http://schemas.microsoft.com/office/drawing/2014/main" id="{A1005B08-D2D4-455C-AA62-1200E43E7AF9}"/>
              </a:ext>
            </a:extLst>
          </p:cNvPr>
          <p:cNvCxnSpPr/>
          <p:nvPr/>
        </p:nvCxnSpPr>
        <p:spPr>
          <a:xfrm>
            <a:off x="9111582" y="571502"/>
            <a:ext cx="0" cy="5275467"/>
          </a:xfrm>
          <a:prstGeom prst="line">
            <a:avLst/>
          </a:prstGeom>
          <a:ln w="381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311207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920240" y="442220"/>
            <a:ext cx="8770571" cy="1345269"/>
          </a:xfrm>
          <a:prstGeom prst="rect">
            <a:avLst/>
          </a:prstGeom>
        </p:spPr>
        <p:txBody>
          <a:bodyPr vert="horz" lIns="109728" tIns="109728" rIns="109728" bIns="9144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920240" y="2312276"/>
            <a:ext cx="8770571" cy="3651504"/>
          </a:xfrm>
          <a:prstGeom prst="rect">
            <a:avLst/>
          </a:prstGeom>
        </p:spPr>
        <p:txBody>
          <a:bodyPr vert="horz" lIns="109728" tIns="109728" rIns="109728" bIns="9144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850727" y="6170491"/>
            <a:ext cx="2840083" cy="457200"/>
          </a:xfrm>
          <a:prstGeom prst="rect">
            <a:avLst/>
          </a:prstGeom>
        </p:spPr>
        <p:txBody>
          <a:bodyPr vert="horz" lIns="109728" tIns="109728" rIns="109728" bIns="91440" rtlCol="0" anchor="ctr"/>
          <a:lstStyle>
            <a:lvl1pPr algn="r">
              <a:defRPr sz="1100" spc="150" baseline="0">
                <a:solidFill>
                  <a:schemeClr val="tx1">
                    <a:lumMod val="75000"/>
                    <a:lumOff val="25000"/>
                  </a:schemeClr>
                </a:solidFill>
                <a:latin typeface="+mj-lt"/>
              </a:defRPr>
            </a:lvl1pPr>
          </a:lstStyle>
          <a:p>
            <a:fld id="{C4408324-A84C-4A45-93B6-78D079CCE772}" type="datetime1">
              <a:rPr lang="en-US" smtClean="0"/>
              <a:t>10/24/2025</a:t>
            </a:fld>
            <a:endParaRPr lang="en-US" dirty="0"/>
          </a:p>
        </p:txBody>
      </p:sp>
      <p:sp>
        <p:nvSpPr>
          <p:cNvPr id="5" name="Footer Placeholder 4"/>
          <p:cNvSpPr>
            <a:spLocks noGrp="1"/>
          </p:cNvSpPr>
          <p:nvPr>
            <p:ph type="ftr" sz="quarter" idx="3"/>
          </p:nvPr>
        </p:nvSpPr>
        <p:spPr>
          <a:xfrm>
            <a:off x="1920240" y="6170490"/>
            <a:ext cx="5667375" cy="457200"/>
          </a:xfrm>
          <a:prstGeom prst="rect">
            <a:avLst/>
          </a:prstGeom>
        </p:spPr>
        <p:txBody>
          <a:bodyPr vert="horz" lIns="109728" tIns="109728" rIns="109728" bIns="91440" rtlCol="0" anchor="ctr"/>
          <a:lstStyle>
            <a:lvl1pPr algn="l">
              <a:defRPr sz="1100" spc="150" baseline="0">
                <a:solidFill>
                  <a:schemeClr val="tx1">
                    <a:lumMod val="75000"/>
                    <a:lumOff val="25000"/>
                  </a:schemeClr>
                </a:solidFill>
                <a:latin typeface="+mj-lt"/>
              </a:defRPr>
            </a:lvl1pPr>
          </a:lstStyle>
          <a:p>
            <a:endParaRPr lang="en-US" dirty="0"/>
          </a:p>
        </p:txBody>
      </p:sp>
      <p:sp>
        <p:nvSpPr>
          <p:cNvPr id="6" name="Slide Number Placeholder 5"/>
          <p:cNvSpPr>
            <a:spLocks noGrp="1"/>
          </p:cNvSpPr>
          <p:nvPr>
            <p:ph type="sldNum" sz="quarter" idx="4"/>
          </p:nvPr>
        </p:nvSpPr>
        <p:spPr>
          <a:xfrm>
            <a:off x="10853744" y="6170490"/>
            <a:ext cx="1188720" cy="457200"/>
          </a:xfrm>
          <a:prstGeom prst="rect">
            <a:avLst/>
          </a:prstGeom>
        </p:spPr>
        <p:txBody>
          <a:bodyPr vert="horz" lIns="109728" tIns="109728" rIns="109728" bIns="91440" rtlCol="0" anchor="b"/>
          <a:lstStyle>
            <a:lvl1pPr algn="r">
              <a:defRPr sz="1600" b="1" baseline="0">
                <a:solidFill>
                  <a:schemeClr val="tx1">
                    <a:lumMod val="75000"/>
                    <a:lumOff val="25000"/>
                  </a:schemeClr>
                </a:solidFill>
                <a:latin typeface="+mj-lt"/>
              </a:defRPr>
            </a:lvl1pPr>
          </a:lstStyle>
          <a:p>
            <a:pPr algn="l"/>
            <a:fld id="{FAEF9944-A4F6-4C59-AEBD-678D6480B8EA}" type="slidenum">
              <a:rPr lang="en-US" smtClean="0"/>
              <a:pPr algn="l"/>
              <a:t>‹#›</a:t>
            </a:fld>
            <a:endParaRPr lang="en-US" dirty="0"/>
          </a:p>
        </p:txBody>
      </p:sp>
      <p:cxnSp>
        <p:nvCxnSpPr>
          <p:cNvPr id="9" name="Straight Connector 8" title="Rule Line">
            <a:extLst>
              <a:ext uri="{FF2B5EF4-FFF2-40B4-BE49-F238E27FC236}">
                <a16:creationId xmlns:a16="http://schemas.microsoft.com/office/drawing/2014/main" id="{430127AE-B29E-4FDF-99D2-A2F1E7003F74}"/>
              </a:ext>
            </a:extLst>
          </p:cNvPr>
          <p:cNvCxnSpPr/>
          <p:nvPr/>
        </p:nvCxnSpPr>
        <p:spPr>
          <a:xfrm>
            <a:off x="1920240" y="2176009"/>
            <a:ext cx="8770571" cy="0"/>
          </a:xfrm>
          <a:prstGeom prst="line">
            <a:avLst/>
          </a:prstGeom>
          <a:ln w="254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62817689"/>
      </p:ext>
    </p:extLst>
  </p:cSld>
  <p:clrMap bg1="lt1" tx1="dk1" bg2="lt2" tx2="dk2" accent1="accent1" accent2="accent2" accent3="accent3" accent4="accent4" accent5="accent5" accent6="accent6" hlink="hlink" folHlink="folHlink"/>
  <p:sldLayoutIdLst>
    <p:sldLayoutId id="2147483759" r:id="rId1"/>
    <p:sldLayoutId id="2147483760" r:id="rId2"/>
    <p:sldLayoutId id="2147483761" r:id="rId3"/>
    <p:sldLayoutId id="2147483762" r:id="rId4"/>
    <p:sldLayoutId id="2147483752" r:id="rId5"/>
    <p:sldLayoutId id="2147483757" r:id="rId6"/>
    <p:sldLayoutId id="2147483753" r:id="rId7"/>
    <p:sldLayoutId id="2147483754" r:id="rId8"/>
    <p:sldLayoutId id="2147483755" r:id="rId9"/>
    <p:sldLayoutId id="2147483756" r:id="rId10"/>
    <p:sldLayoutId id="2147483758" r:id="rId11"/>
  </p:sldLayoutIdLst>
  <p:hf sldNum="0" hdr="0" ftr="0" dt="0"/>
  <p:txStyles>
    <p:titleStyle>
      <a:lvl1pPr algn="l" defTabSz="914400" rtl="0" eaLnBrk="1" latinLnBrk="0" hangingPunct="1">
        <a:lnSpc>
          <a:spcPct val="130000"/>
        </a:lnSpc>
        <a:spcBef>
          <a:spcPct val="0"/>
        </a:spcBef>
        <a:buNone/>
        <a:defRPr sz="3200" b="1" kern="1200" spc="150" baseline="0">
          <a:solidFill>
            <a:schemeClr val="tx1">
              <a:lumMod val="75000"/>
              <a:lumOff val="25000"/>
            </a:schemeClr>
          </a:solidFill>
          <a:latin typeface="+mj-lt"/>
          <a:ea typeface="+mj-ea"/>
          <a:cs typeface="+mj-cs"/>
        </a:defRPr>
      </a:lvl1pPr>
    </p:titleStyle>
    <p:bodyStyle>
      <a:lvl1pPr marL="0" indent="0" algn="l" defTabSz="914400" rtl="0" eaLnBrk="1" latinLnBrk="0" hangingPunct="1">
        <a:lnSpc>
          <a:spcPct val="140000"/>
        </a:lnSpc>
        <a:spcBef>
          <a:spcPts val="930"/>
        </a:spcBef>
        <a:buFont typeface="Corbel" panose="020B0503020204020204" pitchFamily="34" charset="0"/>
        <a:buNone/>
        <a:defRPr sz="1800" b="0" kern="1200" spc="150" baseline="0">
          <a:solidFill>
            <a:schemeClr val="tx1">
              <a:lumMod val="75000"/>
              <a:lumOff val="25000"/>
            </a:schemeClr>
          </a:solidFill>
          <a:latin typeface="+mn-lt"/>
          <a:ea typeface="+mn-ea"/>
          <a:cs typeface="+mn-cs"/>
        </a:defRPr>
      </a:lvl1pPr>
      <a:lvl2pPr marL="0" indent="0" algn="l" defTabSz="914400" rtl="0" eaLnBrk="1" latinLnBrk="0" hangingPunct="1">
        <a:lnSpc>
          <a:spcPct val="140000"/>
        </a:lnSpc>
        <a:spcBef>
          <a:spcPts val="930"/>
        </a:spcBef>
        <a:buFont typeface="Corbel" panose="020B0503020204020204" pitchFamily="34" charset="0"/>
        <a:buNone/>
        <a:defRPr sz="1600" kern="1200" spc="150" baseline="0">
          <a:solidFill>
            <a:schemeClr val="tx1">
              <a:lumMod val="75000"/>
              <a:lumOff val="25000"/>
            </a:schemeClr>
          </a:solidFill>
          <a:latin typeface="+mn-lt"/>
          <a:ea typeface="+mn-ea"/>
          <a:cs typeface="+mn-cs"/>
        </a:defRPr>
      </a:lvl2pPr>
      <a:lvl3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3pPr>
      <a:lvl4pPr marL="0" indent="-320040" algn="l" defTabSz="914400" rtl="0" eaLnBrk="1" latinLnBrk="0" hangingPunct="1">
        <a:lnSpc>
          <a:spcPct val="140000"/>
        </a:lnSpc>
        <a:spcBef>
          <a:spcPts val="930"/>
        </a:spcBef>
        <a:buFont typeface="Corbel" panose="020B0503020204020204" pitchFamily="34" charset="0"/>
        <a:buChar char="–"/>
        <a:defRPr sz="1400" kern="1200" spc="150" baseline="0">
          <a:solidFill>
            <a:schemeClr val="tx1">
              <a:lumMod val="75000"/>
              <a:lumOff val="25000"/>
            </a:schemeClr>
          </a:solidFill>
          <a:latin typeface="+mn-lt"/>
          <a:ea typeface="+mn-ea"/>
          <a:cs typeface="+mn-cs"/>
        </a:defRPr>
      </a:lvl4pPr>
      <a:lvl5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5pPr>
      <a:lvl6pPr marL="192024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6pPr>
      <a:lvl7pPr marL="224028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7pPr>
      <a:lvl8pPr marL="256032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8pPr>
      <a:lvl9pPr marL="288036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C8EEB0F-BA72-49AC-956F-331B60FDE7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grpSp>
        <p:nvGrpSpPr>
          <p:cNvPr id="11" name="Group 10">
            <a:extLst>
              <a:ext uri="{FF2B5EF4-FFF2-40B4-BE49-F238E27FC236}">
                <a16:creationId xmlns:a16="http://schemas.microsoft.com/office/drawing/2014/main" id="{FB8CE58F-407C-497E-B723-21FD8C6D35E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09937" y="721297"/>
            <a:ext cx="5565913" cy="5415406"/>
            <a:chOff x="797792" y="912854"/>
            <a:chExt cx="5298208" cy="5032292"/>
          </a:xfrm>
        </p:grpSpPr>
        <p:sp>
          <p:nvSpPr>
            <p:cNvPr id="12" name="Freeform: Shape 11">
              <a:extLst>
                <a:ext uri="{FF2B5EF4-FFF2-40B4-BE49-F238E27FC236}">
                  <a16:creationId xmlns:a16="http://schemas.microsoft.com/office/drawing/2014/main" id="{1BE70332-ECAF-47BB-8C7B-BD049452F6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1439" y="1056388"/>
              <a:ext cx="4968823" cy="4748064"/>
            </a:xfrm>
            <a:custGeom>
              <a:avLst/>
              <a:gdLst>
                <a:gd name="connsiteX0" fmla="*/ 2180840 w 3810827"/>
                <a:gd name="connsiteY0" fmla="*/ 0 h 3634591"/>
                <a:gd name="connsiteX1" fmla="*/ 2866380 w 3810827"/>
                <a:gd name="connsiteY1" fmla="*/ 145165 h 3634591"/>
                <a:gd name="connsiteX2" fmla="*/ 3366366 w 3810827"/>
                <a:gd name="connsiteY2" fmla="*/ 536835 h 3634591"/>
                <a:gd name="connsiteX3" fmla="*/ 3810827 w 3810827"/>
                <a:gd name="connsiteY3" fmla="*/ 1924156 h 3634591"/>
                <a:gd name="connsiteX4" fmla="*/ 3612844 w 3810827"/>
                <a:gd name="connsiteY4" fmla="*/ 2493111 h 3634591"/>
                <a:gd name="connsiteX5" fmla="*/ 3026664 w 3810827"/>
                <a:gd name="connsiteY5" fmla="*/ 3022891 h 3634591"/>
                <a:gd name="connsiteX6" fmla="*/ 2897783 w 3810827"/>
                <a:gd name="connsiteY6" fmla="*/ 3124233 h 3634591"/>
                <a:gd name="connsiteX7" fmla="*/ 1838765 w 3810827"/>
                <a:gd name="connsiteY7" fmla="*/ 3634591 h 3634591"/>
                <a:gd name="connsiteX8" fmla="*/ 443724 w 3810827"/>
                <a:gd name="connsiteY8" fmla="*/ 2805020 h 3634591"/>
                <a:gd name="connsiteX9" fmla="*/ 295053 w 3810827"/>
                <a:gd name="connsiteY9" fmla="*/ 2592792 h 3634591"/>
                <a:gd name="connsiteX10" fmla="*/ 0 w 3810827"/>
                <a:gd name="connsiteY10" fmla="*/ 1924156 h 3634591"/>
                <a:gd name="connsiteX11" fmla="*/ 178275 w 3810827"/>
                <a:gd name="connsiteY11" fmla="*/ 1204061 h 3634591"/>
                <a:gd name="connsiteX12" fmla="*/ 669921 w 3810827"/>
                <a:gd name="connsiteY12" fmla="*/ 585306 h 3634591"/>
                <a:gd name="connsiteX13" fmla="*/ 1380730 w 3810827"/>
                <a:gd name="connsiteY13" fmla="*/ 156203 h 3634591"/>
                <a:gd name="connsiteX14" fmla="*/ 2180840 w 3810827"/>
                <a:gd name="connsiteY14" fmla="*/ 0 h 3634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810827" h="3634591">
                  <a:moveTo>
                    <a:pt x="2180840" y="0"/>
                  </a:moveTo>
                  <a:cubicBezTo>
                    <a:pt x="2431406" y="0"/>
                    <a:pt x="2662018" y="48886"/>
                    <a:pt x="2866380" y="145165"/>
                  </a:cubicBezTo>
                  <a:cubicBezTo>
                    <a:pt x="3057903" y="235467"/>
                    <a:pt x="3226119" y="367269"/>
                    <a:pt x="3366366" y="536835"/>
                  </a:cubicBezTo>
                  <a:cubicBezTo>
                    <a:pt x="3652997" y="883519"/>
                    <a:pt x="3810827" y="1376199"/>
                    <a:pt x="3810827" y="1924156"/>
                  </a:cubicBezTo>
                  <a:cubicBezTo>
                    <a:pt x="3810827" y="2142775"/>
                    <a:pt x="3749739" y="2318234"/>
                    <a:pt x="3612844" y="2493111"/>
                  </a:cubicBezTo>
                  <a:cubicBezTo>
                    <a:pt x="3469652" y="2676041"/>
                    <a:pt x="3254495" y="2844528"/>
                    <a:pt x="3026664" y="3022891"/>
                  </a:cubicBezTo>
                  <a:cubicBezTo>
                    <a:pt x="2984630" y="3055759"/>
                    <a:pt x="2941206" y="3089789"/>
                    <a:pt x="2897783" y="3124233"/>
                  </a:cubicBezTo>
                  <a:cubicBezTo>
                    <a:pt x="2509094" y="3432490"/>
                    <a:pt x="2225408" y="3634591"/>
                    <a:pt x="1838765" y="3634591"/>
                  </a:cubicBezTo>
                  <a:cubicBezTo>
                    <a:pt x="1249640" y="3634591"/>
                    <a:pt x="832413" y="3386508"/>
                    <a:pt x="443724" y="2805020"/>
                  </a:cubicBezTo>
                  <a:cubicBezTo>
                    <a:pt x="392859" y="2728910"/>
                    <a:pt x="343138" y="2659690"/>
                    <a:pt x="295053" y="2592792"/>
                  </a:cubicBezTo>
                  <a:cubicBezTo>
                    <a:pt x="95761" y="2315411"/>
                    <a:pt x="0" y="2171160"/>
                    <a:pt x="0" y="1924156"/>
                  </a:cubicBezTo>
                  <a:cubicBezTo>
                    <a:pt x="0" y="1678896"/>
                    <a:pt x="60024" y="1436622"/>
                    <a:pt x="178275" y="1204061"/>
                  </a:cubicBezTo>
                  <a:cubicBezTo>
                    <a:pt x="293990" y="976561"/>
                    <a:pt x="459425" y="768319"/>
                    <a:pt x="669921" y="585306"/>
                  </a:cubicBezTo>
                  <a:cubicBezTo>
                    <a:pt x="876818" y="405365"/>
                    <a:pt x="1122558" y="256964"/>
                    <a:pt x="1380730" y="156203"/>
                  </a:cubicBezTo>
                  <a:cubicBezTo>
                    <a:pt x="1645852" y="52539"/>
                    <a:pt x="1915145" y="0"/>
                    <a:pt x="2180840" y="0"/>
                  </a:cubicBezTo>
                  <a:close/>
                </a:path>
              </a:pathLst>
            </a:custGeom>
            <a:solidFill>
              <a:srgbClr val="FFFFFF">
                <a:alpha val="6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Freeform: Shape 12">
              <a:extLst>
                <a:ext uri="{FF2B5EF4-FFF2-40B4-BE49-F238E27FC236}">
                  <a16:creationId xmlns:a16="http://schemas.microsoft.com/office/drawing/2014/main" id="{716D9361-A35A-4DC8-AAB9-04FD2D6FEE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7792" y="912854"/>
              <a:ext cx="5298208" cy="5032292"/>
            </a:xfrm>
            <a:custGeom>
              <a:avLst/>
              <a:gdLst>
                <a:gd name="connsiteX0" fmla="*/ 2180840 w 3810827"/>
                <a:gd name="connsiteY0" fmla="*/ 0 h 3634591"/>
                <a:gd name="connsiteX1" fmla="*/ 2866380 w 3810827"/>
                <a:gd name="connsiteY1" fmla="*/ 145165 h 3634591"/>
                <a:gd name="connsiteX2" fmla="*/ 3366366 w 3810827"/>
                <a:gd name="connsiteY2" fmla="*/ 536835 h 3634591"/>
                <a:gd name="connsiteX3" fmla="*/ 3810827 w 3810827"/>
                <a:gd name="connsiteY3" fmla="*/ 1924156 h 3634591"/>
                <a:gd name="connsiteX4" fmla="*/ 3612844 w 3810827"/>
                <a:gd name="connsiteY4" fmla="*/ 2493111 h 3634591"/>
                <a:gd name="connsiteX5" fmla="*/ 3026664 w 3810827"/>
                <a:gd name="connsiteY5" fmla="*/ 3022891 h 3634591"/>
                <a:gd name="connsiteX6" fmla="*/ 2897783 w 3810827"/>
                <a:gd name="connsiteY6" fmla="*/ 3124233 h 3634591"/>
                <a:gd name="connsiteX7" fmla="*/ 1838765 w 3810827"/>
                <a:gd name="connsiteY7" fmla="*/ 3634591 h 3634591"/>
                <a:gd name="connsiteX8" fmla="*/ 443724 w 3810827"/>
                <a:gd name="connsiteY8" fmla="*/ 2805020 h 3634591"/>
                <a:gd name="connsiteX9" fmla="*/ 295053 w 3810827"/>
                <a:gd name="connsiteY9" fmla="*/ 2592792 h 3634591"/>
                <a:gd name="connsiteX10" fmla="*/ 0 w 3810827"/>
                <a:gd name="connsiteY10" fmla="*/ 1924156 h 3634591"/>
                <a:gd name="connsiteX11" fmla="*/ 178275 w 3810827"/>
                <a:gd name="connsiteY11" fmla="*/ 1204061 h 3634591"/>
                <a:gd name="connsiteX12" fmla="*/ 669921 w 3810827"/>
                <a:gd name="connsiteY12" fmla="*/ 585306 h 3634591"/>
                <a:gd name="connsiteX13" fmla="*/ 1380730 w 3810827"/>
                <a:gd name="connsiteY13" fmla="*/ 156203 h 3634591"/>
                <a:gd name="connsiteX14" fmla="*/ 2180840 w 3810827"/>
                <a:gd name="connsiteY14" fmla="*/ 0 h 3634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810827" h="3634591">
                  <a:moveTo>
                    <a:pt x="2180840" y="0"/>
                  </a:moveTo>
                  <a:cubicBezTo>
                    <a:pt x="2431406" y="0"/>
                    <a:pt x="2662018" y="48886"/>
                    <a:pt x="2866380" y="145165"/>
                  </a:cubicBezTo>
                  <a:cubicBezTo>
                    <a:pt x="3057903" y="235467"/>
                    <a:pt x="3226119" y="367269"/>
                    <a:pt x="3366366" y="536835"/>
                  </a:cubicBezTo>
                  <a:cubicBezTo>
                    <a:pt x="3652997" y="883519"/>
                    <a:pt x="3810827" y="1376199"/>
                    <a:pt x="3810827" y="1924156"/>
                  </a:cubicBezTo>
                  <a:cubicBezTo>
                    <a:pt x="3810827" y="2142775"/>
                    <a:pt x="3749739" y="2318234"/>
                    <a:pt x="3612844" y="2493111"/>
                  </a:cubicBezTo>
                  <a:cubicBezTo>
                    <a:pt x="3469652" y="2676041"/>
                    <a:pt x="3254495" y="2844528"/>
                    <a:pt x="3026664" y="3022891"/>
                  </a:cubicBezTo>
                  <a:cubicBezTo>
                    <a:pt x="2984630" y="3055759"/>
                    <a:pt x="2941206" y="3089789"/>
                    <a:pt x="2897783" y="3124233"/>
                  </a:cubicBezTo>
                  <a:cubicBezTo>
                    <a:pt x="2509094" y="3432490"/>
                    <a:pt x="2225408" y="3634591"/>
                    <a:pt x="1838765" y="3634591"/>
                  </a:cubicBezTo>
                  <a:cubicBezTo>
                    <a:pt x="1249640" y="3634591"/>
                    <a:pt x="832413" y="3386508"/>
                    <a:pt x="443724" y="2805020"/>
                  </a:cubicBezTo>
                  <a:cubicBezTo>
                    <a:pt x="392859" y="2728910"/>
                    <a:pt x="343138" y="2659690"/>
                    <a:pt x="295053" y="2592792"/>
                  </a:cubicBezTo>
                  <a:cubicBezTo>
                    <a:pt x="95761" y="2315411"/>
                    <a:pt x="0" y="2171160"/>
                    <a:pt x="0" y="1924156"/>
                  </a:cubicBezTo>
                  <a:cubicBezTo>
                    <a:pt x="0" y="1678896"/>
                    <a:pt x="60024" y="1436622"/>
                    <a:pt x="178275" y="1204061"/>
                  </a:cubicBezTo>
                  <a:cubicBezTo>
                    <a:pt x="293990" y="976561"/>
                    <a:pt x="459425" y="768319"/>
                    <a:pt x="669921" y="585306"/>
                  </a:cubicBezTo>
                  <a:cubicBezTo>
                    <a:pt x="876818" y="405365"/>
                    <a:pt x="1122558" y="256964"/>
                    <a:pt x="1380730" y="156203"/>
                  </a:cubicBezTo>
                  <a:cubicBezTo>
                    <a:pt x="1645852" y="52539"/>
                    <a:pt x="1915145" y="0"/>
                    <a:pt x="2180840" y="0"/>
                  </a:cubicBezTo>
                  <a:close/>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Shape 13">
              <a:extLst>
                <a:ext uri="{FF2B5EF4-FFF2-40B4-BE49-F238E27FC236}">
                  <a16:creationId xmlns:a16="http://schemas.microsoft.com/office/drawing/2014/main" id="{87FC31AD-FBB3-4219-A758-D6F7594A0A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671" y="1232452"/>
              <a:ext cx="4715122" cy="4439901"/>
            </a:xfrm>
            <a:custGeom>
              <a:avLst/>
              <a:gdLst>
                <a:gd name="connsiteX0" fmla="*/ 2180840 w 3810827"/>
                <a:gd name="connsiteY0" fmla="*/ 0 h 3634591"/>
                <a:gd name="connsiteX1" fmla="*/ 2866380 w 3810827"/>
                <a:gd name="connsiteY1" fmla="*/ 145165 h 3634591"/>
                <a:gd name="connsiteX2" fmla="*/ 3366366 w 3810827"/>
                <a:gd name="connsiteY2" fmla="*/ 536835 h 3634591"/>
                <a:gd name="connsiteX3" fmla="*/ 3810827 w 3810827"/>
                <a:gd name="connsiteY3" fmla="*/ 1924156 h 3634591"/>
                <a:gd name="connsiteX4" fmla="*/ 3612844 w 3810827"/>
                <a:gd name="connsiteY4" fmla="*/ 2493111 h 3634591"/>
                <a:gd name="connsiteX5" fmla="*/ 3026664 w 3810827"/>
                <a:gd name="connsiteY5" fmla="*/ 3022891 h 3634591"/>
                <a:gd name="connsiteX6" fmla="*/ 2897783 w 3810827"/>
                <a:gd name="connsiteY6" fmla="*/ 3124233 h 3634591"/>
                <a:gd name="connsiteX7" fmla="*/ 1838765 w 3810827"/>
                <a:gd name="connsiteY7" fmla="*/ 3634591 h 3634591"/>
                <a:gd name="connsiteX8" fmla="*/ 443724 w 3810827"/>
                <a:gd name="connsiteY8" fmla="*/ 2805020 h 3634591"/>
                <a:gd name="connsiteX9" fmla="*/ 295053 w 3810827"/>
                <a:gd name="connsiteY9" fmla="*/ 2592792 h 3634591"/>
                <a:gd name="connsiteX10" fmla="*/ 0 w 3810827"/>
                <a:gd name="connsiteY10" fmla="*/ 1924156 h 3634591"/>
                <a:gd name="connsiteX11" fmla="*/ 178275 w 3810827"/>
                <a:gd name="connsiteY11" fmla="*/ 1204061 h 3634591"/>
                <a:gd name="connsiteX12" fmla="*/ 669921 w 3810827"/>
                <a:gd name="connsiteY12" fmla="*/ 585306 h 3634591"/>
                <a:gd name="connsiteX13" fmla="*/ 1380730 w 3810827"/>
                <a:gd name="connsiteY13" fmla="*/ 156203 h 3634591"/>
                <a:gd name="connsiteX14" fmla="*/ 2180840 w 3810827"/>
                <a:gd name="connsiteY14" fmla="*/ 0 h 3634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810827" h="3634591">
                  <a:moveTo>
                    <a:pt x="2180840" y="0"/>
                  </a:moveTo>
                  <a:cubicBezTo>
                    <a:pt x="2431406" y="0"/>
                    <a:pt x="2662018" y="48886"/>
                    <a:pt x="2866380" y="145165"/>
                  </a:cubicBezTo>
                  <a:cubicBezTo>
                    <a:pt x="3057903" y="235467"/>
                    <a:pt x="3226119" y="367269"/>
                    <a:pt x="3366366" y="536835"/>
                  </a:cubicBezTo>
                  <a:cubicBezTo>
                    <a:pt x="3652997" y="883519"/>
                    <a:pt x="3810827" y="1376199"/>
                    <a:pt x="3810827" y="1924156"/>
                  </a:cubicBezTo>
                  <a:cubicBezTo>
                    <a:pt x="3810827" y="2142775"/>
                    <a:pt x="3749739" y="2318234"/>
                    <a:pt x="3612844" y="2493111"/>
                  </a:cubicBezTo>
                  <a:cubicBezTo>
                    <a:pt x="3469652" y="2676041"/>
                    <a:pt x="3254495" y="2844528"/>
                    <a:pt x="3026664" y="3022891"/>
                  </a:cubicBezTo>
                  <a:cubicBezTo>
                    <a:pt x="2984630" y="3055759"/>
                    <a:pt x="2941206" y="3089789"/>
                    <a:pt x="2897783" y="3124233"/>
                  </a:cubicBezTo>
                  <a:cubicBezTo>
                    <a:pt x="2509094" y="3432490"/>
                    <a:pt x="2225408" y="3634591"/>
                    <a:pt x="1838765" y="3634591"/>
                  </a:cubicBezTo>
                  <a:cubicBezTo>
                    <a:pt x="1249640" y="3634591"/>
                    <a:pt x="832413" y="3386508"/>
                    <a:pt x="443724" y="2805020"/>
                  </a:cubicBezTo>
                  <a:cubicBezTo>
                    <a:pt x="392859" y="2728910"/>
                    <a:pt x="343138" y="2659690"/>
                    <a:pt x="295053" y="2592792"/>
                  </a:cubicBezTo>
                  <a:cubicBezTo>
                    <a:pt x="95761" y="2315411"/>
                    <a:pt x="0" y="2171160"/>
                    <a:pt x="0" y="1924156"/>
                  </a:cubicBezTo>
                  <a:cubicBezTo>
                    <a:pt x="0" y="1678896"/>
                    <a:pt x="60024" y="1436622"/>
                    <a:pt x="178275" y="1204061"/>
                  </a:cubicBezTo>
                  <a:cubicBezTo>
                    <a:pt x="293990" y="976561"/>
                    <a:pt x="459425" y="768319"/>
                    <a:pt x="669921" y="585306"/>
                  </a:cubicBezTo>
                  <a:cubicBezTo>
                    <a:pt x="876818" y="405365"/>
                    <a:pt x="1122558" y="256964"/>
                    <a:pt x="1380730" y="156203"/>
                  </a:cubicBezTo>
                  <a:cubicBezTo>
                    <a:pt x="1645852" y="52539"/>
                    <a:pt x="1915145" y="0"/>
                    <a:pt x="2180840" y="0"/>
                  </a:cubicBezTo>
                  <a:close/>
                </a:path>
              </a:pathLst>
            </a:cu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p:cNvSpPr>
            <a:spLocks noGrp="1"/>
          </p:cNvSpPr>
          <p:nvPr>
            <p:ph type="ctrTitle"/>
          </p:nvPr>
        </p:nvSpPr>
        <p:spPr>
          <a:xfrm>
            <a:off x="944992" y="2780185"/>
            <a:ext cx="5234388" cy="2099437"/>
          </a:xfrm>
        </p:spPr>
        <p:txBody>
          <a:bodyPr anchor="b">
            <a:normAutofit fontScale="90000"/>
          </a:bodyPr>
          <a:lstStyle/>
          <a:p>
            <a:pPr algn="ctr"/>
            <a:r>
              <a:rPr lang="en-US" dirty="0"/>
              <a:t> </a:t>
            </a:r>
            <a:r>
              <a:rPr lang="en-US" sz="3200" dirty="0"/>
              <a:t>Customer Churn Prediction using Data Analytics &amp; Machine Learning</a:t>
            </a:r>
          </a:p>
          <a:p>
            <a:pPr algn="ctr"/>
            <a:endParaRPr lang="en-US" sz="4800" dirty="0">
              <a:solidFill>
                <a:schemeClr val="tx1">
                  <a:lumMod val="75000"/>
                  <a:lumOff val="25000"/>
                </a:schemeClr>
              </a:solidFill>
              <a:ea typeface="Meiryo"/>
            </a:endParaRPr>
          </a:p>
        </p:txBody>
      </p:sp>
      <p:sp>
        <p:nvSpPr>
          <p:cNvPr id="3" name="Subtitle 2"/>
          <p:cNvSpPr>
            <a:spLocks noGrp="1"/>
          </p:cNvSpPr>
          <p:nvPr>
            <p:ph type="subTitle" idx="1"/>
          </p:nvPr>
        </p:nvSpPr>
        <p:spPr>
          <a:xfrm>
            <a:off x="1844040" y="4467450"/>
            <a:ext cx="3283888" cy="816301"/>
          </a:xfrm>
        </p:spPr>
        <p:txBody>
          <a:bodyPr anchor="t">
            <a:normAutofit fontScale="55000" lnSpcReduction="20000"/>
          </a:bodyPr>
          <a:lstStyle/>
          <a:p>
            <a:pPr algn="ctr"/>
            <a:r>
              <a:rPr lang="en-US" sz="2000" dirty="0">
                <a:solidFill>
                  <a:schemeClr val="tx1">
                    <a:lumMod val="75000"/>
                    <a:lumOff val="25000"/>
                  </a:schemeClr>
                </a:solidFill>
                <a:ea typeface="+mn-lt"/>
                <a:cs typeface="+mn-lt"/>
              </a:rPr>
              <a:t>Comprehensive EDA, Modeling, and Evaluation for Business Decision Support</a:t>
            </a:r>
            <a:endParaRPr lang="en-US" dirty="0">
              <a:solidFill>
                <a:schemeClr val="tx1">
                  <a:lumMod val="75000"/>
                  <a:lumOff val="25000"/>
                </a:schemeClr>
              </a:solidFill>
            </a:endParaRPr>
          </a:p>
        </p:txBody>
      </p:sp>
      <p:sp>
        <p:nvSpPr>
          <p:cNvPr id="5" name="TextBox 4">
            <a:extLst>
              <a:ext uri="{FF2B5EF4-FFF2-40B4-BE49-F238E27FC236}">
                <a16:creationId xmlns:a16="http://schemas.microsoft.com/office/drawing/2014/main" id="{7D7D71CB-25A3-B5AF-B139-0D17B9349CFE}"/>
              </a:ext>
            </a:extLst>
          </p:cNvPr>
          <p:cNvSpPr txBox="1"/>
          <p:nvPr/>
        </p:nvSpPr>
        <p:spPr>
          <a:xfrm>
            <a:off x="152400" y="6134100"/>
            <a:ext cx="38100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dirty="0">
                <a:solidFill>
                  <a:schemeClr val="tx1">
                    <a:lumMod val="65000"/>
                    <a:lumOff val="35000"/>
                  </a:schemeClr>
                </a:solidFill>
                <a:ea typeface="Meiryo"/>
              </a:rPr>
              <a:t>Name: Afra Kafil Ahmed</a:t>
            </a:r>
          </a:p>
          <a:p>
            <a:r>
              <a:rPr lang="en-US" sz="1200" dirty="0">
                <a:solidFill>
                  <a:schemeClr val="tx1">
                    <a:lumMod val="65000"/>
                    <a:lumOff val="35000"/>
                  </a:schemeClr>
                </a:solidFill>
                <a:ea typeface="Meiryo"/>
              </a:rPr>
              <a:t>Duration: 4 Hours </a:t>
            </a:r>
          </a:p>
          <a:p>
            <a:r>
              <a:rPr lang="en-US" sz="1200" dirty="0">
                <a:solidFill>
                  <a:schemeClr val="tx1">
                    <a:lumMod val="65000"/>
                    <a:lumOff val="35000"/>
                  </a:schemeClr>
                </a:solidFill>
                <a:ea typeface="Meiryo"/>
              </a:rPr>
              <a:t>Date: 25th October 2025</a:t>
            </a:r>
          </a:p>
        </p:txBody>
      </p:sp>
      <p:sp>
        <p:nvSpPr>
          <p:cNvPr id="7" name="TextBox 6">
            <a:extLst>
              <a:ext uri="{FF2B5EF4-FFF2-40B4-BE49-F238E27FC236}">
                <a16:creationId xmlns:a16="http://schemas.microsoft.com/office/drawing/2014/main" id="{AFA792F5-96AF-0DA0-0484-E7C1C82CC4C4}"/>
              </a:ext>
            </a:extLst>
          </p:cNvPr>
          <p:cNvSpPr txBox="1"/>
          <p:nvPr/>
        </p:nvSpPr>
        <p:spPr>
          <a:xfrm>
            <a:off x="1695450" y="4165599"/>
            <a:ext cx="3714750"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dirty="0">
                <a:ea typeface="+mn-lt"/>
                <a:cs typeface="+mn-lt"/>
              </a:rPr>
              <a:t>Data Analytics &amp; Reporting – Module 3</a:t>
            </a:r>
            <a:endParaRPr lang="en-US" sz="1400">
              <a:ea typeface="Meiryo"/>
            </a:endParaRP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C14302F-E955-47D0-A56B-D1D1A6953B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73" y="-9274"/>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10" name="Freeform: Shape 9">
            <a:extLst>
              <a:ext uri="{FF2B5EF4-FFF2-40B4-BE49-F238E27FC236}">
                <a16:creationId xmlns:a16="http://schemas.microsoft.com/office/drawing/2014/main" id="{93A31341-2394-42A2-9851-FD91086DB7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930584" y="1948070"/>
            <a:ext cx="5261264" cy="4909930"/>
          </a:xfrm>
          <a:custGeom>
            <a:avLst/>
            <a:gdLst>
              <a:gd name="connsiteX0" fmla="*/ 2739575 w 5261264"/>
              <a:gd name="connsiteY0" fmla="*/ 1369 h 4909930"/>
              <a:gd name="connsiteX1" fmla="*/ 3931992 w 5261264"/>
              <a:gd name="connsiteY1" fmla="*/ 357115 h 4909930"/>
              <a:gd name="connsiteX2" fmla="*/ 5228644 w 5261264"/>
              <a:gd name="connsiteY2" fmla="*/ 1704869 h 4909930"/>
              <a:gd name="connsiteX3" fmla="*/ 5261264 w 5261264"/>
              <a:gd name="connsiteY3" fmla="*/ 1769901 h 4909930"/>
              <a:gd name="connsiteX4" fmla="*/ 5261264 w 5261264"/>
              <a:gd name="connsiteY4" fmla="*/ 4640262 h 4909930"/>
              <a:gd name="connsiteX5" fmla="*/ 5239287 w 5261264"/>
              <a:gd name="connsiteY5" fmla="*/ 4674079 h 4909930"/>
              <a:gd name="connsiteX6" fmla="*/ 5039558 w 5261264"/>
              <a:gd name="connsiteY6" fmla="*/ 4893028 h 4909930"/>
              <a:gd name="connsiteX7" fmla="*/ 5018342 w 5261264"/>
              <a:gd name="connsiteY7" fmla="*/ 4909930 h 4909930"/>
              <a:gd name="connsiteX8" fmla="*/ 962510 w 5261264"/>
              <a:gd name="connsiteY8" fmla="*/ 4909930 h 4909930"/>
              <a:gd name="connsiteX9" fmla="*/ 821338 w 5261264"/>
              <a:gd name="connsiteY9" fmla="*/ 4707517 h 4909930"/>
              <a:gd name="connsiteX10" fmla="*/ 448558 w 5261264"/>
              <a:gd name="connsiteY10" fmla="*/ 3922606 h 4909930"/>
              <a:gd name="connsiteX11" fmla="*/ 221727 w 5261264"/>
              <a:gd name="connsiteY11" fmla="*/ 1588926 h 4909930"/>
              <a:gd name="connsiteX12" fmla="*/ 2739575 w 5261264"/>
              <a:gd name="connsiteY12" fmla="*/ 1369 h 49099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261264" h="4909930">
                <a:moveTo>
                  <a:pt x="2739575" y="1369"/>
                </a:moveTo>
                <a:cubicBezTo>
                  <a:pt x="3132207" y="14841"/>
                  <a:pt x="3535383" y="128133"/>
                  <a:pt x="3931992" y="357115"/>
                </a:cubicBezTo>
                <a:cubicBezTo>
                  <a:pt x="4474996" y="670619"/>
                  <a:pt x="4925124" y="1151857"/>
                  <a:pt x="5228644" y="1704869"/>
                </a:cubicBezTo>
                <a:lnTo>
                  <a:pt x="5261264" y="1769901"/>
                </a:lnTo>
                <a:lnTo>
                  <a:pt x="5261264" y="4640262"/>
                </a:lnTo>
                <a:lnTo>
                  <a:pt x="5239287" y="4674079"/>
                </a:lnTo>
                <a:cubicBezTo>
                  <a:pt x="5177453" y="4758643"/>
                  <a:pt x="5110673" y="4830413"/>
                  <a:pt x="5039558" y="4893028"/>
                </a:cubicBezTo>
                <a:lnTo>
                  <a:pt x="5018342" y="4909930"/>
                </a:lnTo>
                <a:lnTo>
                  <a:pt x="962510" y="4909930"/>
                </a:lnTo>
                <a:lnTo>
                  <a:pt x="821338" y="4707517"/>
                </a:lnTo>
                <a:cubicBezTo>
                  <a:pt x="672683" y="4465717"/>
                  <a:pt x="560617" y="4198197"/>
                  <a:pt x="448558" y="3922606"/>
                </a:cubicBezTo>
                <a:cubicBezTo>
                  <a:pt x="120358" y="3115488"/>
                  <a:pt x="-245146" y="2397572"/>
                  <a:pt x="221727" y="1588926"/>
                </a:cubicBezTo>
                <a:cubicBezTo>
                  <a:pt x="801679" y="584418"/>
                  <a:pt x="1736188" y="-33060"/>
                  <a:pt x="2739575" y="1369"/>
                </a:cubicBez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12" name="Freeform: Shape 11">
            <a:extLst>
              <a:ext uri="{FF2B5EF4-FFF2-40B4-BE49-F238E27FC236}">
                <a16:creationId xmlns:a16="http://schemas.microsoft.com/office/drawing/2014/main" id="{B5DAFF15-09E3-425C-9BF0-14CF18E028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25856" y="1391478"/>
            <a:ext cx="5665992" cy="5466522"/>
          </a:xfrm>
          <a:custGeom>
            <a:avLst/>
            <a:gdLst>
              <a:gd name="connsiteX0" fmla="*/ 3113576 w 5665992"/>
              <a:gd name="connsiteY0" fmla="*/ 1556 h 5401530"/>
              <a:gd name="connsiteX1" fmla="*/ 4468777 w 5665992"/>
              <a:gd name="connsiteY1" fmla="*/ 405866 h 5401530"/>
              <a:gd name="connsiteX2" fmla="*/ 5525792 w 5665992"/>
              <a:gd name="connsiteY2" fmla="*/ 1317461 h 5401530"/>
              <a:gd name="connsiteX3" fmla="*/ 5665992 w 5665992"/>
              <a:gd name="connsiteY3" fmla="*/ 1506159 h 5401530"/>
              <a:gd name="connsiteX4" fmla="*/ 5665992 w 5665992"/>
              <a:gd name="connsiteY4" fmla="*/ 5401530 h 5401530"/>
              <a:gd name="connsiteX5" fmla="*/ 965932 w 5665992"/>
              <a:gd name="connsiteY5" fmla="*/ 5401530 h 5401530"/>
              <a:gd name="connsiteX6" fmla="*/ 836753 w 5665992"/>
              <a:gd name="connsiteY6" fmla="*/ 5181943 h 5401530"/>
              <a:gd name="connsiteX7" fmla="*/ 509793 w 5665992"/>
              <a:gd name="connsiteY7" fmla="*/ 4458111 h 5401530"/>
              <a:gd name="connsiteX8" fmla="*/ 251995 w 5665992"/>
              <a:gd name="connsiteY8" fmla="*/ 1805844 h 5401530"/>
              <a:gd name="connsiteX9" fmla="*/ 3113576 w 5665992"/>
              <a:gd name="connsiteY9" fmla="*/ 1556 h 5401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665992" h="5401530">
                <a:moveTo>
                  <a:pt x="3113576" y="1556"/>
                </a:moveTo>
                <a:cubicBezTo>
                  <a:pt x="3559807" y="16866"/>
                  <a:pt x="4018025" y="145625"/>
                  <a:pt x="4468777" y="405866"/>
                </a:cubicBezTo>
                <a:cubicBezTo>
                  <a:pt x="4871803" y="638554"/>
                  <a:pt x="5229811" y="952545"/>
                  <a:pt x="5525792" y="1317461"/>
                </a:cubicBezTo>
                <a:lnTo>
                  <a:pt x="5665992" y="1506159"/>
                </a:lnTo>
                <a:lnTo>
                  <a:pt x="5665992" y="5401530"/>
                </a:lnTo>
                <a:lnTo>
                  <a:pt x="965932" y="5401530"/>
                </a:lnTo>
                <a:lnTo>
                  <a:pt x="836753" y="5181943"/>
                </a:lnTo>
                <a:cubicBezTo>
                  <a:pt x="713569" y="4953383"/>
                  <a:pt x="611679" y="4708683"/>
                  <a:pt x="509793" y="4458111"/>
                </a:cubicBezTo>
                <a:cubicBezTo>
                  <a:pt x="136790" y="3540808"/>
                  <a:pt x="-278612" y="2724882"/>
                  <a:pt x="251995" y="1805844"/>
                </a:cubicBezTo>
                <a:cubicBezTo>
                  <a:pt x="911122" y="664202"/>
                  <a:pt x="1973207" y="-37572"/>
                  <a:pt x="3113576" y="1556"/>
                </a:cubicBezTo>
                <a:close/>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14" name="Freeform: Shape 13">
            <a:extLst>
              <a:ext uri="{FF2B5EF4-FFF2-40B4-BE49-F238E27FC236}">
                <a16:creationId xmlns:a16="http://schemas.microsoft.com/office/drawing/2014/main" id="{AED93AAC-6E3F-4BC8-A315-45F6F5D022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43449" y="1550504"/>
            <a:ext cx="5448246" cy="5307496"/>
          </a:xfrm>
          <a:custGeom>
            <a:avLst/>
            <a:gdLst>
              <a:gd name="connsiteX0" fmla="*/ 2885375 w 5448246"/>
              <a:gd name="connsiteY0" fmla="*/ 1442 h 5156012"/>
              <a:gd name="connsiteX1" fmla="*/ 4141251 w 5448246"/>
              <a:gd name="connsiteY1" fmla="*/ 376120 h 5156012"/>
              <a:gd name="connsiteX2" fmla="*/ 5315487 w 5448246"/>
              <a:gd name="connsiteY2" fmla="*/ 1482940 h 5156012"/>
              <a:gd name="connsiteX3" fmla="*/ 5448246 w 5448246"/>
              <a:gd name="connsiteY3" fmla="*/ 1697243 h 5156012"/>
              <a:gd name="connsiteX4" fmla="*/ 5448246 w 5448246"/>
              <a:gd name="connsiteY4" fmla="*/ 5009611 h 5156012"/>
              <a:gd name="connsiteX5" fmla="*/ 5416607 w 5448246"/>
              <a:gd name="connsiteY5" fmla="*/ 5046802 h 5156012"/>
              <a:gd name="connsiteX6" fmla="*/ 5344828 w 5448246"/>
              <a:gd name="connsiteY6" fmla="*/ 5119639 h 5156012"/>
              <a:gd name="connsiteX7" fmla="*/ 5300719 w 5448246"/>
              <a:gd name="connsiteY7" fmla="*/ 5156012 h 5156012"/>
              <a:gd name="connsiteX8" fmla="*/ 1002287 w 5448246"/>
              <a:gd name="connsiteY8" fmla="*/ 5156012 h 5156012"/>
              <a:gd name="connsiteX9" fmla="*/ 896888 w 5448246"/>
              <a:gd name="connsiteY9" fmla="*/ 5008616 h 5156012"/>
              <a:gd name="connsiteX10" fmla="*/ 472429 w 5448246"/>
              <a:gd name="connsiteY10" fmla="*/ 4131367 h 5156012"/>
              <a:gd name="connsiteX11" fmla="*/ 233526 w 5448246"/>
              <a:gd name="connsiteY11" fmla="*/ 1673489 h 5156012"/>
              <a:gd name="connsiteX12" fmla="*/ 2885375 w 5448246"/>
              <a:gd name="connsiteY12" fmla="*/ 1442 h 5156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448246" h="5156012">
                <a:moveTo>
                  <a:pt x="2885375" y="1442"/>
                </a:moveTo>
                <a:cubicBezTo>
                  <a:pt x="3298901" y="15631"/>
                  <a:pt x="3723535" y="134952"/>
                  <a:pt x="4141251" y="376120"/>
                </a:cubicBezTo>
                <a:cubicBezTo>
                  <a:pt x="4608110" y="645661"/>
                  <a:pt x="5009784" y="1032928"/>
                  <a:pt x="5315487" y="1482940"/>
                </a:cubicBezTo>
                <a:lnTo>
                  <a:pt x="5448246" y="1697243"/>
                </a:lnTo>
                <a:lnTo>
                  <a:pt x="5448246" y="5009611"/>
                </a:lnTo>
                <a:lnTo>
                  <a:pt x="5416607" y="5046802"/>
                </a:lnTo>
                <a:cubicBezTo>
                  <a:pt x="5393215" y="5072317"/>
                  <a:pt x="5369282" y="5096549"/>
                  <a:pt x="5344828" y="5119639"/>
                </a:cubicBezTo>
                <a:lnTo>
                  <a:pt x="5300719" y="5156012"/>
                </a:lnTo>
                <a:lnTo>
                  <a:pt x="1002287" y="5156012"/>
                </a:lnTo>
                <a:lnTo>
                  <a:pt x="896888" y="5008616"/>
                </a:lnTo>
                <a:cubicBezTo>
                  <a:pt x="724221" y="4740911"/>
                  <a:pt x="598320" y="4440975"/>
                  <a:pt x="472429" y="4131367"/>
                </a:cubicBezTo>
                <a:cubicBezTo>
                  <a:pt x="126764" y="3281294"/>
                  <a:pt x="-258192" y="2525170"/>
                  <a:pt x="233526" y="1673489"/>
                </a:cubicBezTo>
                <a:cubicBezTo>
                  <a:pt x="844344" y="615522"/>
                  <a:pt x="1828586" y="-34819"/>
                  <a:pt x="2885375" y="1442"/>
                </a:cubicBezTo>
                <a:close/>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16" name="Freeform: Shape 15">
            <a:extLst>
              <a:ext uri="{FF2B5EF4-FFF2-40B4-BE49-F238E27FC236}">
                <a16:creationId xmlns:a16="http://schemas.microsoft.com/office/drawing/2014/main" id="{B8B4EFDF-A3FE-43DE-AE29-DFA4651C6F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60959" y="2256518"/>
            <a:ext cx="4930889" cy="4601483"/>
          </a:xfrm>
          <a:custGeom>
            <a:avLst/>
            <a:gdLst>
              <a:gd name="connsiteX0" fmla="*/ 2486925 w 4930889"/>
              <a:gd name="connsiteY0" fmla="*/ 1243 h 4601483"/>
              <a:gd name="connsiteX1" fmla="*/ 3569374 w 4930889"/>
              <a:gd name="connsiteY1" fmla="*/ 324181 h 4601483"/>
              <a:gd name="connsiteX2" fmla="*/ 4856238 w 4930889"/>
              <a:gd name="connsiteY2" fmla="*/ 1766524 h 4601483"/>
              <a:gd name="connsiteX3" fmla="*/ 4930889 w 4930889"/>
              <a:gd name="connsiteY3" fmla="*/ 1950930 h 4601483"/>
              <a:gd name="connsiteX4" fmla="*/ 4930888 w 4930889"/>
              <a:gd name="connsiteY4" fmla="*/ 3928933 h 4601483"/>
              <a:gd name="connsiteX5" fmla="*/ 4836868 w 4930889"/>
              <a:gd name="connsiteY5" fmla="*/ 4118750 h 4601483"/>
              <a:gd name="connsiteX6" fmla="*/ 4475082 w 4930889"/>
              <a:gd name="connsiteY6" fmla="*/ 4521220 h 4601483"/>
              <a:gd name="connsiteX7" fmla="*/ 4350095 w 4930889"/>
              <a:gd name="connsiteY7" fmla="*/ 4601483 h 4601483"/>
              <a:gd name="connsiteX8" fmla="*/ 997316 w 4930889"/>
              <a:gd name="connsiteY8" fmla="*/ 4601483 h 4601483"/>
              <a:gd name="connsiteX9" fmla="*/ 892840 w 4930889"/>
              <a:gd name="connsiteY9" fmla="*/ 4484501 h 4601483"/>
              <a:gd name="connsiteX10" fmla="*/ 407191 w 4930889"/>
              <a:gd name="connsiteY10" fmla="*/ 3560852 h 4601483"/>
              <a:gd name="connsiteX11" fmla="*/ 201279 w 4930889"/>
              <a:gd name="connsiteY11" fmla="*/ 1442391 h 4601483"/>
              <a:gd name="connsiteX12" fmla="*/ 2486925 w 4930889"/>
              <a:gd name="connsiteY12" fmla="*/ 1243 h 4601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930889" h="4601483">
                <a:moveTo>
                  <a:pt x="2486925" y="1243"/>
                </a:moveTo>
                <a:cubicBezTo>
                  <a:pt x="2843347" y="13472"/>
                  <a:pt x="3209341" y="116316"/>
                  <a:pt x="3569374" y="324181"/>
                </a:cubicBezTo>
                <a:cubicBezTo>
                  <a:pt x="4132718" y="649428"/>
                  <a:pt x="4585943" y="1173553"/>
                  <a:pt x="4856238" y="1766524"/>
                </a:cubicBezTo>
                <a:lnTo>
                  <a:pt x="4930889" y="1950930"/>
                </a:lnTo>
                <a:lnTo>
                  <a:pt x="4930888" y="3928933"/>
                </a:lnTo>
                <a:lnTo>
                  <a:pt x="4836868" y="4118750"/>
                </a:lnTo>
                <a:cubicBezTo>
                  <a:pt x="4733861" y="4297163"/>
                  <a:pt x="4611785" y="4422507"/>
                  <a:pt x="4475082" y="4521220"/>
                </a:cubicBezTo>
                <a:lnTo>
                  <a:pt x="4350095" y="4601483"/>
                </a:lnTo>
                <a:lnTo>
                  <a:pt x="997316" y="4601483"/>
                </a:lnTo>
                <a:lnTo>
                  <a:pt x="892840" y="4484501"/>
                </a:lnTo>
                <a:cubicBezTo>
                  <a:pt x="678469" y="4214961"/>
                  <a:pt x="542824" y="3894419"/>
                  <a:pt x="407191" y="3560852"/>
                </a:cubicBezTo>
                <a:cubicBezTo>
                  <a:pt x="109259" y="2828169"/>
                  <a:pt x="-222537" y="2176461"/>
                  <a:pt x="201279" y="1442391"/>
                </a:cubicBezTo>
                <a:cubicBezTo>
                  <a:pt x="727747" y="530521"/>
                  <a:pt x="1576073" y="-30011"/>
                  <a:pt x="2486925" y="1243"/>
                </a:cubicBezTo>
                <a:close/>
              </a:path>
            </a:pathLst>
          </a:custGeom>
          <a:noFill/>
          <a:ln w="15875">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18" name="Freeform: Shape 17">
            <a:extLst>
              <a:ext uri="{FF2B5EF4-FFF2-40B4-BE49-F238E27FC236}">
                <a16:creationId xmlns:a16="http://schemas.microsoft.com/office/drawing/2014/main" id="{4D0456D8-C76D-4886-A52C-55C1147C01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88038" y="-9274"/>
            <a:ext cx="4164597" cy="2593830"/>
          </a:xfrm>
          <a:custGeom>
            <a:avLst/>
            <a:gdLst>
              <a:gd name="connsiteX0" fmla="*/ 133289 w 4164597"/>
              <a:gd name="connsiteY0" fmla="*/ 0 h 2593830"/>
              <a:gd name="connsiteX1" fmla="*/ 4092252 w 4164597"/>
              <a:gd name="connsiteY1" fmla="*/ 0 h 2593830"/>
              <a:gd name="connsiteX2" fmla="*/ 4093505 w 4164597"/>
              <a:gd name="connsiteY2" fmla="*/ 4697 h 2593830"/>
              <a:gd name="connsiteX3" fmla="*/ 4164597 w 4164597"/>
              <a:gd name="connsiteY3" fmla="*/ 667356 h 2593830"/>
              <a:gd name="connsiteX4" fmla="*/ 3948235 w 4164597"/>
              <a:gd name="connsiteY4" fmla="*/ 1308175 h 2593830"/>
              <a:gd name="connsiteX5" fmla="*/ 3307638 w 4164597"/>
              <a:gd name="connsiteY5" fmla="*/ 1904868 h 2593830"/>
              <a:gd name="connsiteX6" fmla="*/ 3166793 w 4164597"/>
              <a:gd name="connsiteY6" fmla="*/ 2019010 h 2593830"/>
              <a:gd name="connsiteX7" fmla="*/ 2009464 w 4164597"/>
              <a:gd name="connsiteY7" fmla="*/ 2593830 h 2593830"/>
              <a:gd name="connsiteX8" fmla="*/ 484916 w 4164597"/>
              <a:gd name="connsiteY8" fmla="*/ 1659479 h 2593830"/>
              <a:gd name="connsiteX9" fmla="*/ 322444 w 4164597"/>
              <a:gd name="connsiteY9" fmla="*/ 1420446 h 2593830"/>
              <a:gd name="connsiteX10" fmla="*/ 0 w 4164597"/>
              <a:gd name="connsiteY10" fmla="*/ 667356 h 2593830"/>
              <a:gd name="connsiteX11" fmla="*/ 109866 w 4164597"/>
              <a:gd name="connsiteY11" fmla="*/ 54693 h 2593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64597" h="2593830">
                <a:moveTo>
                  <a:pt x="133289" y="0"/>
                </a:moveTo>
                <a:lnTo>
                  <a:pt x="4092252" y="0"/>
                </a:lnTo>
                <a:lnTo>
                  <a:pt x="4093505" y="4697"/>
                </a:lnTo>
                <a:cubicBezTo>
                  <a:pt x="4140342" y="213236"/>
                  <a:pt x="4164597" y="435919"/>
                  <a:pt x="4164597" y="667356"/>
                </a:cubicBezTo>
                <a:cubicBezTo>
                  <a:pt x="4164597" y="913589"/>
                  <a:pt x="4097838" y="1111209"/>
                  <a:pt x="3948235" y="1308175"/>
                </a:cubicBezTo>
                <a:cubicBezTo>
                  <a:pt x="3791750" y="1514209"/>
                  <a:pt x="3556619" y="1703978"/>
                  <a:pt x="3307638" y="1904868"/>
                </a:cubicBezTo>
                <a:cubicBezTo>
                  <a:pt x="3261702" y="1941888"/>
                  <a:pt x="3214247" y="1980217"/>
                  <a:pt x="3166793" y="2019010"/>
                </a:cubicBezTo>
                <a:cubicBezTo>
                  <a:pt x="2742021" y="2366203"/>
                  <a:pt x="2431999" y="2593830"/>
                  <a:pt x="2009464" y="2593830"/>
                </a:cubicBezTo>
                <a:cubicBezTo>
                  <a:pt x="1365648" y="2593830"/>
                  <a:pt x="909688" y="2314413"/>
                  <a:pt x="484916" y="1659479"/>
                </a:cubicBezTo>
                <a:cubicBezTo>
                  <a:pt x="429330" y="1573757"/>
                  <a:pt x="374993" y="1495793"/>
                  <a:pt x="322444" y="1420446"/>
                </a:cubicBezTo>
                <a:cubicBezTo>
                  <a:pt x="104652" y="1108029"/>
                  <a:pt x="0" y="945558"/>
                  <a:pt x="0" y="667356"/>
                </a:cubicBezTo>
                <a:cubicBezTo>
                  <a:pt x="0" y="460178"/>
                  <a:pt x="36898" y="254891"/>
                  <a:pt x="109866" y="54693"/>
                </a:cubicBezTo>
                <a:close/>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20" name="Freeform: Shape 19">
            <a:extLst>
              <a:ext uri="{FF2B5EF4-FFF2-40B4-BE49-F238E27FC236}">
                <a16:creationId xmlns:a16="http://schemas.microsoft.com/office/drawing/2014/main" id="{A0EA67A7-DA94-4187-BFA1-E61BD10A70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76185" y="0"/>
            <a:ext cx="4013331" cy="2509504"/>
          </a:xfrm>
          <a:custGeom>
            <a:avLst/>
            <a:gdLst>
              <a:gd name="connsiteX0" fmla="*/ 165872 w 4013331"/>
              <a:gd name="connsiteY0" fmla="*/ 0 h 2509504"/>
              <a:gd name="connsiteX1" fmla="*/ 3920309 w 4013331"/>
              <a:gd name="connsiteY1" fmla="*/ 0 h 2509504"/>
              <a:gd name="connsiteX2" fmla="*/ 3944821 w 4013331"/>
              <a:gd name="connsiteY2" fmla="*/ 89161 h 2509504"/>
              <a:gd name="connsiteX3" fmla="*/ 4013331 w 4013331"/>
              <a:gd name="connsiteY3" fmla="*/ 708622 h 2509504"/>
              <a:gd name="connsiteX4" fmla="*/ 3804827 w 4013331"/>
              <a:gd name="connsiteY4" fmla="*/ 1307663 h 2509504"/>
              <a:gd name="connsiteX5" fmla="*/ 3187498 w 4013331"/>
              <a:gd name="connsiteY5" fmla="*/ 1865458 h 2509504"/>
              <a:gd name="connsiteX6" fmla="*/ 3051769 w 4013331"/>
              <a:gd name="connsiteY6" fmla="*/ 1972158 h 2509504"/>
              <a:gd name="connsiteX7" fmla="*/ 1936476 w 4013331"/>
              <a:gd name="connsiteY7" fmla="*/ 2509504 h 2509504"/>
              <a:gd name="connsiteX8" fmla="*/ 467303 w 4013331"/>
              <a:gd name="connsiteY8" fmla="*/ 1636066 h 2509504"/>
              <a:gd name="connsiteX9" fmla="*/ 310732 w 4013331"/>
              <a:gd name="connsiteY9" fmla="*/ 1412615 h 2509504"/>
              <a:gd name="connsiteX10" fmla="*/ 0 w 4013331"/>
              <a:gd name="connsiteY10" fmla="*/ 708622 h 2509504"/>
              <a:gd name="connsiteX11" fmla="*/ 105875 w 4013331"/>
              <a:gd name="connsiteY11" fmla="*/ 135898 h 25095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013331" h="2509504">
                <a:moveTo>
                  <a:pt x="165872" y="0"/>
                </a:moveTo>
                <a:lnTo>
                  <a:pt x="3920309" y="0"/>
                </a:lnTo>
                <a:lnTo>
                  <a:pt x="3944821" y="89161"/>
                </a:lnTo>
                <a:cubicBezTo>
                  <a:pt x="3989957" y="284106"/>
                  <a:pt x="4013331" y="492271"/>
                  <a:pt x="4013331" y="708622"/>
                </a:cubicBezTo>
                <a:cubicBezTo>
                  <a:pt x="4013331" y="938801"/>
                  <a:pt x="3948997" y="1123538"/>
                  <a:pt x="3804827" y="1307663"/>
                </a:cubicBezTo>
                <a:cubicBezTo>
                  <a:pt x="3654026" y="1500266"/>
                  <a:pt x="3427436" y="1677663"/>
                  <a:pt x="3187498" y="1865458"/>
                </a:cubicBezTo>
                <a:cubicBezTo>
                  <a:pt x="3143231" y="1900064"/>
                  <a:pt x="3097499" y="1935893"/>
                  <a:pt x="3051769" y="1972158"/>
                </a:cubicBezTo>
                <a:cubicBezTo>
                  <a:pt x="2642425" y="2296716"/>
                  <a:pt x="2343664" y="2509504"/>
                  <a:pt x="1936476" y="2509504"/>
                </a:cubicBezTo>
                <a:cubicBezTo>
                  <a:pt x="1316045" y="2509504"/>
                  <a:pt x="876648" y="2248303"/>
                  <a:pt x="467303" y="1636066"/>
                </a:cubicBezTo>
                <a:cubicBezTo>
                  <a:pt x="413736" y="1555930"/>
                  <a:pt x="361372" y="1483050"/>
                  <a:pt x="310732" y="1412615"/>
                </a:cubicBezTo>
                <a:cubicBezTo>
                  <a:pt x="100850" y="1120566"/>
                  <a:pt x="0" y="968686"/>
                  <a:pt x="0" y="708622"/>
                </a:cubicBezTo>
                <a:cubicBezTo>
                  <a:pt x="0" y="514950"/>
                  <a:pt x="35558" y="323046"/>
                  <a:pt x="105875" y="135898"/>
                </a:cubicBez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2" name="Freeform: Shape 21">
            <a:extLst>
              <a:ext uri="{FF2B5EF4-FFF2-40B4-BE49-F238E27FC236}">
                <a16:creationId xmlns:a16="http://schemas.microsoft.com/office/drawing/2014/main" id="{3DF98296-ED44-4D38-9E49-5470B308AD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80125" y="0"/>
            <a:ext cx="4389519" cy="2684308"/>
          </a:xfrm>
          <a:custGeom>
            <a:avLst/>
            <a:gdLst>
              <a:gd name="connsiteX0" fmla="*/ 106190 w 4389519"/>
              <a:gd name="connsiteY0" fmla="*/ 0 h 2684308"/>
              <a:gd name="connsiteX1" fmla="*/ 4339652 w 4389519"/>
              <a:gd name="connsiteY1" fmla="*/ 0 h 2684308"/>
              <a:gd name="connsiteX2" fmla="*/ 4368235 w 4389519"/>
              <a:gd name="connsiteY2" fmla="*/ 183124 h 2684308"/>
              <a:gd name="connsiteX3" fmla="*/ 4376420 w 4389519"/>
              <a:gd name="connsiteY3" fmla="*/ 846236 h 2684308"/>
              <a:gd name="connsiteX4" fmla="*/ 4090147 w 4389519"/>
              <a:gd name="connsiteY4" fmla="*/ 1502099 h 2684308"/>
              <a:gd name="connsiteX5" fmla="*/ 3362552 w 4389519"/>
              <a:gd name="connsiteY5" fmla="*/ 2072468 h 2684308"/>
              <a:gd name="connsiteX6" fmla="*/ 3204152 w 4389519"/>
              <a:gd name="connsiteY6" fmla="*/ 2179892 h 2684308"/>
              <a:gd name="connsiteX7" fmla="*/ 1936072 w 4389519"/>
              <a:gd name="connsiteY7" fmla="*/ 2679731 h 2684308"/>
              <a:gd name="connsiteX8" fmla="*/ 421690 w 4389519"/>
              <a:gd name="connsiteY8" fmla="*/ 1554434 h 2684308"/>
              <a:gd name="connsiteX9" fmla="*/ 273167 w 4389519"/>
              <a:gd name="connsiteY9" fmla="*/ 1287451 h 2684308"/>
              <a:gd name="connsiteX10" fmla="*/ 4118 w 4389519"/>
              <a:gd name="connsiteY10" fmla="*/ 463709 h 2684308"/>
              <a:gd name="connsiteX11" fmla="*/ 61565 w 4389519"/>
              <a:gd name="connsiteY11" fmla="*/ 140457 h 26843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89519" h="2684308">
                <a:moveTo>
                  <a:pt x="106190" y="0"/>
                </a:moveTo>
                <a:lnTo>
                  <a:pt x="4339652" y="0"/>
                </a:lnTo>
                <a:lnTo>
                  <a:pt x="4368235" y="183124"/>
                </a:lnTo>
                <a:cubicBezTo>
                  <a:pt x="4393363" y="394800"/>
                  <a:pt x="4396437" y="617440"/>
                  <a:pt x="4376420" y="846236"/>
                </a:cubicBezTo>
                <a:cubicBezTo>
                  <a:pt x="4353703" y="1105885"/>
                  <a:pt x="4265383" y="1308143"/>
                  <a:pt x="4090147" y="1502099"/>
                </a:cubicBezTo>
                <a:cubicBezTo>
                  <a:pt x="3906850" y="1704987"/>
                  <a:pt x="3642485" y="1883499"/>
                  <a:pt x="3362552" y="2072468"/>
                </a:cubicBezTo>
                <a:cubicBezTo>
                  <a:pt x="3310910" y="2107285"/>
                  <a:pt x="3257553" y="2143343"/>
                  <a:pt x="3204152" y="2179892"/>
                </a:cubicBezTo>
                <a:cubicBezTo>
                  <a:pt x="2726165" y="2506987"/>
                  <a:pt x="2379682" y="2718542"/>
                  <a:pt x="1936072" y="2679731"/>
                </a:cubicBezTo>
                <a:cubicBezTo>
                  <a:pt x="1260149" y="2620595"/>
                  <a:pt x="807225" y="2284071"/>
                  <a:pt x="421690" y="1554434"/>
                </a:cubicBezTo>
                <a:cubicBezTo>
                  <a:pt x="371240" y="1458934"/>
                  <a:pt x="321385" y="1371732"/>
                  <a:pt x="273167" y="1287451"/>
                </a:cubicBezTo>
                <a:cubicBezTo>
                  <a:pt x="73334" y="938007"/>
                  <a:pt x="-21548" y="757071"/>
                  <a:pt x="4118" y="463709"/>
                </a:cubicBezTo>
                <a:cubicBezTo>
                  <a:pt x="13675" y="354475"/>
                  <a:pt x="32873" y="246587"/>
                  <a:pt x="61565" y="140457"/>
                </a:cubicBezTo>
                <a:close/>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2" name="Title 1">
            <a:extLst>
              <a:ext uri="{FF2B5EF4-FFF2-40B4-BE49-F238E27FC236}">
                <a16:creationId xmlns:a16="http://schemas.microsoft.com/office/drawing/2014/main" id="{5EAF0285-D4CD-604C-C269-A9ADE863E3EA}"/>
              </a:ext>
            </a:extLst>
          </p:cNvPr>
          <p:cNvSpPr>
            <a:spLocks noGrp="1"/>
          </p:cNvSpPr>
          <p:nvPr>
            <p:ph type="title"/>
          </p:nvPr>
        </p:nvSpPr>
        <p:spPr>
          <a:xfrm>
            <a:off x="39831" y="42693"/>
            <a:ext cx="4836091" cy="2660075"/>
          </a:xfrm>
        </p:spPr>
        <p:txBody>
          <a:bodyPr anchor="b">
            <a:normAutofit/>
          </a:bodyPr>
          <a:lstStyle/>
          <a:p>
            <a:pPr>
              <a:lnSpc>
                <a:spcPct val="120000"/>
              </a:lnSpc>
            </a:pPr>
            <a:r>
              <a:rPr lang="en-US" sz="2700" dirty="0">
                <a:ea typeface="Meiryo"/>
              </a:rPr>
              <a:t>Project Overview- Objective &amp; Scope</a:t>
            </a:r>
          </a:p>
        </p:txBody>
      </p:sp>
      <p:sp>
        <p:nvSpPr>
          <p:cNvPr id="24" name="Freeform: Shape 23">
            <a:extLst>
              <a:ext uri="{FF2B5EF4-FFF2-40B4-BE49-F238E27FC236}">
                <a16:creationId xmlns:a16="http://schemas.microsoft.com/office/drawing/2014/main" id="{690BA102-19FE-44E6-9302-003C1E96F8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21867" y="1"/>
            <a:ext cx="3401415" cy="2207855"/>
          </a:xfrm>
          <a:custGeom>
            <a:avLst/>
            <a:gdLst>
              <a:gd name="connsiteX0" fmla="*/ 181555 w 3401415"/>
              <a:gd name="connsiteY0" fmla="*/ 0 h 2207855"/>
              <a:gd name="connsiteX1" fmla="*/ 3298827 w 3401415"/>
              <a:gd name="connsiteY1" fmla="*/ 0 h 2207855"/>
              <a:gd name="connsiteX2" fmla="*/ 3311223 w 3401415"/>
              <a:gd name="connsiteY2" fmla="*/ 34797 h 2207855"/>
              <a:gd name="connsiteX3" fmla="*/ 3401415 w 3401415"/>
              <a:gd name="connsiteY3" fmla="*/ 681555 h 2207855"/>
              <a:gd name="connsiteX4" fmla="*/ 3224702 w 3401415"/>
              <a:gd name="connsiteY4" fmla="*/ 1189259 h 2207855"/>
              <a:gd name="connsiteX5" fmla="*/ 2701498 w 3401415"/>
              <a:gd name="connsiteY5" fmla="*/ 1662006 h 2207855"/>
              <a:gd name="connsiteX6" fmla="*/ 2586463 w 3401415"/>
              <a:gd name="connsiteY6" fmla="*/ 1752439 h 2207855"/>
              <a:gd name="connsiteX7" fmla="*/ 1641219 w 3401415"/>
              <a:gd name="connsiteY7" fmla="*/ 2207855 h 2207855"/>
              <a:gd name="connsiteX8" fmla="*/ 396053 w 3401415"/>
              <a:gd name="connsiteY8" fmla="*/ 1467590 h 2207855"/>
              <a:gd name="connsiteX9" fmla="*/ 263354 w 3401415"/>
              <a:gd name="connsiteY9" fmla="*/ 1278210 h 2207855"/>
              <a:gd name="connsiteX10" fmla="*/ 0 w 3401415"/>
              <a:gd name="connsiteY10" fmla="*/ 681555 h 2207855"/>
              <a:gd name="connsiteX11" fmla="*/ 159122 w 3401415"/>
              <a:gd name="connsiteY11" fmla="*/ 38981 h 22078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401415" h="2207855">
                <a:moveTo>
                  <a:pt x="181555" y="0"/>
                </a:moveTo>
                <a:lnTo>
                  <a:pt x="3298827" y="0"/>
                </a:lnTo>
                <a:lnTo>
                  <a:pt x="3311223" y="34797"/>
                </a:lnTo>
                <a:cubicBezTo>
                  <a:pt x="3370461" y="233986"/>
                  <a:pt x="3401415" y="452351"/>
                  <a:pt x="3401415" y="681555"/>
                </a:cubicBezTo>
                <a:cubicBezTo>
                  <a:pt x="3401415" y="876639"/>
                  <a:pt x="3346890" y="1033208"/>
                  <a:pt x="3224702" y="1189259"/>
                </a:cubicBezTo>
                <a:cubicBezTo>
                  <a:pt x="3096894" y="1352496"/>
                  <a:pt x="2904852" y="1502846"/>
                  <a:pt x="2701498" y="1662006"/>
                </a:cubicBezTo>
                <a:cubicBezTo>
                  <a:pt x="2663980" y="1691337"/>
                  <a:pt x="2625221" y="1721703"/>
                  <a:pt x="2586463" y="1752439"/>
                </a:cubicBezTo>
                <a:cubicBezTo>
                  <a:pt x="2239532" y="2027511"/>
                  <a:pt x="1986324" y="2207855"/>
                  <a:pt x="1641219" y="2207855"/>
                </a:cubicBezTo>
                <a:cubicBezTo>
                  <a:pt x="1115386" y="2207855"/>
                  <a:pt x="742984" y="1986480"/>
                  <a:pt x="396053" y="1467590"/>
                </a:cubicBezTo>
                <a:cubicBezTo>
                  <a:pt x="350654" y="1399674"/>
                  <a:pt x="306273" y="1337906"/>
                  <a:pt x="263354" y="1278210"/>
                </a:cubicBezTo>
                <a:cubicBezTo>
                  <a:pt x="85473" y="1030689"/>
                  <a:pt x="0" y="901968"/>
                  <a:pt x="0" y="681555"/>
                </a:cubicBezTo>
                <a:cubicBezTo>
                  <a:pt x="0" y="462698"/>
                  <a:pt x="53576" y="246506"/>
                  <a:pt x="159122" y="38981"/>
                </a:cubicBezTo>
                <a:close/>
              </a:path>
            </a:pathLst>
          </a:custGeom>
          <a:noFill/>
          <a:ln w="15875">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3" name="Content Placeholder 2">
            <a:extLst>
              <a:ext uri="{FF2B5EF4-FFF2-40B4-BE49-F238E27FC236}">
                <a16:creationId xmlns:a16="http://schemas.microsoft.com/office/drawing/2014/main" id="{B452C0B3-9D76-1308-0D6B-B26065051E0F}"/>
              </a:ext>
            </a:extLst>
          </p:cNvPr>
          <p:cNvSpPr>
            <a:spLocks noGrp="1"/>
          </p:cNvSpPr>
          <p:nvPr>
            <p:ph idx="1"/>
          </p:nvPr>
        </p:nvSpPr>
        <p:spPr>
          <a:xfrm>
            <a:off x="220645" y="3062623"/>
            <a:ext cx="7871176" cy="3292374"/>
          </a:xfrm>
        </p:spPr>
        <p:txBody>
          <a:bodyPr vert="horz" lIns="109728" tIns="109728" rIns="109728" bIns="91440" rtlCol="0" anchor="t">
            <a:normAutofit/>
          </a:bodyPr>
          <a:lstStyle/>
          <a:p>
            <a:pPr>
              <a:lnSpc>
                <a:spcPct val="130000"/>
              </a:lnSpc>
            </a:pPr>
            <a:r>
              <a:rPr lang="en-US" sz="1400" dirty="0">
                <a:ea typeface="+mn-lt"/>
                <a:cs typeface="+mn-lt"/>
              </a:rPr>
              <a:t>The telecom industry faces one of the highest churn rates in the service sector, with companies losing millions each year as customers switch to competitors. Retaining existing customers is far more cost-effective than acquiring new ones. This project was designed to address that challenge through predictive analytics. By analyzing customer data and developing a churn prediction model, the goal is to identify customers at risk and suggest proactive retention strategies.</a:t>
            </a:r>
            <a:br>
              <a:rPr lang="en-US" sz="1400" dirty="0">
                <a:ea typeface="+mn-lt"/>
                <a:cs typeface="+mn-lt"/>
              </a:rPr>
            </a:br>
            <a:r>
              <a:rPr lang="en-US" sz="1400" dirty="0">
                <a:ea typeface="+mn-lt"/>
                <a:cs typeface="+mn-lt"/>
              </a:rPr>
              <a:t> The study leverages machine learning techniques to transform raw business data into predictive intelligence that can enhance decision-making and customer satisfaction.</a:t>
            </a:r>
            <a:endParaRPr lang="en-US" sz="1400" dirty="0">
              <a:ea typeface="Meiryo"/>
            </a:endParaRPr>
          </a:p>
        </p:txBody>
      </p:sp>
    </p:spTree>
    <p:extLst>
      <p:ext uri="{BB962C8B-B14F-4D97-AF65-F5344CB8AC3E}">
        <p14:creationId xmlns:p14="http://schemas.microsoft.com/office/powerpoint/2010/main" val="5800256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3D5FBB81-B61B-416A-8F5D-A8DDF62530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3"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pic>
        <p:nvPicPr>
          <p:cNvPr id="4" name="Picture 3">
            <a:extLst>
              <a:ext uri="{FF2B5EF4-FFF2-40B4-BE49-F238E27FC236}">
                <a16:creationId xmlns:a16="http://schemas.microsoft.com/office/drawing/2014/main" id="{1E0B1C26-3443-DC4E-43A0-D563E9E3E942}"/>
              </a:ext>
            </a:extLst>
          </p:cNvPr>
          <p:cNvPicPr>
            <a:picLocks noChangeAspect="1"/>
          </p:cNvPicPr>
          <p:nvPr/>
        </p:nvPicPr>
        <p:blipFill>
          <a:blip r:embed="rId2"/>
          <a:srcRect l="13996" r="7526" b="-2"/>
          <a:stretch>
            <a:fillRect/>
          </a:stretch>
        </p:blipFill>
        <p:spPr>
          <a:xfrm>
            <a:off x="4691118" y="1"/>
            <a:ext cx="7500882" cy="6857999"/>
          </a:xfrm>
          <a:custGeom>
            <a:avLst/>
            <a:gdLst/>
            <a:ahLst/>
            <a:cxnLst/>
            <a:rect l="l" t="t" r="r" b="b"/>
            <a:pathLst>
              <a:path w="7500882" h="6857999">
                <a:moveTo>
                  <a:pt x="898230" y="0"/>
                </a:moveTo>
                <a:lnTo>
                  <a:pt x="7500882" y="0"/>
                </a:lnTo>
                <a:lnTo>
                  <a:pt x="7500882" y="6857999"/>
                </a:lnTo>
                <a:lnTo>
                  <a:pt x="0" y="6857999"/>
                </a:lnTo>
                <a:lnTo>
                  <a:pt x="114106" y="6780598"/>
                </a:lnTo>
                <a:cubicBezTo>
                  <a:pt x="291579" y="6653107"/>
                  <a:pt x="465794" y="6515396"/>
                  <a:pt x="641619" y="6374813"/>
                </a:cubicBezTo>
                <a:cubicBezTo>
                  <a:pt x="1607125" y="5602838"/>
                  <a:pt x="2555378" y="4969130"/>
                  <a:pt x="2555378" y="3621655"/>
                </a:cubicBezTo>
                <a:cubicBezTo>
                  <a:pt x="2555378" y="2093191"/>
                  <a:pt x="1969579" y="754640"/>
                  <a:pt x="920818" y="14996"/>
                </a:cubicBezTo>
                <a:close/>
              </a:path>
            </a:pathLst>
          </a:custGeom>
        </p:spPr>
      </p:pic>
      <p:sp>
        <p:nvSpPr>
          <p:cNvPr id="32" name="Freeform: Shape 31">
            <a:extLst>
              <a:ext uri="{FF2B5EF4-FFF2-40B4-BE49-F238E27FC236}">
                <a16:creationId xmlns:a16="http://schemas.microsoft.com/office/drawing/2014/main" id="{40C0D7D4-D83D-4C58-87D1-955F0A9173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476051" cy="6858000"/>
          </a:xfrm>
          <a:custGeom>
            <a:avLst/>
            <a:gdLst>
              <a:gd name="connsiteX0" fmla="*/ 0 w 7476051"/>
              <a:gd name="connsiteY0" fmla="*/ 0 h 6858000"/>
              <a:gd name="connsiteX1" fmla="*/ 5853028 w 7476051"/>
              <a:gd name="connsiteY1" fmla="*/ 0 h 6858000"/>
              <a:gd name="connsiteX2" fmla="*/ 5875152 w 7476051"/>
              <a:gd name="connsiteY2" fmla="*/ 14997 h 6858000"/>
              <a:gd name="connsiteX3" fmla="*/ 7476051 w 7476051"/>
              <a:gd name="connsiteY3" fmla="*/ 3621656 h 6858000"/>
              <a:gd name="connsiteX4" fmla="*/ 5601702 w 7476051"/>
              <a:gd name="connsiteY4" fmla="*/ 6374814 h 6858000"/>
              <a:gd name="connsiteX5" fmla="*/ 5085053 w 7476051"/>
              <a:gd name="connsiteY5" fmla="*/ 6780599 h 6858000"/>
              <a:gd name="connsiteX6" fmla="*/ 4973297 w 7476051"/>
              <a:gd name="connsiteY6" fmla="*/ 6858000 h 6858000"/>
              <a:gd name="connsiteX7" fmla="*/ 0 w 7476051"/>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476051" h="6858000">
                <a:moveTo>
                  <a:pt x="0" y="0"/>
                </a:moveTo>
                <a:lnTo>
                  <a:pt x="5853028" y="0"/>
                </a:lnTo>
                <a:lnTo>
                  <a:pt x="5875152" y="14997"/>
                </a:lnTo>
                <a:cubicBezTo>
                  <a:pt x="6902315" y="754641"/>
                  <a:pt x="7476051" y="2093192"/>
                  <a:pt x="7476051" y="3621656"/>
                </a:cubicBezTo>
                <a:cubicBezTo>
                  <a:pt x="7476051" y="4969131"/>
                  <a:pt x="6547326" y="5602839"/>
                  <a:pt x="5601702" y="6374814"/>
                </a:cubicBezTo>
                <a:cubicBezTo>
                  <a:pt x="5429499" y="6515397"/>
                  <a:pt x="5258871" y="6653108"/>
                  <a:pt x="5085053" y="6780599"/>
                </a:cubicBezTo>
                <a:lnTo>
                  <a:pt x="4973297" y="6858000"/>
                </a:lnTo>
                <a:lnTo>
                  <a:pt x="0" y="6858000"/>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useBgFill="1">
        <p:nvSpPr>
          <p:cNvPr id="33" name="Freeform: Shape 32">
            <a:extLst>
              <a:ext uri="{FF2B5EF4-FFF2-40B4-BE49-F238E27FC236}">
                <a16:creationId xmlns:a16="http://schemas.microsoft.com/office/drawing/2014/main" id="{0BA56A81-C9DD-4EBA-9E13-32FFB51CFD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3" y="0"/>
            <a:ext cx="7307402" cy="6858000"/>
          </a:xfrm>
          <a:custGeom>
            <a:avLst/>
            <a:gdLst>
              <a:gd name="connsiteX0" fmla="*/ 0 w 7097265"/>
              <a:gd name="connsiteY0" fmla="*/ 0 h 6858000"/>
              <a:gd name="connsiteX1" fmla="*/ 5474242 w 7097265"/>
              <a:gd name="connsiteY1" fmla="*/ 0 h 6858000"/>
              <a:gd name="connsiteX2" fmla="*/ 5496366 w 7097265"/>
              <a:gd name="connsiteY2" fmla="*/ 14997 h 6858000"/>
              <a:gd name="connsiteX3" fmla="*/ 7097265 w 7097265"/>
              <a:gd name="connsiteY3" fmla="*/ 3621656 h 6858000"/>
              <a:gd name="connsiteX4" fmla="*/ 5222916 w 7097265"/>
              <a:gd name="connsiteY4" fmla="*/ 6374814 h 6858000"/>
              <a:gd name="connsiteX5" fmla="*/ 4706267 w 7097265"/>
              <a:gd name="connsiteY5" fmla="*/ 6780599 h 6858000"/>
              <a:gd name="connsiteX6" fmla="*/ 4594511 w 7097265"/>
              <a:gd name="connsiteY6" fmla="*/ 6858000 h 6858000"/>
              <a:gd name="connsiteX7" fmla="*/ 0 w 7097265"/>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097265" h="6858000">
                <a:moveTo>
                  <a:pt x="0" y="0"/>
                </a:moveTo>
                <a:lnTo>
                  <a:pt x="5474242" y="0"/>
                </a:lnTo>
                <a:lnTo>
                  <a:pt x="5496366" y="14997"/>
                </a:lnTo>
                <a:cubicBezTo>
                  <a:pt x="6523529" y="754641"/>
                  <a:pt x="7097265" y="2093192"/>
                  <a:pt x="7097265" y="3621656"/>
                </a:cubicBezTo>
                <a:cubicBezTo>
                  <a:pt x="7097265" y="4969131"/>
                  <a:pt x="6168540" y="5602839"/>
                  <a:pt x="5222916" y="6374814"/>
                </a:cubicBezTo>
                <a:cubicBezTo>
                  <a:pt x="5050713" y="6515397"/>
                  <a:pt x="4880085" y="6653108"/>
                  <a:pt x="4706267" y="6780599"/>
                </a:cubicBezTo>
                <a:lnTo>
                  <a:pt x="4594511" y="6858000"/>
                </a:lnTo>
                <a:lnTo>
                  <a:pt x="0" y="685800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34" name="Freeform: Shape 33">
            <a:extLst>
              <a:ext uri="{FF2B5EF4-FFF2-40B4-BE49-F238E27FC236}">
                <a16:creationId xmlns:a16="http://schemas.microsoft.com/office/drawing/2014/main" id="{15F9A324-404E-4C5D-AFF0-C5D0D84182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9034" y="-1"/>
            <a:ext cx="2535264" cy="6858001"/>
          </a:xfrm>
          <a:custGeom>
            <a:avLst/>
            <a:gdLst>
              <a:gd name="connsiteX0" fmla="*/ 1218585 w 2535264"/>
              <a:gd name="connsiteY0" fmla="*/ 0 h 6858001"/>
              <a:gd name="connsiteX1" fmla="*/ 1236561 w 2535264"/>
              <a:gd name="connsiteY1" fmla="*/ 0 h 6858001"/>
              <a:gd name="connsiteX2" fmla="*/ 1264452 w 2535264"/>
              <a:gd name="connsiteY2" fmla="*/ 24550 h 6858001"/>
              <a:gd name="connsiteX3" fmla="*/ 2528121 w 2535264"/>
              <a:gd name="connsiteY3" fmla="*/ 3710502 h 6858001"/>
              <a:gd name="connsiteX4" fmla="*/ 492890 w 2535264"/>
              <a:gd name="connsiteY4" fmla="*/ 6507511 h 6858001"/>
              <a:gd name="connsiteX5" fmla="*/ 221418 w 2535264"/>
              <a:gd name="connsiteY5" fmla="*/ 6713387 h 6858001"/>
              <a:gd name="connsiteX6" fmla="*/ 20100 w 2535264"/>
              <a:gd name="connsiteY6" fmla="*/ 6858001 h 6858001"/>
              <a:gd name="connsiteX7" fmla="*/ 0 w 2535264"/>
              <a:gd name="connsiteY7" fmla="*/ 6858001 h 6858001"/>
              <a:gd name="connsiteX8" fmla="*/ 202488 w 2535264"/>
              <a:gd name="connsiteY8" fmla="*/ 6712547 h 6858001"/>
              <a:gd name="connsiteX9" fmla="*/ 473961 w 2535264"/>
              <a:gd name="connsiteY9" fmla="*/ 6506670 h 6858001"/>
              <a:gd name="connsiteX10" fmla="*/ 2509192 w 2535264"/>
              <a:gd name="connsiteY10" fmla="*/ 3709662 h 6858001"/>
              <a:gd name="connsiteX11" fmla="*/ 1245521 w 2535264"/>
              <a:gd name="connsiteY11" fmla="*/ 23708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5264" h="6858001">
                <a:moveTo>
                  <a:pt x="1218585" y="0"/>
                </a:moveTo>
                <a:lnTo>
                  <a:pt x="1236561" y="0"/>
                </a:lnTo>
                <a:lnTo>
                  <a:pt x="1264452" y="24550"/>
                </a:lnTo>
                <a:cubicBezTo>
                  <a:pt x="2149109" y="863108"/>
                  <a:pt x="2598329" y="2210814"/>
                  <a:pt x="2528121" y="3710502"/>
                </a:cubicBezTo>
                <a:cubicBezTo>
                  <a:pt x="2462100" y="5120751"/>
                  <a:pt x="1489450" y="5742158"/>
                  <a:pt x="492890" y="6507511"/>
                </a:cubicBezTo>
                <a:cubicBezTo>
                  <a:pt x="402151" y="6577199"/>
                  <a:pt x="311847" y="6646154"/>
                  <a:pt x="221418" y="6713387"/>
                </a:cubicBezTo>
                <a:lnTo>
                  <a:pt x="20100" y="6858001"/>
                </a:lnTo>
                <a:lnTo>
                  <a:pt x="0" y="6858001"/>
                </a:lnTo>
                <a:lnTo>
                  <a:pt x="202488" y="6712547"/>
                </a:lnTo>
                <a:cubicBezTo>
                  <a:pt x="292917" y="6645314"/>
                  <a:pt x="383222" y="6576359"/>
                  <a:pt x="473961" y="6506670"/>
                </a:cubicBezTo>
                <a:cubicBezTo>
                  <a:pt x="1470520" y="5741317"/>
                  <a:pt x="2443170" y="5119911"/>
                  <a:pt x="2509192" y="3709662"/>
                </a:cubicBezTo>
                <a:cubicBezTo>
                  <a:pt x="2579400" y="2209973"/>
                  <a:pt x="2130178" y="862268"/>
                  <a:pt x="1245521" y="23708"/>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 name="Title 1">
            <a:extLst>
              <a:ext uri="{FF2B5EF4-FFF2-40B4-BE49-F238E27FC236}">
                <a16:creationId xmlns:a16="http://schemas.microsoft.com/office/drawing/2014/main" id="{50E3B032-BDE0-53E4-9D50-49D1CCE80323}"/>
              </a:ext>
            </a:extLst>
          </p:cNvPr>
          <p:cNvSpPr>
            <a:spLocks noGrp="1"/>
          </p:cNvSpPr>
          <p:nvPr>
            <p:ph type="title"/>
          </p:nvPr>
        </p:nvSpPr>
        <p:spPr>
          <a:xfrm>
            <a:off x="291970" y="295430"/>
            <a:ext cx="5480677" cy="1787371"/>
          </a:xfrm>
        </p:spPr>
        <p:txBody>
          <a:bodyPr anchor="b">
            <a:normAutofit/>
          </a:bodyPr>
          <a:lstStyle/>
          <a:p>
            <a:r>
              <a:rPr lang="en-US" dirty="0">
                <a:ea typeface="Meiryo"/>
              </a:rPr>
              <a:t>Dataset Description</a:t>
            </a:r>
            <a:endParaRPr lang="en-US" dirty="0"/>
          </a:p>
        </p:txBody>
      </p:sp>
      <p:sp>
        <p:nvSpPr>
          <p:cNvPr id="3" name="Content Placeholder 2">
            <a:extLst>
              <a:ext uri="{FF2B5EF4-FFF2-40B4-BE49-F238E27FC236}">
                <a16:creationId xmlns:a16="http://schemas.microsoft.com/office/drawing/2014/main" id="{79B560F9-4B01-A8B9-CE29-34544F4AFE0F}"/>
              </a:ext>
            </a:extLst>
          </p:cNvPr>
          <p:cNvSpPr>
            <a:spLocks noGrp="1"/>
          </p:cNvSpPr>
          <p:nvPr>
            <p:ph idx="1"/>
          </p:nvPr>
        </p:nvSpPr>
        <p:spPr>
          <a:xfrm>
            <a:off x="-1330" y="2300073"/>
            <a:ext cx="7261440" cy="4554692"/>
          </a:xfrm>
        </p:spPr>
        <p:txBody>
          <a:bodyPr vert="horz" lIns="109728" tIns="109728" rIns="109728" bIns="91440" rtlCol="0" anchor="t">
            <a:normAutofit/>
          </a:bodyPr>
          <a:lstStyle/>
          <a:p>
            <a:pPr marL="285750" indent="-285750">
              <a:lnSpc>
                <a:spcPct val="130000"/>
              </a:lnSpc>
              <a:buFont typeface="Arial"/>
              <a:buChar char="•"/>
            </a:pPr>
            <a:r>
              <a:rPr lang="en-US" sz="1200" b="1" dirty="0">
                <a:ea typeface="+mn-lt"/>
                <a:cs typeface="+mn-lt"/>
              </a:rPr>
              <a:t>Source:</a:t>
            </a:r>
            <a:r>
              <a:rPr lang="en-US" sz="1200" dirty="0">
                <a:ea typeface="+mn-lt"/>
                <a:cs typeface="+mn-lt"/>
              </a:rPr>
              <a:t> Kaggle – Telco Customer Churn dataset</a:t>
            </a:r>
            <a:endParaRPr lang="en-US" sz="1200" dirty="0">
              <a:ea typeface="Meiryo"/>
            </a:endParaRPr>
          </a:p>
          <a:p>
            <a:pPr marL="285750" indent="-285750">
              <a:lnSpc>
                <a:spcPct val="130000"/>
              </a:lnSpc>
              <a:buFont typeface="Arial"/>
              <a:buChar char="•"/>
            </a:pPr>
            <a:r>
              <a:rPr lang="en-US" sz="1200" b="1" dirty="0">
                <a:ea typeface="+mn-lt"/>
                <a:cs typeface="+mn-lt"/>
              </a:rPr>
              <a:t>Size:</a:t>
            </a:r>
            <a:r>
              <a:rPr lang="en-US" sz="1200" dirty="0">
                <a:ea typeface="+mn-lt"/>
                <a:cs typeface="+mn-lt"/>
              </a:rPr>
              <a:t> 7043 rows × 21 columns</a:t>
            </a:r>
            <a:endParaRPr lang="en-US" sz="1200" dirty="0">
              <a:ea typeface="Meiryo"/>
            </a:endParaRPr>
          </a:p>
          <a:p>
            <a:pPr marL="285750" indent="-285750">
              <a:lnSpc>
                <a:spcPct val="130000"/>
              </a:lnSpc>
              <a:buFont typeface="Arial"/>
              <a:buChar char="•"/>
            </a:pPr>
            <a:r>
              <a:rPr lang="en-US" sz="1200" b="1" dirty="0">
                <a:ea typeface="+mn-lt"/>
                <a:cs typeface="+mn-lt"/>
              </a:rPr>
              <a:t>Target Variable:</a:t>
            </a:r>
            <a:r>
              <a:rPr lang="en-US" sz="1200" dirty="0">
                <a:ea typeface="+mn-lt"/>
                <a:cs typeface="+mn-lt"/>
              </a:rPr>
              <a:t> </a:t>
            </a:r>
            <a:r>
              <a:rPr lang="en-US" sz="1200" dirty="0">
                <a:latin typeface="Consolas"/>
              </a:rPr>
              <a:t>Churn</a:t>
            </a:r>
            <a:r>
              <a:rPr lang="en-US" sz="1200" dirty="0">
                <a:ea typeface="+mn-lt"/>
                <a:cs typeface="+mn-lt"/>
              </a:rPr>
              <a:t> (Yes/No)</a:t>
            </a:r>
            <a:endParaRPr lang="en-US" sz="1200" dirty="0">
              <a:ea typeface="Meiryo"/>
            </a:endParaRPr>
          </a:p>
          <a:p>
            <a:pPr marL="285750" indent="-285750">
              <a:lnSpc>
                <a:spcPct val="130000"/>
              </a:lnSpc>
              <a:buFont typeface="Arial"/>
              <a:buChar char="•"/>
            </a:pPr>
            <a:r>
              <a:rPr lang="en-US" sz="1200" b="1" dirty="0">
                <a:ea typeface="+mn-lt"/>
                <a:cs typeface="+mn-lt"/>
              </a:rPr>
              <a:t>Data Type Split: </a:t>
            </a:r>
            <a:r>
              <a:rPr lang="en-US" sz="1200" b="1" dirty="0" err="1">
                <a:ea typeface="+mn-lt"/>
                <a:cs typeface="+mn-lt"/>
              </a:rPr>
              <a:t>i</a:t>
            </a:r>
            <a:r>
              <a:rPr lang="en-US" sz="1200" b="1" dirty="0">
                <a:ea typeface="+mn-lt"/>
                <a:cs typeface="+mn-lt"/>
              </a:rPr>
              <a:t>. </a:t>
            </a:r>
            <a:r>
              <a:rPr lang="en-US" sz="1200" dirty="0">
                <a:ea typeface="+mn-lt"/>
                <a:cs typeface="+mn-lt"/>
              </a:rPr>
              <a:t>11 categorical features, ii. 10 numerical features</a:t>
            </a:r>
            <a:endParaRPr lang="en-US" sz="1200" dirty="0">
              <a:ea typeface="Meiryo"/>
            </a:endParaRPr>
          </a:p>
          <a:p>
            <a:pPr marL="285750" indent="-285750">
              <a:lnSpc>
                <a:spcPct val="130000"/>
              </a:lnSpc>
              <a:buFont typeface="Arial"/>
              <a:buChar char="•"/>
            </a:pPr>
            <a:r>
              <a:rPr lang="en-US" sz="1200" b="1" dirty="0">
                <a:ea typeface="+mn-lt"/>
                <a:cs typeface="+mn-lt"/>
              </a:rPr>
              <a:t>Top Variables: </a:t>
            </a:r>
            <a:r>
              <a:rPr lang="en-US" sz="1200" dirty="0">
                <a:latin typeface="Consolas"/>
              </a:rPr>
              <a:t>tenure</a:t>
            </a:r>
            <a:r>
              <a:rPr lang="en-US" sz="1200" dirty="0">
                <a:ea typeface="+mn-lt"/>
                <a:cs typeface="+mn-lt"/>
              </a:rPr>
              <a:t>, </a:t>
            </a:r>
            <a:r>
              <a:rPr lang="en-US" sz="1200" err="1">
                <a:latin typeface="Consolas"/>
              </a:rPr>
              <a:t>MonthlyCharges</a:t>
            </a:r>
            <a:r>
              <a:rPr lang="en-US" sz="1200" dirty="0">
                <a:ea typeface="+mn-lt"/>
                <a:cs typeface="+mn-lt"/>
              </a:rPr>
              <a:t>, </a:t>
            </a:r>
            <a:r>
              <a:rPr lang="en-US" sz="1200" err="1">
                <a:latin typeface="Consolas"/>
              </a:rPr>
              <a:t>TotalCharges</a:t>
            </a:r>
            <a:r>
              <a:rPr lang="en-US" sz="1200" dirty="0">
                <a:ea typeface="+mn-lt"/>
                <a:cs typeface="+mn-lt"/>
              </a:rPr>
              <a:t>, </a:t>
            </a:r>
            <a:r>
              <a:rPr lang="en-US" sz="1200" dirty="0">
                <a:latin typeface="Consolas"/>
              </a:rPr>
              <a:t>Contract</a:t>
            </a:r>
            <a:r>
              <a:rPr lang="en-US" sz="1200" dirty="0">
                <a:ea typeface="+mn-lt"/>
                <a:cs typeface="+mn-lt"/>
              </a:rPr>
              <a:t>, </a:t>
            </a:r>
            <a:r>
              <a:rPr lang="en-US" sz="1200" err="1">
                <a:latin typeface="Consolas"/>
              </a:rPr>
              <a:t>PaymentMethod</a:t>
            </a:r>
            <a:r>
              <a:rPr lang="en-US" sz="1200" dirty="0">
                <a:ea typeface="+mn-lt"/>
                <a:cs typeface="+mn-lt"/>
              </a:rPr>
              <a:t>, </a:t>
            </a:r>
            <a:r>
              <a:rPr lang="en-US" sz="1200" err="1">
                <a:latin typeface="Consolas"/>
              </a:rPr>
              <a:t>InternetService</a:t>
            </a:r>
            <a:endParaRPr lang="en-US" sz="1200">
              <a:ea typeface="Meiryo"/>
            </a:endParaRPr>
          </a:p>
          <a:p>
            <a:pPr>
              <a:lnSpc>
                <a:spcPct val="130000"/>
              </a:lnSpc>
              <a:buFont typeface="Arial"/>
              <a:buChar char="•"/>
            </a:pPr>
            <a:r>
              <a:rPr lang="en-US" sz="1200" dirty="0">
                <a:ea typeface="+mn-lt"/>
                <a:cs typeface="+mn-lt"/>
              </a:rPr>
              <a:t>Customers with short tenure or month-to-month contracts are most likely to churn.</a:t>
            </a:r>
            <a:endParaRPr lang="en-US" sz="1200" dirty="0">
              <a:latin typeface="Consolas"/>
              <a:ea typeface="Meiryo"/>
            </a:endParaRPr>
          </a:p>
          <a:p>
            <a:pPr>
              <a:lnSpc>
                <a:spcPct val="130000"/>
              </a:lnSpc>
              <a:buFont typeface="Arial"/>
              <a:buChar char="•"/>
            </a:pPr>
            <a:r>
              <a:rPr lang="en-US" sz="1200" dirty="0">
                <a:ea typeface="+mn-lt"/>
                <a:cs typeface="+mn-lt"/>
              </a:rPr>
              <a:t>Dataset shows slight </a:t>
            </a:r>
            <a:r>
              <a:rPr lang="en-US" sz="1200" b="1" dirty="0">
                <a:ea typeface="+mn-lt"/>
                <a:cs typeface="+mn-lt"/>
              </a:rPr>
              <a:t>class imbalance</a:t>
            </a:r>
            <a:r>
              <a:rPr lang="en-US" sz="1200" dirty="0">
                <a:ea typeface="+mn-lt"/>
                <a:cs typeface="+mn-lt"/>
              </a:rPr>
              <a:t> (26.5% churn vs 73.5% non-churn)</a:t>
            </a:r>
            <a:endParaRPr lang="en-US" sz="1200" dirty="0">
              <a:ea typeface="Meiryo"/>
            </a:endParaRPr>
          </a:p>
          <a:p>
            <a:pPr marL="285750" indent="-285750">
              <a:lnSpc>
                <a:spcPct val="130000"/>
              </a:lnSpc>
              <a:buFont typeface="Arial"/>
              <a:buChar char="•"/>
            </a:pPr>
            <a:endParaRPr lang="en-US" sz="1200" dirty="0">
              <a:latin typeface="Consolas"/>
              <a:ea typeface="Meiryo"/>
            </a:endParaRPr>
          </a:p>
          <a:p>
            <a:pPr>
              <a:lnSpc>
                <a:spcPct val="130000"/>
              </a:lnSpc>
            </a:pPr>
            <a:endParaRPr lang="en-US" sz="1200" dirty="0">
              <a:ea typeface="Meiryo"/>
            </a:endParaRPr>
          </a:p>
        </p:txBody>
      </p:sp>
    </p:spTree>
    <p:extLst>
      <p:ext uri="{BB962C8B-B14F-4D97-AF65-F5344CB8AC3E}">
        <p14:creationId xmlns:p14="http://schemas.microsoft.com/office/powerpoint/2010/main" val="37015574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53" name="Rectangle 52">
            <a:extLst>
              <a:ext uri="{FF2B5EF4-FFF2-40B4-BE49-F238E27FC236}">
                <a16:creationId xmlns:a16="http://schemas.microsoft.com/office/drawing/2014/main" id="{8181FC64-B306-4821-98E2-780662EFC4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55" name="Freeform: Shape 54">
            <a:extLst>
              <a:ext uri="{FF2B5EF4-FFF2-40B4-BE49-F238E27FC236}">
                <a16:creationId xmlns:a16="http://schemas.microsoft.com/office/drawing/2014/main" id="{BC0385E9-02B2-4941-889A-EAD43F5BB0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736139" y="0"/>
            <a:ext cx="5455860" cy="6858000"/>
          </a:xfrm>
          <a:custGeom>
            <a:avLst/>
            <a:gdLst>
              <a:gd name="connsiteX0" fmla="*/ 3832837 w 5455860"/>
              <a:gd name="connsiteY0" fmla="*/ 0 h 6858000"/>
              <a:gd name="connsiteX1" fmla="*/ 2739604 w 5455860"/>
              <a:gd name="connsiteY1" fmla="*/ 0 h 6858000"/>
              <a:gd name="connsiteX2" fmla="*/ 1959438 w 5455860"/>
              <a:gd name="connsiteY2" fmla="*/ 0 h 6858000"/>
              <a:gd name="connsiteX3" fmla="*/ 1895061 w 5455860"/>
              <a:gd name="connsiteY3" fmla="*/ 0 h 6858000"/>
              <a:gd name="connsiteX4" fmla="*/ 249909 w 5455860"/>
              <a:gd name="connsiteY4" fmla="*/ 0 h 6858000"/>
              <a:gd name="connsiteX5" fmla="*/ 0 w 5455860"/>
              <a:gd name="connsiteY5" fmla="*/ 0 h 6858000"/>
              <a:gd name="connsiteX6" fmla="*/ 0 w 5455860"/>
              <a:gd name="connsiteY6" fmla="*/ 6858000 h 6858000"/>
              <a:gd name="connsiteX7" fmla="*/ 249909 w 5455860"/>
              <a:gd name="connsiteY7" fmla="*/ 6858000 h 6858000"/>
              <a:gd name="connsiteX8" fmla="*/ 1895061 w 5455860"/>
              <a:gd name="connsiteY8" fmla="*/ 6858000 h 6858000"/>
              <a:gd name="connsiteX9" fmla="*/ 1959438 w 5455860"/>
              <a:gd name="connsiteY9" fmla="*/ 6858000 h 6858000"/>
              <a:gd name="connsiteX10" fmla="*/ 2739604 w 5455860"/>
              <a:gd name="connsiteY10" fmla="*/ 6858000 h 6858000"/>
              <a:gd name="connsiteX11" fmla="*/ 2953106 w 5455860"/>
              <a:gd name="connsiteY11" fmla="*/ 6858000 h 6858000"/>
              <a:gd name="connsiteX12" fmla="*/ 3064862 w 5455860"/>
              <a:gd name="connsiteY12" fmla="*/ 6780599 h 6858000"/>
              <a:gd name="connsiteX13" fmla="*/ 3581510 w 5455860"/>
              <a:gd name="connsiteY13" fmla="*/ 6374814 h 6858000"/>
              <a:gd name="connsiteX14" fmla="*/ 5455860 w 5455860"/>
              <a:gd name="connsiteY14" fmla="*/ 3621656 h 6858000"/>
              <a:gd name="connsiteX15" fmla="*/ 3854961 w 5455860"/>
              <a:gd name="connsiteY15"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55860" h="6858000">
                <a:moveTo>
                  <a:pt x="3832837" y="0"/>
                </a:moveTo>
                <a:lnTo>
                  <a:pt x="2739604" y="0"/>
                </a:lnTo>
                <a:lnTo>
                  <a:pt x="1959438" y="0"/>
                </a:lnTo>
                <a:lnTo>
                  <a:pt x="1895061" y="0"/>
                </a:lnTo>
                <a:lnTo>
                  <a:pt x="249909" y="0"/>
                </a:lnTo>
                <a:lnTo>
                  <a:pt x="0" y="0"/>
                </a:lnTo>
                <a:lnTo>
                  <a:pt x="0" y="6858000"/>
                </a:lnTo>
                <a:lnTo>
                  <a:pt x="249909" y="6858000"/>
                </a:lnTo>
                <a:lnTo>
                  <a:pt x="1895061" y="6858000"/>
                </a:lnTo>
                <a:lnTo>
                  <a:pt x="1959438" y="6858000"/>
                </a:lnTo>
                <a:lnTo>
                  <a:pt x="2739604" y="6858000"/>
                </a:lnTo>
                <a:lnTo>
                  <a:pt x="2953106" y="6858000"/>
                </a:lnTo>
                <a:lnTo>
                  <a:pt x="3064862" y="6780599"/>
                </a:lnTo>
                <a:cubicBezTo>
                  <a:pt x="3238680" y="6653108"/>
                  <a:pt x="3409307" y="6515397"/>
                  <a:pt x="3581510" y="6374814"/>
                </a:cubicBezTo>
                <a:cubicBezTo>
                  <a:pt x="4527135" y="5602839"/>
                  <a:pt x="5455860" y="4969131"/>
                  <a:pt x="5455860" y="3621656"/>
                </a:cubicBezTo>
                <a:cubicBezTo>
                  <a:pt x="5455860" y="2093192"/>
                  <a:pt x="4882124" y="754641"/>
                  <a:pt x="3854961" y="14997"/>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7" name="Freeform: Shape 56">
            <a:extLst>
              <a:ext uri="{FF2B5EF4-FFF2-40B4-BE49-F238E27FC236}">
                <a16:creationId xmlns:a16="http://schemas.microsoft.com/office/drawing/2014/main" id="{829A1E2C-5AC8-40FC-99E9-832069D397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255864" y="0"/>
            <a:ext cx="2529723" cy="6858000"/>
          </a:xfrm>
          <a:custGeom>
            <a:avLst/>
            <a:gdLst>
              <a:gd name="connsiteX0" fmla="*/ 1258269 w 2529723"/>
              <a:gd name="connsiteY0" fmla="*/ 0 h 6858000"/>
              <a:gd name="connsiteX1" fmla="*/ 1275627 w 2529723"/>
              <a:gd name="connsiteY1" fmla="*/ 0 h 6858000"/>
              <a:gd name="connsiteX2" fmla="*/ 1302560 w 2529723"/>
              <a:gd name="connsiteY2" fmla="*/ 24338 h 6858000"/>
              <a:gd name="connsiteX3" fmla="*/ 2522825 w 2529723"/>
              <a:gd name="connsiteY3" fmla="*/ 3678515 h 6858000"/>
              <a:gd name="connsiteX4" fmla="*/ 557500 w 2529723"/>
              <a:gd name="connsiteY4" fmla="*/ 6451411 h 6858000"/>
              <a:gd name="connsiteX5" fmla="*/ 32482 w 2529723"/>
              <a:gd name="connsiteY5" fmla="*/ 6849373 h 6858000"/>
              <a:gd name="connsiteX6" fmla="*/ 19531 w 2529723"/>
              <a:gd name="connsiteY6" fmla="*/ 6858000 h 6858000"/>
              <a:gd name="connsiteX7" fmla="*/ 0 w 2529723"/>
              <a:gd name="connsiteY7" fmla="*/ 6858000 h 6858000"/>
              <a:gd name="connsiteX8" fmla="*/ 14202 w 2529723"/>
              <a:gd name="connsiteY8" fmla="*/ 6848540 h 6858000"/>
              <a:gd name="connsiteX9" fmla="*/ 539221 w 2529723"/>
              <a:gd name="connsiteY9" fmla="*/ 6450578 h 6858000"/>
              <a:gd name="connsiteX10" fmla="*/ 2504546 w 2529723"/>
              <a:gd name="connsiteY10" fmla="*/ 3677682 h 6858000"/>
              <a:gd name="connsiteX11" fmla="*/ 1284280 w 2529723"/>
              <a:gd name="connsiteY11" fmla="*/ 235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9723" h="685800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59" name="Freeform: Shape 58">
            <a:extLst>
              <a:ext uri="{FF2B5EF4-FFF2-40B4-BE49-F238E27FC236}">
                <a16:creationId xmlns:a16="http://schemas.microsoft.com/office/drawing/2014/main" id="{55C54A75-E44A-4147-B9D0-FF46CFD316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469160" y="0"/>
            <a:ext cx="2536434" cy="6858000"/>
          </a:xfrm>
          <a:custGeom>
            <a:avLst/>
            <a:gdLst>
              <a:gd name="connsiteX0" fmla="*/ 879731 w 2536434"/>
              <a:gd name="connsiteY0" fmla="*/ 0 h 6858000"/>
              <a:gd name="connsiteX1" fmla="*/ 913411 w 2536434"/>
              <a:gd name="connsiteY1" fmla="*/ 0 h 6858000"/>
              <a:gd name="connsiteX2" fmla="*/ 935535 w 2536434"/>
              <a:gd name="connsiteY2" fmla="*/ 14997 h 6858000"/>
              <a:gd name="connsiteX3" fmla="*/ 2536434 w 2536434"/>
              <a:gd name="connsiteY3" fmla="*/ 3621656 h 6858000"/>
              <a:gd name="connsiteX4" fmla="*/ 662084 w 2536434"/>
              <a:gd name="connsiteY4" fmla="*/ 6374814 h 6858000"/>
              <a:gd name="connsiteX5" fmla="*/ 145436 w 2536434"/>
              <a:gd name="connsiteY5" fmla="*/ 6780599 h 6858000"/>
              <a:gd name="connsiteX6" fmla="*/ 33680 w 2536434"/>
              <a:gd name="connsiteY6" fmla="*/ 6858000 h 6858000"/>
              <a:gd name="connsiteX7" fmla="*/ 0 w 2536434"/>
              <a:gd name="connsiteY7" fmla="*/ 6858000 h 6858000"/>
              <a:gd name="connsiteX8" fmla="*/ 111756 w 2536434"/>
              <a:gd name="connsiteY8" fmla="*/ 6780599 h 6858000"/>
              <a:gd name="connsiteX9" fmla="*/ 628404 w 2536434"/>
              <a:gd name="connsiteY9" fmla="*/ 6374814 h 6858000"/>
              <a:gd name="connsiteX10" fmla="*/ 2502754 w 2536434"/>
              <a:gd name="connsiteY10" fmla="*/ 3621656 h 6858000"/>
              <a:gd name="connsiteX11" fmla="*/ 901855 w 2536434"/>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 name="Title 1">
            <a:extLst>
              <a:ext uri="{FF2B5EF4-FFF2-40B4-BE49-F238E27FC236}">
                <a16:creationId xmlns:a16="http://schemas.microsoft.com/office/drawing/2014/main" id="{0280D6B8-53B1-F90D-B3EF-2E175F440ECD}"/>
              </a:ext>
            </a:extLst>
          </p:cNvPr>
          <p:cNvSpPr>
            <a:spLocks noGrp="1"/>
          </p:cNvSpPr>
          <p:nvPr>
            <p:ph type="title"/>
          </p:nvPr>
        </p:nvSpPr>
        <p:spPr>
          <a:xfrm>
            <a:off x="7735100" y="504822"/>
            <a:ext cx="4861349" cy="2069914"/>
          </a:xfrm>
        </p:spPr>
        <p:txBody>
          <a:bodyPr vert="horz" lIns="109728" tIns="109728" rIns="109728" bIns="91440" rtlCol="0" anchor="b">
            <a:normAutofit/>
          </a:bodyPr>
          <a:lstStyle/>
          <a:p>
            <a:r>
              <a:rPr lang="en-US" dirty="0"/>
              <a:t>Data Cleaning &amp; Preparation</a:t>
            </a:r>
          </a:p>
        </p:txBody>
      </p:sp>
      <p:pic>
        <p:nvPicPr>
          <p:cNvPr id="5" name="Picture 4" descr="A comparison of a bar graph&#10;&#10;AI-generated content may be incorrect.">
            <a:extLst>
              <a:ext uri="{FF2B5EF4-FFF2-40B4-BE49-F238E27FC236}">
                <a16:creationId xmlns:a16="http://schemas.microsoft.com/office/drawing/2014/main" id="{D07FB130-D64A-7FB5-1594-58B8AB220364}"/>
              </a:ext>
            </a:extLst>
          </p:cNvPr>
          <p:cNvPicPr>
            <a:picLocks noChangeAspect="1"/>
          </p:cNvPicPr>
          <p:nvPr/>
        </p:nvPicPr>
        <p:blipFill>
          <a:blip r:embed="rId2"/>
          <a:stretch>
            <a:fillRect/>
          </a:stretch>
        </p:blipFill>
        <p:spPr>
          <a:xfrm>
            <a:off x="267776" y="640112"/>
            <a:ext cx="5486093" cy="2462331"/>
          </a:xfrm>
          <a:prstGeom prst="rect">
            <a:avLst/>
          </a:prstGeom>
        </p:spPr>
      </p:pic>
      <p:pic>
        <p:nvPicPr>
          <p:cNvPr id="4" name="Content Placeholder 3" descr="A comparison of a bar graph&#10;&#10;AI-generated content may be incorrect.">
            <a:extLst>
              <a:ext uri="{FF2B5EF4-FFF2-40B4-BE49-F238E27FC236}">
                <a16:creationId xmlns:a16="http://schemas.microsoft.com/office/drawing/2014/main" id="{529B1E6B-8AA3-F8A5-8EB9-C9952DD96676}"/>
              </a:ext>
            </a:extLst>
          </p:cNvPr>
          <p:cNvPicPr>
            <a:picLocks noGrp="1" noChangeAspect="1"/>
          </p:cNvPicPr>
          <p:nvPr>
            <p:ph idx="1"/>
          </p:nvPr>
        </p:nvPicPr>
        <p:blipFill>
          <a:blip r:embed="rId3"/>
          <a:stretch>
            <a:fillRect/>
          </a:stretch>
        </p:blipFill>
        <p:spPr>
          <a:xfrm>
            <a:off x="271243" y="3734813"/>
            <a:ext cx="5473089" cy="2320226"/>
          </a:xfrm>
          <a:prstGeom prst="rect">
            <a:avLst/>
          </a:prstGeom>
        </p:spPr>
      </p:pic>
      <p:sp>
        <p:nvSpPr>
          <p:cNvPr id="9" name="TextBox 8">
            <a:extLst>
              <a:ext uri="{FF2B5EF4-FFF2-40B4-BE49-F238E27FC236}">
                <a16:creationId xmlns:a16="http://schemas.microsoft.com/office/drawing/2014/main" id="{3EDF5986-C3A8-6DBB-E1C5-DB9064E030AA}"/>
              </a:ext>
            </a:extLst>
          </p:cNvPr>
          <p:cNvSpPr txBox="1"/>
          <p:nvPr/>
        </p:nvSpPr>
        <p:spPr>
          <a:xfrm>
            <a:off x="7202546" y="2575559"/>
            <a:ext cx="4995156" cy="3068857"/>
          </a:xfrm>
          <a:prstGeom prst="rect">
            <a:avLst/>
          </a:prstGeom>
        </p:spPr>
        <p:txBody>
          <a:bodyPr rot="0" spcFirstLastPara="0" vertOverflow="overflow" horzOverflow="overflow" vert="horz" lIns="109728" tIns="109728" rIns="109728" bIns="91440" numCol="1" spcCol="0" rtlCol="0" fromWordArt="0" anchor="t" anchorCtr="0" forceAA="0" compatLnSpc="1">
            <a:prstTxWarp prst="textNoShape">
              <a:avLst/>
            </a:prstTxWarp>
            <a:noAutofit/>
          </a:bodyPr>
          <a:lstStyle/>
          <a:p>
            <a:pPr indent="-285750">
              <a:lnSpc>
                <a:spcPct val="130000"/>
              </a:lnSpc>
              <a:spcBef>
                <a:spcPts val="930"/>
              </a:spcBef>
              <a:buFont typeface="Corbel" panose="020B0503020204020204" pitchFamily="34" charset="0"/>
              <a:buChar char="•"/>
            </a:pPr>
            <a:r>
              <a:rPr lang="en-US" sz="1200" b="1" spc="150" dirty="0">
                <a:solidFill>
                  <a:schemeClr val="tx1">
                    <a:lumMod val="75000"/>
                    <a:lumOff val="25000"/>
                  </a:schemeClr>
                </a:solidFill>
              </a:rPr>
              <a:t>Handled missing values:</a:t>
            </a:r>
            <a:r>
              <a:rPr lang="en-US" sz="1200" spc="150" dirty="0">
                <a:solidFill>
                  <a:schemeClr val="tx1">
                    <a:lumMod val="75000"/>
                    <a:lumOff val="25000"/>
                  </a:schemeClr>
                </a:solidFill>
              </a:rPr>
              <a:t> 11 missing in </a:t>
            </a:r>
            <a:r>
              <a:rPr lang="en-US" sz="1200" spc="150" dirty="0" err="1">
                <a:solidFill>
                  <a:schemeClr val="tx1">
                    <a:lumMod val="75000"/>
                    <a:lumOff val="25000"/>
                  </a:schemeClr>
                </a:solidFill>
              </a:rPr>
              <a:t>TotalCharges</a:t>
            </a:r>
            <a:r>
              <a:rPr lang="en-US" sz="1200" spc="150" dirty="0">
                <a:solidFill>
                  <a:schemeClr val="tx1">
                    <a:lumMod val="75000"/>
                    <a:lumOff val="25000"/>
                  </a:schemeClr>
                </a:solidFill>
              </a:rPr>
              <a:t> filled using median strategy.</a:t>
            </a:r>
            <a:endParaRPr lang="en-US" sz="1200" spc="150" dirty="0">
              <a:solidFill>
                <a:schemeClr val="tx1">
                  <a:lumMod val="75000"/>
                  <a:lumOff val="25000"/>
                </a:schemeClr>
              </a:solidFill>
              <a:ea typeface="Meiryo"/>
            </a:endParaRPr>
          </a:p>
          <a:p>
            <a:pPr indent="-285750">
              <a:lnSpc>
                <a:spcPct val="130000"/>
              </a:lnSpc>
              <a:spcBef>
                <a:spcPts val="930"/>
              </a:spcBef>
              <a:buFont typeface="Corbel" panose="020B0503020204020204" pitchFamily="34" charset="0"/>
              <a:buChar char="•"/>
            </a:pPr>
            <a:r>
              <a:rPr lang="en-US" sz="1200" spc="150" dirty="0">
                <a:solidFill>
                  <a:schemeClr val="tx1">
                    <a:lumMod val="75000"/>
                    <a:lumOff val="25000"/>
                  </a:schemeClr>
                </a:solidFill>
              </a:rPr>
              <a:t>Converted </a:t>
            </a:r>
            <a:r>
              <a:rPr lang="en-US" sz="1200" spc="150" dirty="0" err="1">
                <a:solidFill>
                  <a:schemeClr val="tx1">
                    <a:lumMod val="75000"/>
                    <a:lumOff val="25000"/>
                  </a:schemeClr>
                </a:solidFill>
              </a:rPr>
              <a:t>TotalCharges</a:t>
            </a:r>
            <a:r>
              <a:rPr lang="en-US" sz="1200" spc="150" dirty="0">
                <a:solidFill>
                  <a:schemeClr val="tx1">
                    <a:lumMod val="75000"/>
                    <a:lumOff val="25000"/>
                  </a:schemeClr>
                </a:solidFill>
              </a:rPr>
              <a:t> (object → float).</a:t>
            </a:r>
            <a:endParaRPr lang="en-US" sz="1200" spc="150" dirty="0">
              <a:solidFill>
                <a:schemeClr val="tx1">
                  <a:lumMod val="75000"/>
                  <a:lumOff val="25000"/>
                </a:schemeClr>
              </a:solidFill>
              <a:ea typeface="Meiryo"/>
            </a:endParaRPr>
          </a:p>
          <a:p>
            <a:pPr indent="-285750">
              <a:lnSpc>
                <a:spcPct val="130000"/>
              </a:lnSpc>
              <a:spcBef>
                <a:spcPts val="930"/>
              </a:spcBef>
              <a:buFont typeface="Corbel" panose="020B0503020204020204" pitchFamily="34" charset="0"/>
              <a:buChar char="•"/>
            </a:pPr>
            <a:r>
              <a:rPr lang="en-US" sz="1200" spc="150" dirty="0">
                <a:solidFill>
                  <a:schemeClr val="tx1">
                    <a:lumMod val="75000"/>
                    <a:lumOff val="25000"/>
                  </a:schemeClr>
                </a:solidFill>
              </a:rPr>
              <a:t>Removed duplicate rows.</a:t>
            </a:r>
            <a:endParaRPr lang="en-US" sz="1200" spc="150" dirty="0">
              <a:solidFill>
                <a:schemeClr val="tx1">
                  <a:lumMod val="75000"/>
                  <a:lumOff val="25000"/>
                </a:schemeClr>
              </a:solidFill>
              <a:ea typeface="Meiryo"/>
            </a:endParaRPr>
          </a:p>
          <a:p>
            <a:pPr indent="-285750">
              <a:lnSpc>
                <a:spcPct val="130000"/>
              </a:lnSpc>
              <a:spcBef>
                <a:spcPts val="930"/>
              </a:spcBef>
              <a:buFont typeface="Corbel" panose="020B0503020204020204" pitchFamily="34" charset="0"/>
              <a:buChar char="•"/>
            </a:pPr>
            <a:r>
              <a:rPr lang="en-US" sz="1200" spc="150" dirty="0">
                <a:solidFill>
                  <a:schemeClr val="tx1">
                    <a:lumMod val="75000"/>
                    <a:lumOff val="25000"/>
                  </a:schemeClr>
                </a:solidFill>
              </a:rPr>
              <a:t>Outliers detected using </a:t>
            </a:r>
            <a:r>
              <a:rPr lang="en-US" sz="1200" b="1" spc="150" dirty="0">
                <a:solidFill>
                  <a:schemeClr val="tx1">
                    <a:lumMod val="75000"/>
                    <a:lumOff val="25000"/>
                  </a:schemeClr>
                </a:solidFill>
              </a:rPr>
              <a:t>IQR and Isolation Forest</a:t>
            </a:r>
            <a:r>
              <a:rPr lang="en-US" sz="1200" spc="150" dirty="0">
                <a:solidFill>
                  <a:schemeClr val="tx1">
                    <a:lumMod val="75000"/>
                    <a:lumOff val="25000"/>
                  </a:schemeClr>
                </a:solidFill>
              </a:rPr>
              <a:t>.</a:t>
            </a:r>
            <a:endParaRPr lang="en-US" sz="1200" spc="150" dirty="0">
              <a:solidFill>
                <a:schemeClr val="tx1">
                  <a:lumMod val="75000"/>
                  <a:lumOff val="25000"/>
                </a:schemeClr>
              </a:solidFill>
              <a:ea typeface="Meiryo"/>
            </a:endParaRPr>
          </a:p>
          <a:p>
            <a:pPr indent="-285750">
              <a:lnSpc>
                <a:spcPct val="130000"/>
              </a:lnSpc>
              <a:spcBef>
                <a:spcPts val="930"/>
              </a:spcBef>
              <a:buFont typeface="Corbel" panose="020B0503020204020204" pitchFamily="34" charset="0"/>
              <a:buChar char="•"/>
            </a:pPr>
            <a:r>
              <a:rPr lang="en-US" sz="1200" spc="150" dirty="0">
                <a:solidFill>
                  <a:schemeClr val="tx1">
                    <a:lumMod val="75000"/>
                    <a:lumOff val="25000"/>
                  </a:schemeClr>
                </a:solidFill>
              </a:rPr>
              <a:t>Applied </a:t>
            </a:r>
            <a:r>
              <a:rPr lang="en-US" sz="1200" b="1" spc="150" dirty="0" err="1">
                <a:solidFill>
                  <a:schemeClr val="tx1">
                    <a:lumMod val="75000"/>
                    <a:lumOff val="25000"/>
                  </a:schemeClr>
                </a:solidFill>
              </a:rPr>
              <a:t>Winsorization</a:t>
            </a:r>
            <a:r>
              <a:rPr lang="en-US" sz="1200" spc="150" dirty="0">
                <a:solidFill>
                  <a:schemeClr val="tx1">
                    <a:lumMod val="75000"/>
                    <a:lumOff val="25000"/>
                  </a:schemeClr>
                </a:solidFill>
              </a:rPr>
              <a:t> for stable distributions.</a:t>
            </a:r>
            <a:endParaRPr lang="en-US" sz="1200" spc="150" dirty="0">
              <a:solidFill>
                <a:schemeClr val="tx1">
                  <a:lumMod val="75000"/>
                  <a:lumOff val="25000"/>
                </a:schemeClr>
              </a:solidFill>
              <a:ea typeface="Meiryo"/>
            </a:endParaRPr>
          </a:p>
          <a:p>
            <a:pPr indent="-285750">
              <a:lnSpc>
                <a:spcPct val="130000"/>
              </a:lnSpc>
              <a:spcBef>
                <a:spcPts val="930"/>
              </a:spcBef>
              <a:buFont typeface="Corbel" panose="020B0503020204020204" pitchFamily="34" charset="0"/>
              <a:buChar char="•"/>
            </a:pPr>
            <a:r>
              <a:rPr lang="en-US" sz="1200" spc="150" dirty="0">
                <a:solidFill>
                  <a:schemeClr val="tx1">
                    <a:lumMod val="75000"/>
                    <a:lumOff val="25000"/>
                  </a:schemeClr>
                </a:solidFill>
              </a:rPr>
              <a:t>Handled categorical inconsistencies.</a:t>
            </a:r>
            <a:endParaRPr lang="en-US" sz="1200" spc="150" dirty="0">
              <a:solidFill>
                <a:schemeClr val="tx1">
                  <a:lumMod val="75000"/>
                  <a:lumOff val="25000"/>
                </a:schemeClr>
              </a:solidFill>
              <a:ea typeface="Meiryo"/>
            </a:endParaRPr>
          </a:p>
          <a:p>
            <a:pPr>
              <a:lnSpc>
                <a:spcPct val="130000"/>
              </a:lnSpc>
              <a:spcBef>
                <a:spcPts val="930"/>
              </a:spcBef>
              <a:buFont typeface="Corbel" panose="020B0503020204020204" pitchFamily="34" charset="0"/>
            </a:pPr>
            <a:endParaRPr lang="en-US" sz="1200" spc="150" dirty="0">
              <a:solidFill>
                <a:schemeClr val="tx1">
                  <a:lumMod val="75000"/>
                  <a:lumOff val="25000"/>
                </a:schemeClr>
              </a:solidFill>
              <a:ea typeface="Meiryo"/>
            </a:endParaRPr>
          </a:p>
        </p:txBody>
      </p:sp>
    </p:spTree>
    <p:extLst>
      <p:ext uri="{BB962C8B-B14F-4D97-AF65-F5344CB8AC3E}">
        <p14:creationId xmlns:p14="http://schemas.microsoft.com/office/powerpoint/2010/main" val="33207021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10CE40DC-5723-449B-A365-A61D8C262E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3"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pic>
        <p:nvPicPr>
          <p:cNvPr id="4" name="Content Placeholder 3" descr="A screenshot of a diagram&#10;&#10;AI-generated content may be incorrect.">
            <a:extLst>
              <a:ext uri="{FF2B5EF4-FFF2-40B4-BE49-F238E27FC236}">
                <a16:creationId xmlns:a16="http://schemas.microsoft.com/office/drawing/2014/main" id="{2D06E1C1-125F-6CD5-126C-F90F18A2E886}"/>
              </a:ext>
            </a:extLst>
          </p:cNvPr>
          <p:cNvPicPr>
            <a:picLocks noGrp="1" noChangeAspect="1"/>
          </p:cNvPicPr>
          <p:nvPr>
            <p:ph idx="1"/>
          </p:nvPr>
        </p:nvPicPr>
        <p:blipFill>
          <a:blip r:embed="rId2"/>
          <a:srcRect t="18519" r="-1" b="16809"/>
          <a:stretch>
            <a:fillRect/>
          </a:stretch>
        </p:blipFill>
        <p:spPr>
          <a:xfrm>
            <a:off x="1524" y="10"/>
            <a:ext cx="12188952" cy="6857990"/>
          </a:xfrm>
          <a:prstGeom prst="rect">
            <a:avLst/>
          </a:prstGeom>
        </p:spPr>
      </p:pic>
      <p:sp>
        <p:nvSpPr>
          <p:cNvPr id="32" name="Freeform: Shape 31">
            <a:extLst>
              <a:ext uri="{FF2B5EF4-FFF2-40B4-BE49-F238E27FC236}">
                <a16:creationId xmlns:a16="http://schemas.microsoft.com/office/drawing/2014/main" id="{28207E96-6DFF-4119-B2EA-3299067D2F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42598" y="0"/>
            <a:ext cx="10189600" cy="6858000"/>
          </a:xfrm>
          <a:custGeom>
            <a:avLst/>
            <a:gdLst>
              <a:gd name="connsiteX0" fmla="*/ 8513625 w 10189600"/>
              <a:gd name="connsiteY0" fmla="*/ 0 h 6858000"/>
              <a:gd name="connsiteX1" fmla="*/ 1434689 w 10189600"/>
              <a:gd name="connsiteY1" fmla="*/ 0 h 6858000"/>
              <a:gd name="connsiteX2" fmla="*/ 1271976 w 10189600"/>
              <a:gd name="connsiteY2" fmla="*/ 160651 h 6858000"/>
              <a:gd name="connsiteX3" fmla="*/ 0 w 10189600"/>
              <a:gd name="connsiteY3" fmla="*/ 3879329 h 6858000"/>
              <a:gd name="connsiteX4" fmla="*/ 1565101 w 10189600"/>
              <a:gd name="connsiteY4" fmla="*/ 6659296 h 6858000"/>
              <a:gd name="connsiteX5" fmla="*/ 1789426 w 10189600"/>
              <a:gd name="connsiteY5" fmla="*/ 6858000 h 6858000"/>
              <a:gd name="connsiteX6" fmla="*/ 8868328 w 10189600"/>
              <a:gd name="connsiteY6" fmla="*/ 6858000 h 6858000"/>
              <a:gd name="connsiteX7" fmla="*/ 8925683 w 10189600"/>
              <a:gd name="connsiteY7" fmla="*/ 6804604 h 6858000"/>
              <a:gd name="connsiteX8" fmla="*/ 10189600 w 10189600"/>
              <a:gd name="connsiteY8" fmla="*/ 4217082 h 6858000"/>
              <a:gd name="connsiteX9" fmla="*/ 8536469 w 10189600"/>
              <a:gd name="connsiteY9" fmla="*/ 1746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189600" h="6858000">
                <a:moveTo>
                  <a:pt x="8513625" y="0"/>
                </a:moveTo>
                <a:lnTo>
                  <a:pt x="1434689" y="0"/>
                </a:lnTo>
                <a:lnTo>
                  <a:pt x="1271976" y="160651"/>
                </a:lnTo>
                <a:cubicBezTo>
                  <a:pt x="451613" y="1030749"/>
                  <a:pt x="0" y="2373165"/>
                  <a:pt x="0" y="3879329"/>
                </a:cubicBezTo>
                <a:cubicBezTo>
                  <a:pt x="0" y="5207145"/>
                  <a:pt x="731040" y="5919527"/>
                  <a:pt x="1565101" y="6659296"/>
                </a:cubicBezTo>
                <a:lnTo>
                  <a:pt x="1789426" y="6858000"/>
                </a:lnTo>
                <a:lnTo>
                  <a:pt x="8868328" y="6858000"/>
                </a:lnTo>
                <a:lnTo>
                  <a:pt x="8925683" y="6804604"/>
                </a:lnTo>
                <a:cubicBezTo>
                  <a:pt x="9627437" y="6132444"/>
                  <a:pt x="10189600" y="5418356"/>
                  <a:pt x="10189600" y="4217082"/>
                </a:cubicBezTo>
                <a:cubicBezTo>
                  <a:pt x="10189600" y="2437327"/>
                  <a:pt x="9597144" y="878708"/>
                  <a:pt x="8536469" y="17461"/>
                </a:cubicBezTo>
                <a:close/>
              </a:path>
            </a:pathLst>
          </a:cu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3" name="Freeform: Shape 32">
            <a:extLst>
              <a:ext uri="{FF2B5EF4-FFF2-40B4-BE49-F238E27FC236}">
                <a16:creationId xmlns:a16="http://schemas.microsoft.com/office/drawing/2014/main" id="{9E223C86-12C5-4A60-A21A-D7FC75EFC6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57813" y="0"/>
            <a:ext cx="1323453" cy="6858000"/>
          </a:xfrm>
          <a:custGeom>
            <a:avLst/>
            <a:gdLst>
              <a:gd name="connsiteX0" fmla="*/ 28443 w 1323453"/>
              <a:gd name="connsiteY0" fmla="*/ 0 h 6858000"/>
              <a:gd name="connsiteX1" fmla="*/ 10519 w 1323453"/>
              <a:gd name="connsiteY1" fmla="*/ 0 h 6858000"/>
              <a:gd name="connsiteX2" fmla="*/ 37377 w 1323453"/>
              <a:gd name="connsiteY2" fmla="*/ 27367 h 6858000"/>
              <a:gd name="connsiteX3" fmla="*/ 1297455 w 1323453"/>
              <a:gd name="connsiteY3" fmla="*/ 4282319 h 6858000"/>
              <a:gd name="connsiteX4" fmla="*/ 248584 w 1323453"/>
              <a:gd name="connsiteY4" fmla="*/ 6615157 h 6858000"/>
              <a:gd name="connsiteX5" fmla="*/ 0 w 1323453"/>
              <a:gd name="connsiteY5" fmla="*/ 6858000 h 6858000"/>
              <a:gd name="connsiteX6" fmla="*/ 19869 w 1323453"/>
              <a:gd name="connsiteY6" fmla="*/ 6858000 h 6858000"/>
              <a:gd name="connsiteX7" fmla="*/ 267461 w 1323453"/>
              <a:gd name="connsiteY7" fmla="*/ 6616128 h 6858000"/>
              <a:gd name="connsiteX8" fmla="*/ 1316330 w 1323453"/>
              <a:gd name="connsiteY8" fmla="*/ 4283289 h 6858000"/>
              <a:gd name="connsiteX9" fmla="*/ 56253 w 1323453"/>
              <a:gd name="connsiteY9" fmla="*/ 2833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23453" h="6858000">
                <a:moveTo>
                  <a:pt x="28443" y="0"/>
                </a:moveTo>
                <a:lnTo>
                  <a:pt x="10519" y="0"/>
                </a:lnTo>
                <a:lnTo>
                  <a:pt x="37377" y="27367"/>
                </a:lnTo>
                <a:cubicBezTo>
                  <a:pt x="919519" y="995374"/>
                  <a:pt x="1367465" y="2551123"/>
                  <a:pt x="1297455" y="4282319"/>
                </a:cubicBezTo>
                <a:cubicBezTo>
                  <a:pt x="1254252" y="5350659"/>
                  <a:pt x="821705" y="6026831"/>
                  <a:pt x="248584" y="6615157"/>
                </a:cubicBezTo>
                <a:lnTo>
                  <a:pt x="0" y="6858000"/>
                </a:lnTo>
                <a:lnTo>
                  <a:pt x="19869" y="6858000"/>
                </a:lnTo>
                <a:lnTo>
                  <a:pt x="267461" y="6616128"/>
                </a:lnTo>
                <a:cubicBezTo>
                  <a:pt x="840581" y="6027802"/>
                  <a:pt x="1273128" y="5351630"/>
                  <a:pt x="1316330" y="4283289"/>
                </a:cubicBezTo>
                <a:cubicBezTo>
                  <a:pt x="1386340" y="2552094"/>
                  <a:pt x="938396" y="996343"/>
                  <a:pt x="56253" y="28337"/>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34" name="Freeform: Shape 33">
            <a:extLst>
              <a:ext uri="{FF2B5EF4-FFF2-40B4-BE49-F238E27FC236}">
                <a16:creationId xmlns:a16="http://schemas.microsoft.com/office/drawing/2014/main" id="{FA573AF0-3C0B-4895-A7A6-F41B032115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8645" y="0"/>
            <a:ext cx="1561993" cy="6858000"/>
          </a:xfrm>
          <a:custGeom>
            <a:avLst/>
            <a:gdLst>
              <a:gd name="connsiteX0" fmla="*/ 1544228 w 1561993"/>
              <a:gd name="connsiteY0" fmla="*/ 0 h 6858000"/>
              <a:gd name="connsiteX1" fmla="*/ 1561993 w 1561993"/>
              <a:gd name="connsiteY1" fmla="*/ 0 h 6858000"/>
              <a:gd name="connsiteX2" fmla="*/ 1540943 w 1561993"/>
              <a:gd name="connsiteY2" fmla="*/ 17040 h 6858000"/>
              <a:gd name="connsiteX3" fmla="*/ 17765 w 1561993"/>
              <a:gd name="connsiteY3" fmla="*/ 4115040 h 6858000"/>
              <a:gd name="connsiteX4" fmla="*/ 1142901 w 1561993"/>
              <a:gd name="connsiteY4" fmla="*/ 6599739 h 6858000"/>
              <a:gd name="connsiteX5" fmla="*/ 1403744 w 1561993"/>
              <a:gd name="connsiteY5" fmla="*/ 6858000 h 6858000"/>
              <a:gd name="connsiteX6" fmla="*/ 1385980 w 1561993"/>
              <a:gd name="connsiteY6" fmla="*/ 6858000 h 6858000"/>
              <a:gd name="connsiteX7" fmla="*/ 1125137 w 1561993"/>
              <a:gd name="connsiteY7" fmla="*/ 6599739 h 6858000"/>
              <a:gd name="connsiteX8" fmla="*/ 0 w 1561993"/>
              <a:gd name="connsiteY8" fmla="*/ 4115040 h 6858000"/>
              <a:gd name="connsiteX9" fmla="*/ 1523178 w 1561993"/>
              <a:gd name="connsiteY9" fmla="*/ 1704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61993" h="6858000">
                <a:moveTo>
                  <a:pt x="1544228" y="0"/>
                </a:moveTo>
                <a:lnTo>
                  <a:pt x="1561993" y="0"/>
                </a:lnTo>
                <a:lnTo>
                  <a:pt x="1540943" y="17040"/>
                </a:lnTo>
                <a:cubicBezTo>
                  <a:pt x="563647" y="857447"/>
                  <a:pt x="17765" y="2378351"/>
                  <a:pt x="17765" y="4115040"/>
                </a:cubicBezTo>
                <a:cubicBezTo>
                  <a:pt x="17765" y="5263323"/>
                  <a:pt x="514810" y="5955416"/>
                  <a:pt x="1142901" y="6599739"/>
                </a:cubicBezTo>
                <a:lnTo>
                  <a:pt x="1403744" y="6858000"/>
                </a:lnTo>
                <a:lnTo>
                  <a:pt x="1385980" y="6858000"/>
                </a:lnTo>
                <a:lnTo>
                  <a:pt x="1125137" y="6599739"/>
                </a:lnTo>
                <a:cubicBezTo>
                  <a:pt x="497046" y="5955416"/>
                  <a:pt x="0" y="5263323"/>
                  <a:pt x="0" y="4115040"/>
                </a:cubicBezTo>
                <a:cubicBezTo>
                  <a:pt x="0" y="2378351"/>
                  <a:pt x="545882" y="857447"/>
                  <a:pt x="1523178" y="17040"/>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9" name="Freeform: Shape 28">
            <a:extLst>
              <a:ext uri="{FF2B5EF4-FFF2-40B4-BE49-F238E27FC236}">
                <a16:creationId xmlns:a16="http://schemas.microsoft.com/office/drawing/2014/main" id="{62442AC3-A9B0-4865-8A8A-1504FFC6E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434283" y="0"/>
            <a:ext cx="1904278" cy="6858000"/>
          </a:xfrm>
          <a:custGeom>
            <a:avLst/>
            <a:gdLst>
              <a:gd name="connsiteX0" fmla="*/ 624262 w 1775065"/>
              <a:gd name="connsiteY0" fmla="*/ 0 h 6858000"/>
              <a:gd name="connsiteX1" fmla="*/ 642233 w 1775065"/>
              <a:gd name="connsiteY1" fmla="*/ 0 h 6858000"/>
              <a:gd name="connsiteX2" fmla="*/ 673003 w 1775065"/>
              <a:gd name="connsiteY2" fmla="*/ 35111 h 6858000"/>
              <a:gd name="connsiteX3" fmla="*/ 1767974 w 1775065"/>
              <a:gd name="connsiteY3" fmla="*/ 3968278 h 6858000"/>
              <a:gd name="connsiteX4" fmla="*/ 115603 w 1775065"/>
              <a:gd name="connsiteY4" fmla="*/ 6776131 h 6858000"/>
              <a:gd name="connsiteX5" fmla="*/ 19890 w 1775065"/>
              <a:gd name="connsiteY5" fmla="*/ 6858000 h 6858000"/>
              <a:gd name="connsiteX6" fmla="*/ 0 w 1775065"/>
              <a:gd name="connsiteY6" fmla="*/ 6858000 h 6858000"/>
              <a:gd name="connsiteX7" fmla="*/ 96809 w 1775065"/>
              <a:gd name="connsiteY7" fmla="*/ 6775193 h 6858000"/>
              <a:gd name="connsiteX8" fmla="*/ 1749182 w 1775065"/>
              <a:gd name="connsiteY8" fmla="*/ 3967340 h 6858000"/>
              <a:gd name="connsiteX9" fmla="*/ 654209 w 1775065"/>
              <a:gd name="connsiteY9" fmla="*/ 3417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75065" h="6858000">
                <a:moveTo>
                  <a:pt x="624262" y="0"/>
                </a:moveTo>
                <a:lnTo>
                  <a:pt x="642233" y="0"/>
                </a:lnTo>
                <a:lnTo>
                  <a:pt x="673003" y="35111"/>
                </a:lnTo>
                <a:cubicBezTo>
                  <a:pt x="1445427" y="977982"/>
                  <a:pt x="1833320" y="2398562"/>
                  <a:pt x="1767974" y="3968278"/>
                </a:cubicBezTo>
                <a:cubicBezTo>
                  <a:pt x="1710622" y="5345972"/>
                  <a:pt x="964135" y="6049363"/>
                  <a:pt x="115603" y="6776131"/>
                </a:cubicBezTo>
                <a:lnTo>
                  <a:pt x="19890" y="6858000"/>
                </a:lnTo>
                <a:lnTo>
                  <a:pt x="0" y="6858000"/>
                </a:lnTo>
                <a:lnTo>
                  <a:pt x="96809" y="6775193"/>
                </a:lnTo>
                <a:cubicBezTo>
                  <a:pt x="945341" y="6048424"/>
                  <a:pt x="1691828" y="5345034"/>
                  <a:pt x="1749182" y="3967340"/>
                </a:cubicBezTo>
                <a:cubicBezTo>
                  <a:pt x="1814528" y="2397623"/>
                  <a:pt x="1426634" y="977044"/>
                  <a:pt x="654209" y="34172"/>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31" name="Freeform: Shape 30">
            <a:extLst>
              <a:ext uri="{FF2B5EF4-FFF2-40B4-BE49-F238E27FC236}">
                <a16:creationId xmlns:a16="http://schemas.microsoft.com/office/drawing/2014/main" id="{68451DCE-129E-43B6-BA50-3C8339E461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89577" y="0"/>
            <a:ext cx="1825312" cy="6858000"/>
          </a:xfrm>
          <a:custGeom>
            <a:avLst/>
            <a:gdLst>
              <a:gd name="connsiteX0" fmla="*/ 516683 w 1825312"/>
              <a:gd name="connsiteY0" fmla="*/ 0 h 6858000"/>
              <a:gd name="connsiteX1" fmla="*/ 541088 w 1825312"/>
              <a:gd name="connsiteY1" fmla="*/ 0 h 6858000"/>
              <a:gd name="connsiteX2" fmla="*/ 626170 w 1825312"/>
              <a:gd name="connsiteY2" fmla="*/ 99144 h 6858000"/>
              <a:gd name="connsiteX3" fmla="*/ 1825312 w 1825312"/>
              <a:gd name="connsiteY3" fmla="*/ 3859833 h 6858000"/>
              <a:gd name="connsiteX4" fmla="*/ 279633 w 1825312"/>
              <a:gd name="connsiteY4" fmla="*/ 6651338 h 6858000"/>
              <a:gd name="connsiteX5" fmla="*/ 24403 w 1825312"/>
              <a:gd name="connsiteY5" fmla="*/ 6858000 h 6858000"/>
              <a:gd name="connsiteX6" fmla="*/ 0 w 1825312"/>
              <a:gd name="connsiteY6" fmla="*/ 6858000 h 6858000"/>
              <a:gd name="connsiteX7" fmla="*/ 255230 w 1825312"/>
              <a:gd name="connsiteY7" fmla="*/ 6651338 h 6858000"/>
              <a:gd name="connsiteX8" fmla="*/ 1800907 w 1825312"/>
              <a:gd name="connsiteY8" fmla="*/ 3859833 h 6858000"/>
              <a:gd name="connsiteX9" fmla="*/ 601765 w 1825312"/>
              <a:gd name="connsiteY9" fmla="*/ 9914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25312" h="6858000">
                <a:moveTo>
                  <a:pt x="516683" y="0"/>
                </a:moveTo>
                <a:lnTo>
                  <a:pt x="541088" y="0"/>
                </a:lnTo>
                <a:lnTo>
                  <a:pt x="626170" y="99144"/>
                </a:lnTo>
                <a:cubicBezTo>
                  <a:pt x="1403484" y="1069501"/>
                  <a:pt x="1825312" y="2396484"/>
                  <a:pt x="1825312" y="3859833"/>
                </a:cubicBezTo>
                <a:cubicBezTo>
                  <a:pt x="1825312" y="5149904"/>
                  <a:pt x="1142485" y="5927455"/>
                  <a:pt x="279633" y="6651338"/>
                </a:cubicBezTo>
                <a:lnTo>
                  <a:pt x="24403" y="6858000"/>
                </a:lnTo>
                <a:lnTo>
                  <a:pt x="0" y="6858000"/>
                </a:lnTo>
                <a:lnTo>
                  <a:pt x="255230" y="6651338"/>
                </a:lnTo>
                <a:cubicBezTo>
                  <a:pt x="1118082" y="5927455"/>
                  <a:pt x="1800907" y="5149904"/>
                  <a:pt x="1800907" y="3859833"/>
                </a:cubicBezTo>
                <a:cubicBezTo>
                  <a:pt x="1800907" y="2396484"/>
                  <a:pt x="1379079" y="1069501"/>
                  <a:pt x="601765" y="99144"/>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9263B829-68F4-4E6D-59E7-79C10DABE956}"/>
              </a:ext>
            </a:extLst>
          </p:cNvPr>
          <p:cNvSpPr>
            <a:spLocks noGrp="1"/>
          </p:cNvSpPr>
          <p:nvPr>
            <p:ph type="title"/>
          </p:nvPr>
        </p:nvSpPr>
        <p:spPr>
          <a:xfrm>
            <a:off x="1974712" y="2611"/>
            <a:ext cx="7727505" cy="1986850"/>
          </a:xfrm>
        </p:spPr>
        <p:txBody>
          <a:bodyPr vert="horz" lIns="109728" tIns="109728" rIns="109728" bIns="91440" rtlCol="0" anchor="b">
            <a:normAutofit/>
          </a:bodyPr>
          <a:lstStyle/>
          <a:p>
            <a:r>
              <a:rPr lang="en-US" dirty="0"/>
              <a:t>Exploratory Data Analysis - EDA</a:t>
            </a:r>
          </a:p>
        </p:txBody>
      </p:sp>
      <p:sp>
        <p:nvSpPr>
          <p:cNvPr id="5" name="TextBox 4">
            <a:extLst>
              <a:ext uri="{FF2B5EF4-FFF2-40B4-BE49-F238E27FC236}">
                <a16:creationId xmlns:a16="http://schemas.microsoft.com/office/drawing/2014/main" id="{8933E271-8CBE-BC22-28F8-C7E9D995E293}"/>
              </a:ext>
            </a:extLst>
          </p:cNvPr>
          <p:cNvSpPr txBox="1"/>
          <p:nvPr/>
        </p:nvSpPr>
        <p:spPr>
          <a:xfrm>
            <a:off x="1948881" y="2193818"/>
            <a:ext cx="7985810" cy="4532418"/>
          </a:xfrm>
          <a:prstGeom prst="rect">
            <a:avLst/>
          </a:prstGeom>
        </p:spPr>
        <p:txBody>
          <a:bodyPr rot="0" spcFirstLastPara="0" vertOverflow="overflow" horzOverflow="overflow" vert="horz" lIns="109728" tIns="109728" rIns="109728" bIns="91440" numCol="1" spcCol="0" rtlCol="0" fromWordArt="0" anchor="t" anchorCtr="0" forceAA="0" compatLnSpc="1">
            <a:prstTxWarp prst="textNoShape">
              <a:avLst/>
            </a:prstTxWarp>
            <a:normAutofit/>
          </a:bodyPr>
          <a:lstStyle/>
          <a:p>
            <a:pPr>
              <a:lnSpc>
                <a:spcPct val="130000"/>
              </a:lnSpc>
              <a:spcBef>
                <a:spcPts val="930"/>
              </a:spcBef>
              <a:buFont typeface="Corbel" panose="020B0503020204020204" pitchFamily="34" charset="0"/>
            </a:pPr>
            <a:r>
              <a:rPr lang="en-US" sz="1400" spc="150" dirty="0">
                <a:solidFill>
                  <a:schemeClr val="tx1">
                    <a:lumMod val="75000"/>
                    <a:lumOff val="25000"/>
                  </a:schemeClr>
                </a:solidFill>
              </a:rPr>
              <a:t>The exploratory analysis revealed several interesting trends about customer behavior. Customers with </a:t>
            </a:r>
            <a:r>
              <a:rPr lang="en-US" sz="1400" i="1" spc="150" dirty="0">
                <a:solidFill>
                  <a:schemeClr val="tx1">
                    <a:lumMod val="75000"/>
                    <a:lumOff val="25000"/>
                  </a:schemeClr>
                </a:solidFill>
              </a:rPr>
              <a:t>month-to-month contracts</a:t>
            </a:r>
            <a:r>
              <a:rPr lang="en-US" sz="1400" spc="150" dirty="0">
                <a:solidFill>
                  <a:schemeClr val="tx1">
                    <a:lumMod val="75000"/>
                    <a:lumOff val="25000"/>
                  </a:schemeClr>
                </a:solidFill>
              </a:rPr>
              <a:t> showed a significantly higher tendency to churn compared to those on long-term contracts. Similarly, those using </a:t>
            </a:r>
            <a:r>
              <a:rPr lang="en-US" sz="1400" i="1" spc="150" dirty="0">
                <a:solidFill>
                  <a:schemeClr val="tx1">
                    <a:lumMod val="75000"/>
                    <a:lumOff val="25000"/>
                  </a:schemeClr>
                </a:solidFill>
              </a:rPr>
              <a:t>electronic check payments</a:t>
            </a:r>
            <a:r>
              <a:rPr lang="en-US" sz="1400" spc="150" dirty="0">
                <a:solidFill>
                  <a:schemeClr val="tx1">
                    <a:lumMod val="75000"/>
                    <a:lumOff val="25000"/>
                  </a:schemeClr>
                </a:solidFill>
              </a:rPr>
              <a:t> were more likely to leave, possibly due to the lack of automation or ease of use.</a:t>
            </a:r>
            <a:br>
              <a:rPr lang="en-US" sz="1400" spc="150" dirty="0"/>
            </a:br>
            <a:r>
              <a:rPr lang="en-US" sz="1400" spc="150" dirty="0">
                <a:solidFill>
                  <a:schemeClr val="tx1">
                    <a:lumMod val="75000"/>
                    <a:lumOff val="25000"/>
                  </a:schemeClr>
                </a:solidFill>
              </a:rPr>
              <a:t> It was also observed that customers with shorter tenure, especially under one year, were three times more likely to churn. Correlation analysis showed that </a:t>
            </a:r>
            <a:r>
              <a:rPr lang="en-US" sz="1400" spc="150" err="1">
                <a:solidFill>
                  <a:schemeClr val="tx1">
                    <a:lumMod val="75000"/>
                    <a:lumOff val="25000"/>
                  </a:schemeClr>
                </a:solidFill>
              </a:rPr>
              <a:t>MonthlyCharges</a:t>
            </a:r>
            <a:r>
              <a:rPr lang="en-US" sz="1400" spc="150" dirty="0">
                <a:solidFill>
                  <a:schemeClr val="tx1">
                    <a:lumMod val="75000"/>
                    <a:lumOff val="25000"/>
                  </a:schemeClr>
                </a:solidFill>
              </a:rPr>
              <a:t> and </a:t>
            </a:r>
            <a:r>
              <a:rPr lang="en-US" sz="1400" spc="150" err="1">
                <a:solidFill>
                  <a:schemeClr val="tx1">
                    <a:lumMod val="75000"/>
                    <a:lumOff val="25000"/>
                  </a:schemeClr>
                </a:solidFill>
              </a:rPr>
              <a:t>TotalCharges</a:t>
            </a:r>
            <a:r>
              <a:rPr lang="en-US" sz="1400" spc="150" dirty="0">
                <a:solidFill>
                  <a:schemeClr val="tx1">
                    <a:lumMod val="75000"/>
                    <a:lumOff val="25000"/>
                  </a:schemeClr>
                </a:solidFill>
              </a:rPr>
              <a:t> had a positive relationship, while tenure had a negative correlation with churn. These patterns highlight how contract duration and payment preferences strongly influence customer loyalty.</a:t>
            </a:r>
            <a:endParaRPr lang="en-US" sz="1400" spc="150" dirty="0">
              <a:solidFill>
                <a:schemeClr val="tx1">
                  <a:lumMod val="75000"/>
                  <a:lumOff val="25000"/>
                </a:schemeClr>
              </a:solidFill>
              <a:ea typeface="Meiryo"/>
            </a:endParaRPr>
          </a:p>
        </p:txBody>
      </p:sp>
    </p:spTree>
    <p:extLst>
      <p:ext uri="{BB962C8B-B14F-4D97-AF65-F5344CB8AC3E}">
        <p14:creationId xmlns:p14="http://schemas.microsoft.com/office/powerpoint/2010/main" val="32684880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2F24225-0E3A-40A5-A927-CEFC144381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3"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10" name="Freeform: Shape 9">
            <a:extLst>
              <a:ext uri="{FF2B5EF4-FFF2-40B4-BE49-F238E27FC236}">
                <a16:creationId xmlns:a16="http://schemas.microsoft.com/office/drawing/2014/main" id="{5B02B8FB-EF36-4677-B5B5-E9B989F25E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83796" cy="6858000"/>
          </a:xfrm>
          <a:custGeom>
            <a:avLst/>
            <a:gdLst>
              <a:gd name="connsiteX0" fmla="*/ 0 w 4583796"/>
              <a:gd name="connsiteY0" fmla="*/ 0 h 6858000"/>
              <a:gd name="connsiteX1" fmla="*/ 1087374 w 4583796"/>
              <a:gd name="connsiteY1" fmla="*/ 0 h 6858000"/>
              <a:gd name="connsiteX2" fmla="*/ 1598212 w 4583796"/>
              <a:gd name="connsiteY2" fmla="*/ 0 h 6858000"/>
              <a:gd name="connsiteX3" fmla="*/ 2960773 w 4583796"/>
              <a:gd name="connsiteY3" fmla="*/ 0 h 6858000"/>
              <a:gd name="connsiteX4" fmla="*/ 2982897 w 4583796"/>
              <a:gd name="connsiteY4" fmla="*/ 14997 h 6858000"/>
              <a:gd name="connsiteX5" fmla="*/ 4583796 w 4583796"/>
              <a:gd name="connsiteY5" fmla="*/ 3621656 h 6858000"/>
              <a:gd name="connsiteX6" fmla="*/ 2709446 w 4583796"/>
              <a:gd name="connsiteY6" fmla="*/ 6374814 h 6858000"/>
              <a:gd name="connsiteX7" fmla="*/ 2192798 w 4583796"/>
              <a:gd name="connsiteY7" fmla="*/ 6780599 h 6858000"/>
              <a:gd name="connsiteX8" fmla="*/ 2081042 w 4583796"/>
              <a:gd name="connsiteY8" fmla="*/ 6858000 h 6858000"/>
              <a:gd name="connsiteX9" fmla="*/ 1598212 w 4583796"/>
              <a:gd name="connsiteY9" fmla="*/ 6858000 h 6858000"/>
              <a:gd name="connsiteX10" fmla="*/ 1087374 w 4583796"/>
              <a:gd name="connsiteY10" fmla="*/ 6858000 h 6858000"/>
              <a:gd name="connsiteX11" fmla="*/ 0 w 4583796"/>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583796" h="6858000">
                <a:moveTo>
                  <a:pt x="0" y="0"/>
                </a:moveTo>
                <a:lnTo>
                  <a:pt x="1087374" y="0"/>
                </a:lnTo>
                <a:lnTo>
                  <a:pt x="1598212" y="0"/>
                </a:lnTo>
                <a:lnTo>
                  <a:pt x="2960773" y="0"/>
                </a:lnTo>
                <a:lnTo>
                  <a:pt x="2982897" y="14997"/>
                </a:lnTo>
                <a:cubicBezTo>
                  <a:pt x="4010060" y="754641"/>
                  <a:pt x="4583796" y="2093192"/>
                  <a:pt x="4583796" y="3621656"/>
                </a:cubicBezTo>
                <a:cubicBezTo>
                  <a:pt x="4583796" y="4969131"/>
                  <a:pt x="3655071" y="5602839"/>
                  <a:pt x="2709446" y="6374814"/>
                </a:cubicBezTo>
                <a:cubicBezTo>
                  <a:pt x="2537243" y="6515397"/>
                  <a:pt x="2366616" y="6653108"/>
                  <a:pt x="2192798" y="6780599"/>
                </a:cubicBezTo>
                <a:lnTo>
                  <a:pt x="2081042" y="6858000"/>
                </a:lnTo>
                <a:lnTo>
                  <a:pt x="1598212" y="6858000"/>
                </a:lnTo>
                <a:lnTo>
                  <a:pt x="1087374" y="6858000"/>
                </a:lnTo>
                <a:lnTo>
                  <a:pt x="0" y="6858000"/>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2" name="Freeform: Shape 11">
            <a:extLst>
              <a:ext uri="{FF2B5EF4-FFF2-40B4-BE49-F238E27FC236}">
                <a16:creationId xmlns:a16="http://schemas.microsoft.com/office/drawing/2014/main" id="{BE30D5C6-EC5C-4D78-8689-1B6822BFF7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500120" y="0"/>
            <a:ext cx="2529723" cy="6858000"/>
          </a:xfrm>
          <a:custGeom>
            <a:avLst/>
            <a:gdLst>
              <a:gd name="connsiteX0" fmla="*/ 1258269 w 2529723"/>
              <a:gd name="connsiteY0" fmla="*/ 0 h 6858000"/>
              <a:gd name="connsiteX1" fmla="*/ 1275627 w 2529723"/>
              <a:gd name="connsiteY1" fmla="*/ 0 h 6858000"/>
              <a:gd name="connsiteX2" fmla="*/ 1302560 w 2529723"/>
              <a:gd name="connsiteY2" fmla="*/ 24338 h 6858000"/>
              <a:gd name="connsiteX3" fmla="*/ 2522825 w 2529723"/>
              <a:gd name="connsiteY3" fmla="*/ 3678515 h 6858000"/>
              <a:gd name="connsiteX4" fmla="*/ 557500 w 2529723"/>
              <a:gd name="connsiteY4" fmla="*/ 6451411 h 6858000"/>
              <a:gd name="connsiteX5" fmla="*/ 32482 w 2529723"/>
              <a:gd name="connsiteY5" fmla="*/ 6849373 h 6858000"/>
              <a:gd name="connsiteX6" fmla="*/ 19531 w 2529723"/>
              <a:gd name="connsiteY6" fmla="*/ 6858000 h 6858000"/>
              <a:gd name="connsiteX7" fmla="*/ 0 w 2529723"/>
              <a:gd name="connsiteY7" fmla="*/ 6858000 h 6858000"/>
              <a:gd name="connsiteX8" fmla="*/ 14202 w 2529723"/>
              <a:gd name="connsiteY8" fmla="*/ 6848540 h 6858000"/>
              <a:gd name="connsiteX9" fmla="*/ 539221 w 2529723"/>
              <a:gd name="connsiteY9" fmla="*/ 6450578 h 6858000"/>
              <a:gd name="connsiteX10" fmla="*/ 2504546 w 2529723"/>
              <a:gd name="connsiteY10" fmla="*/ 3677682 h 6858000"/>
              <a:gd name="connsiteX11" fmla="*/ 1284280 w 2529723"/>
              <a:gd name="connsiteY11" fmla="*/ 235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9723" h="685800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14" name="Freeform: Shape 13">
            <a:extLst>
              <a:ext uri="{FF2B5EF4-FFF2-40B4-BE49-F238E27FC236}">
                <a16:creationId xmlns:a16="http://schemas.microsoft.com/office/drawing/2014/main" id="{12A73499-12A4-4080-B0DE-351867697F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0113" y="0"/>
            <a:ext cx="2536434" cy="6858000"/>
          </a:xfrm>
          <a:custGeom>
            <a:avLst/>
            <a:gdLst>
              <a:gd name="connsiteX0" fmla="*/ 879731 w 2536434"/>
              <a:gd name="connsiteY0" fmla="*/ 0 h 6858000"/>
              <a:gd name="connsiteX1" fmla="*/ 913411 w 2536434"/>
              <a:gd name="connsiteY1" fmla="*/ 0 h 6858000"/>
              <a:gd name="connsiteX2" fmla="*/ 935535 w 2536434"/>
              <a:gd name="connsiteY2" fmla="*/ 14997 h 6858000"/>
              <a:gd name="connsiteX3" fmla="*/ 2536434 w 2536434"/>
              <a:gd name="connsiteY3" fmla="*/ 3621656 h 6858000"/>
              <a:gd name="connsiteX4" fmla="*/ 662084 w 2536434"/>
              <a:gd name="connsiteY4" fmla="*/ 6374814 h 6858000"/>
              <a:gd name="connsiteX5" fmla="*/ 145436 w 2536434"/>
              <a:gd name="connsiteY5" fmla="*/ 6780599 h 6858000"/>
              <a:gd name="connsiteX6" fmla="*/ 33680 w 2536434"/>
              <a:gd name="connsiteY6" fmla="*/ 6858000 h 6858000"/>
              <a:gd name="connsiteX7" fmla="*/ 0 w 2536434"/>
              <a:gd name="connsiteY7" fmla="*/ 6858000 h 6858000"/>
              <a:gd name="connsiteX8" fmla="*/ 111756 w 2536434"/>
              <a:gd name="connsiteY8" fmla="*/ 6780599 h 6858000"/>
              <a:gd name="connsiteX9" fmla="*/ 628404 w 2536434"/>
              <a:gd name="connsiteY9" fmla="*/ 6374814 h 6858000"/>
              <a:gd name="connsiteX10" fmla="*/ 2502754 w 2536434"/>
              <a:gd name="connsiteY10" fmla="*/ 3621656 h 6858000"/>
              <a:gd name="connsiteX11" fmla="*/ 901855 w 2536434"/>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16" name="Freeform: Shape 15">
            <a:extLst>
              <a:ext uri="{FF2B5EF4-FFF2-40B4-BE49-F238E27FC236}">
                <a16:creationId xmlns:a16="http://schemas.microsoft.com/office/drawing/2014/main" id="{60A52FE6-BB17-4BE4-BFA1-8896FD7CFA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048872" y="0"/>
            <a:ext cx="2261351" cy="6858000"/>
          </a:xfrm>
          <a:custGeom>
            <a:avLst/>
            <a:gdLst>
              <a:gd name="connsiteX0" fmla="*/ 879731 w 2521425"/>
              <a:gd name="connsiteY0" fmla="*/ 0 h 6858000"/>
              <a:gd name="connsiteX1" fmla="*/ 898402 w 2521425"/>
              <a:gd name="connsiteY1" fmla="*/ 0 h 6858000"/>
              <a:gd name="connsiteX2" fmla="*/ 920526 w 2521425"/>
              <a:gd name="connsiteY2" fmla="*/ 14997 h 6858000"/>
              <a:gd name="connsiteX3" fmla="*/ 2521425 w 2521425"/>
              <a:gd name="connsiteY3" fmla="*/ 3621656 h 6858000"/>
              <a:gd name="connsiteX4" fmla="*/ 647075 w 2521425"/>
              <a:gd name="connsiteY4" fmla="*/ 6374814 h 6858000"/>
              <a:gd name="connsiteX5" fmla="*/ 130427 w 2521425"/>
              <a:gd name="connsiteY5" fmla="*/ 6780599 h 6858000"/>
              <a:gd name="connsiteX6" fmla="*/ 18671 w 2521425"/>
              <a:gd name="connsiteY6" fmla="*/ 6858000 h 6858000"/>
              <a:gd name="connsiteX7" fmla="*/ 0 w 2521425"/>
              <a:gd name="connsiteY7" fmla="*/ 6858000 h 6858000"/>
              <a:gd name="connsiteX8" fmla="*/ 111756 w 2521425"/>
              <a:gd name="connsiteY8" fmla="*/ 6780599 h 6858000"/>
              <a:gd name="connsiteX9" fmla="*/ 628404 w 2521425"/>
              <a:gd name="connsiteY9" fmla="*/ 6374814 h 6858000"/>
              <a:gd name="connsiteX10" fmla="*/ 2502754 w 2521425"/>
              <a:gd name="connsiteY10" fmla="*/ 3621656 h 6858000"/>
              <a:gd name="connsiteX11" fmla="*/ 901855 w 2521425"/>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1425" h="6858000">
                <a:moveTo>
                  <a:pt x="879731" y="0"/>
                </a:moveTo>
                <a:lnTo>
                  <a:pt x="898402" y="0"/>
                </a:lnTo>
                <a:lnTo>
                  <a:pt x="920526" y="14997"/>
                </a:lnTo>
                <a:cubicBezTo>
                  <a:pt x="1947689" y="754641"/>
                  <a:pt x="2521425" y="2093192"/>
                  <a:pt x="2521425" y="3621656"/>
                </a:cubicBezTo>
                <a:cubicBezTo>
                  <a:pt x="2521425" y="4969131"/>
                  <a:pt x="1592700" y="5602839"/>
                  <a:pt x="647075" y="6374814"/>
                </a:cubicBezTo>
                <a:cubicBezTo>
                  <a:pt x="474872" y="6515397"/>
                  <a:pt x="304245" y="6653108"/>
                  <a:pt x="130427" y="6780599"/>
                </a:cubicBezTo>
                <a:lnTo>
                  <a:pt x="18671"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18" name="Freeform: Shape 17">
            <a:extLst>
              <a:ext uri="{FF2B5EF4-FFF2-40B4-BE49-F238E27FC236}">
                <a16:creationId xmlns:a16="http://schemas.microsoft.com/office/drawing/2014/main" id="{A7BBF837-70DD-4FFD-A87C-FAD1F5D8AB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500120" y="0"/>
            <a:ext cx="2529723" cy="6858000"/>
          </a:xfrm>
          <a:custGeom>
            <a:avLst/>
            <a:gdLst>
              <a:gd name="connsiteX0" fmla="*/ 1258269 w 2529723"/>
              <a:gd name="connsiteY0" fmla="*/ 0 h 6858000"/>
              <a:gd name="connsiteX1" fmla="*/ 1275627 w 2529723"/>
              <a:gd name="connsiteY1" fmla="*/ 0 h 6858000"/>
              <a:gd name="connsiteX2" fmla="*/ 1302560 w 2529723"/>
              <a:gd name="connsiteY2" fmla="*/ 24338 h 6858000"/>
              <a:gd name="connsiteX3" fmla="*/ 2522825 w 2529723"/>
              <a:gd name="connsiteY3" fmla="*/ 3678515 h 6858000"/>
              <a:gd name="connsiteX4" fmla="*/ 557500 w 2529723"/>
              <a:gd name="connsiteY4" fmla="*/ 6451411 h 6858000"/>
              <a:gd name="connsiteX5" fmla="*/ 32482 w 2529723"/>
              <a:gd name="connsiteY5" fmla="*/ 6849373 h 6858000"/>
              <a:gd name="connsiteX6" fmla="*/ 19531 w 2529723"/>
              <a:gd name="connsiteY6" fmla="*/ 6858000 h 6858000"/>
              <a:gd name="connsiteX7" fmla="*/ 0 w 2529723"/>
              <a:gd name="connsiteY7" fmla="*/ 6858000 h 6858000"/>
              <a:gd name="connsiteX8" fmla="*/ 14202 w 2529723"/>
              <a:gd name="connsiteY8" fmla="*/ 6848540 h 6858000"/>
              <a:gd name="connsiteX9" fmla="*/ 539221 w 2529723"/>
              <a:gd name="connsiteY9" fmla="*/ 6450578 h 6858000"/>
              <a:gd name="connsiteX10" fmla="*/ 2504546 w 2529723"/>
              <a:gd name="connsiteY10" fmla="*/ 3677682 h 6858000"/>
              <a:gd name="connsiteX11" fmla="*/ 1284280 w 2529723"/>
              <a:gd name="connsiteY11" fmla="*/ 235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9723" h="685800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0" name="Freeform: Shape 19">
            <a:extLst>
              <a:ext uri="{FF2B5EF4-FFF2-40B4-BE49-F238E27FC236}">
                <a16:creationId xmlns:a16="http://schemas.microsoft.com/office/drawing/2014/main" id="{CE5EB792-CB0B-44C0-9561-24A263D874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0113" y="0"/>
            <a:ext cx="2536434" cy="6858000"/>
          </a:xfrm>
          <a:custGeom>
            <a:avLst/>
            <a:gdLst>
              <a:gd name="connsiteX0" fmla="*/ 879731 w 2536434"/>
              <a:gd name="connsiteY0" fmla="*/ 0 h 6858000"/>
              <a:gd name="connsiteX1" fmla="*/ 913411 w 2536434"/>
              <a:gd name="connsiteY1" fmla="*/ 0 h 6858000"/>
              <a:gd name="connsiteX2" fmla="*/ 935535 w 2536434"/>
              <a:gd name="connsiteY2" fmla="*/ 14997 h 6858000"/>
              <a:gd name="connsiteX3" fmla="*/ 2536434 w 2536434"/>
              <a:gd name="connsiteY3" fmla="*/ 3621656 h 6858000"/>
              <a:gd name="connsiteX4" fmla="*/ 662084 w 2536434"/>
              <a:gd name="connsiteY4" fmla="*/ 6374814 h 6858000"/>
              <a:gd name="connsiteX5" fmla="*/ 145436 w 2536434"/>
              <a:gd name="connsiteY5" fmla="*/ 6780599 h 6858000"/>
              <a:gd name="connsiteX6" fmla="*/ 33680 w 2536434"/>
              <a:gd name="connsiteY6" fmla="*/ 6858000 h 6858000"/>
              <a:gd name="connsiteX7" fmla="*/ 0 w 2536434"/>
              <a:gd name="connsiteY7" fmla="*/ 6858000 h 6858000"/>
              <a:gd name="connsiteX8" fmla="*/ 111756 w 2536434"/>
              <a:gd name="connsiteY8" fmla="*/ 6780599 h 6858000"/>
              <a:gd name="connsiteX9" fmla="*/ 628404 w 2536434"/>
              <a:gd name="connsiteY9" fmla="*/ 6374814 h 6858000"/>
              <a:gd name="connsiteX10" fmla="*/ 2502754 w 2536434"/>
              <a:gd name="connsiteY10" fmla="*/ 3621656 h 6858000"/>
              <a:gd name="connsiteX11" fmla="*/ 901855 w 2536434"/>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2" name="Freeform: Shape 21">
            <a:extLst>
              <a:ext uri="{FF2B5EF4-FFF2-40B4-BE49-F238E27FC236}">
                <a16:creationId xmlns:a16="http://schemas.microsoft.com/office/drawing/2014/main" id="{C0FB4A96-0FD5-4642-8CE2-57623A3A42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048872" y="0"/>
            <a:ext cx="2261351" cy="6858000"/>
          </a:xfrm>
          <a:custGeom>
            <a:avLst/>
            <a:gdLst>
              <a:gd name="connsiteX0" fmla="*/ 879731 w 2521425"/>
              <a:gd name="connsiteY0" fmla="*/ 0 h 6858000"/>
              <a:gd name="connsiteX1" fmla="*/ 898402 w 2521425"/>
              <a:gd name="connsiteY1" fmla="*/ 0 h 6858000"/>
              <a:gd name="connsiteX2" fmla="*/ 920526 w 2521425"/>
              <a:gd name="connsiteY2" fmla="*/ 14997 h 6858000"/>
              <a:gd name="connsiteX3" fmla="*/ 2521425 w 2521425"/>
              <a:gd name="connsiteY3" fmla="*/ 3621656 h 6858000"/>
              <a:gd name="connsiteX4" fmla="*/ 647075 w 2521425"/>
              <a:gd name="connsiteY4" fmla="*/ 6374814 h 6858000"/>
              <a:gd name="connsiteX5" fmla="*/ 130427 w 2521425"/>
              <a:gd name="connsiteY5" fmla="*/ 6780599 h 6858000"/>
              <a:gd name="connsiteX6" fmla="*/ 18671 w 2521425"/>
              <a:gd name="connsiteY6" fmla="*/ 6858000 h 6858000"/>
              <a:gd name="connsiteX7" fmla="*/ 0 w 2521425"/>
              <a:gd name="connsiteY7" fmla="*/ 6858000 h 6858000"/>
              <a:gd name="connsiteX8" fmla="*/ 111756 w 2521425"/>
              <a:gd name="connsiteY8" fmla="*/ 6780599 h 6858000"/>
              <a:gd name="connsiteX9" fmla="*/ 628404 w 2521425"/>
              <a:gd name="connsiteY9" fmla="*/ 6374814 h 6858000"/>
              <a:gd name="connsiteX10" fmla="*/ 2502754 w 2521425"/>
              <a:gd name="connsiteY10" fmla="*/ 3621656 h 6858000"/>
              <a:gd name="connsiteX11" fmla="*/ 901855 w 2521425"/>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1425" h="6858000">
                <a:moveTo>
                  <a:pt x="879731" y="0"/>
                </a:moveTo>
                <a:lnTo>
                  <a:pt x="898402" y="0"/>
                </a:lnTo>
                <a:lnTo>
                  <a:pt x="920526" y="14997"/>
                </a:lnTo>
                <a:cubicBezTo>
                  <a:pt x="1947689" y="754641"/>
                  <a:pt x="2521425" y="2093192"/>
                  <a:pt x="2521425" y="3621656"/>
                </a:cubicBezTo>
                <a:cubicBezTo>
                  <a:pt x="2521425" y="4969131"/>
                  <a:pt x="1592700" y="5602839"/>
                  <a:pt x="647075" y="6374814"/>
                </a:cubicBezTo>
                <a:cubicBezTo>
                  <a:pt x="474872" y="6515397"/>
                  <a:pt x="304245" y="6653108"/>
                  <a:pt x="130427" y="6780599"/>
                </a:cubicBezTo>
                <a:lnTo>
                  <a:pt x="18671"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2" name="Title 1">
            <a:extLst>
              <a:ext uri="{FF2B5EF4-FFF2-40B4-BE49-F238E27FC236}">
                <a16:creationId xmlns:a16="http://schemas.microsoft.com/office/drawing/2014/main" id="{84F65F4D-D413-3799-790D-7554B0816896}"/>
              </a:ext>
            </a:extLst>
          </p:cNvPr>
          <p:cNvSpPr>
            <a:spLocks noGrp="1"/>
          </p:cNvSpPr>
          <p:nvPr>
            <p:ph type="title"/>
          </p:nvPr>
        </p:nvSpPr>
        <p:spPr>
          <a:xfrm>
            <a:off x="830218" y="1833229"/>
            <a:ext cx="3161338" cy="2934031"/>
          </a:xfrm>
        </p:spPr>
        <p:txBody>
          <a:bodyPr anchor="ctr">
            <a:normAutofit/>
          </a:bodyPr>
          <a:lstStyle/>
          <a:p>
            <a:r>
              <a:rPr lang="en-US" dirty="0">
                <a:ea typeface="Meiryo"/>
              </a:rPr>
              <a:t>Feature Engineering</a:t>
            </a:r>
            <a:endParaRPr lang="en-US" dirty="0"/>
          </a:p>
        </p:txBody>
      </p:sp>
      <p:sp>
        <p:nvSpPr>
          <p:cNvPr id="3" name="Content Placeholder 2">
            <a:extLst>
              <a:ext uri="{FF2B5EF4-FFF2-40B4-BE49-F238E27FC236}">
                <a16:creationId xmlns:a16="http://schemas.microsoft.com/office/drawing/2014/main" id="{7B13B872-2620-A6D6-2787-682E8122DBDE}"/>
              </a:ext>
            </a:extLst>
          </p:cNvPr>
          <p:cNvSpPr>
            <a:spLocks noGrp="1"/>
          </p:cNvSpPr>
          <p:nvPr>
            <p:ph idx="1"/>
          </p:nvPr>
        </p:nvSpPr>
        <p:spPr>
          <a:xfrm>
            <a:off x="5025784" y="1105306"/>
            <a:ext cx="7152213" cy="5538553"/>
          </a:xfrm>
        </p:spPr>
        <p:txBody>
          <a:bodyPr vert="horz" lIns="109728" tIns="109728" rIns="109728" bIns="91440" rtlCol="0" anchor="ctr">
            <a:normAutofit/>
          </a:bodyPr>
          <a:lstStyle/>
          <a:p>
            <a:pPr>
              <a:lnSpc>
                <a:spcPct val="130000"/>
              </a:lnSpc>
            </a:pPr>
            <a:r>
              <a:rPr lang="en-US" dirty="0">
                <a:solidFill>
                  <a:schemeClr val="bg1"/>
                </a:solidFill>
                <a:ea typeface="+mn-lt"/>
                <a:cs typeface="+mn-lt"/>
              </a:rPr>
              <a:t>To improve model performance, extensive feature engineering was performed. Categorical variables such as contract type, internet service, and payment method were transformed using one-hot encoding, while numerical variables were standardized using scaling techniques.</a:t>
            </a:r>
            <a:br>
              <a:rPr lang="en-US" dirty="0">
                <a:ea typeface="+mn-lt"/>
                <a:cs typeface="+mn-lt"/>
              </a:rPr>
            </a:br>
            <a:r>
              <a:rPr lang="en-US" dirty="0">
                <a:solidFill>
                  <a:schemeClr val="bg1"/>
                </a:solidFill>
                <a:ea typeface="+mn-lt"/>
                <a:cs typeface="+mn-lt"/>
              </a:rPr>
              <a:t> Feature selection was carried out using correlation analysis, Variance Inflation Factor (VIF), and Recursive Feature Elimination (RFE). Tree-based models like Random Forest were also used to evaluate feature importance. As a result, the final dataset contained only the most relevant features, reducing redundancy and improving model interpretability.</a:t>
            </a:r>
          </a:p>
          <a:p>
            <a:pPr>
              <a:lnSpc>
                <a:spcPct val="130000"/>
              </a:lnSpc>
            </a:pPr>
            <a:endParaRPr lang="en-US" sz="1300">
              <a:ea typeface="Meiryo"/>
            </a:endParaRPr>
          </a:p>
        </p:txBody>
      </p:sp>
    </p:spTree>
    <p:extLst>
      <p:ext uri="{BB962C8B-B14F-4D97-AF65-F5344CB8AC3E}">
        <p14:creationId xmlns:p14="http://schemas.microsoft.com/office/powerpoint/2010/main" val="37402272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49BB7E9A-6937-4BF0-9F51-A20F197B55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3"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2" name="Title 1">
            <a:extLst>
              <a:ext uri="{FF2B5EF4-FFF2-40B4-BE49-F238E27FC236}">
                <a16:creationId xmlns:a16="http://schemas.microsoft.com/office/drawing/2014/main" id="{62414809-716E-B5FF-DB93-6B059DED8F63}"/>
              </a:ext>
            </a:extLst>
          </p:cNvPr>
          <p:cNvSpPr>
            <a:spLocks noGrp="1"/>
          </p:cNvSpPr>
          <p:nvPr>
            <p:ph type="title"/>
          </p:nvPr>
        </p:nvSpPr>
        <p:spPr>
          <a:xfrm>
            <a:off x="901485" y="533319"/>
            <a:ext cx="5269739" cy="1176361"/>
          </a:xfrm>
        </p:spPr>
        <p:txBody>
          <a:bodyPr vert="horz" lIns="109728" tIns="109728" rIns="109728" bIns="91440" rtlCol="0" anchor="b">
            <a:normAutofit/>
          </a:bodyPr>
          <a:lstStyle/>
          <a:p>
            <a:r>
              <a:rPr lang="en-US" dirty="0"/>
              <a:t>Regression Modeling</a:t>
            </a:r>
          </a:p>
        </p:txBody>
      </p:sp>
      <p:sp>
        <p:nvSpPr>
          <p:cNvPr id="5" name="TextBox 4">
            <a:extLst>
              <a:ext uri="{FF2B5EF4-FFF2-40B4-BE49-F238E27FC236}">
                <a16:creationId xmlns:a16="http://schemas.microsoft.com/office/drawing/2014/main" id="{A216424F-DAD4-A9B2-559C-A92D5FFB0DF1}"/>
              </a:ext>
            </a:extLst>
          </p:cNvPr>
          <p:cNvSpPr txBox="1"/>
          <p:nvPr/>
        </p:nvSpPr>
        <p:spPr>
          <a:xfrm>
            <a:off x="578604" y="1980111"/>
            <a:ext cx="6059835" cy="4371584"/>
          </a:xfrm>
          <a:prstGeom prst="rect">
            <a:avLst/>
          </a:prstGeom>
        </p:spPr>
        <p:txBody>
          <a:bodyPr rot="0" spcFirstLastPara="0" vertOverflow="overflow" horzOverflow="overflow" vert="horz" lIns="109728" tIns="109728" rIns="109728" bIns="91440" numCol="1" spcCol="0" rtlCol="0" fromWordArt="0" anchor="t" anchorCtr="0" forceAA="0" compatLnSpc="1">
            <a:prstTxWarp prst="textNoShape">
              <a:avLst/>
            </a:prstTxWarp>
            <a:normAutofit/>
          </a:bodyPr>
          <a:lstStyle/>
          <a:p>
            <a:pPr indent="-285750">
              <a:lnSpc>
                <a:spcPct val="130000"/>
              </a:lnSpc>
              <a:spcBef>
                <a:spcPts val="930"/>
              </a:spcBef>
              <a:buFont typeface="Wingdings" panose="020B0503020204020204" pitchFamily="34" charset="0"/>
              <a:buChar char="ü"/>
            </a:pPr>
            <a:r>
              <a:rPr lang="en-US" sz="1600" b="1" spc="150" dirty="0">
                <a:solidFill>
                  <a:schemeClr val="tx1">
                    <a:lumMod val="75000"/>
                    <a:lumOff val="25000"/>
                  </a:schemeClr>
                </a:solidFill>
              </a:rPr>
              <a:t>Models Used:</a:t>
            </a:r>
            <a:r>
              <a:rPr lang="en-US" sz="1600" spc="150" dirty="0">
                <a:solidFill>
                  <a:schemeClr val="tx1">
                    <a:lumMod val="75000"/>
                    <a:lumOff val="25000"/>
                  </a:schemeClr>
                </a:solidFill>
              </a:rPr>
              <a:t> Linear, Ridge, Lasso, Polynomial.</a:t>
            </a:r>
            <a:endParaRPr lang="en-US" sz="1600" spc="150" dirty="0">
              <a:solidFill>
                <a:schemeClr val="tx1">
                  <a:lumMod val="75000"/>
                  <a:lumOff val="25000"/>
                </a:schemeClr>
              </a:solidFill>
              <a:ea typeface="Meiryo"/>
            </a:endParaRPr>
          </a:p>
          <a:p>
            <a:pPr indent="-285750">
              <a:lnSpc>
                <a:spcPct val="130000"/>
              </a:lnSpc>
              <a:spcBef>
                <a:spcPts val="930"/>
              </a:spcBef>
              <a:buFont typeface="Wingdings" panose="020B0503020204020204" pitchFamily="34" charset="0"/>
              <a:buChar char="ü"/>
            </a:pPr>
            <a:r>
              <a:rPr lang="en-US" sz="1600" b="1" spc="150" dirty="0">
                <a:solidFill>
                  <a:schemeClr val="tx1">
                    <a:lumMod val="75000"/>
                    <a:lumOff val="25000"/>
                  </a:schemeClr>
                </a:solidFill>
              </a:rPr>
              <a:t>Why Regression?</a:t>
            </a:r>
            <a:r>
              <a:rPr lang="en-US" sz="1600" spc="150" dirty="0">
                <a:solidFill>
                  <a:schemeClr val="tx1">
                    <a:lumMod val="75000"/>
                    <a:lumOff val="25000"/>
                  </a:schemeClr>
                </a:solidFill>
              </a:rPr>
              <a:t> To understand linear trends between tenure and churn likelihood score.</a:t>
            </a:r>
            <a:endParaRPr lang="en-US" sz="1600" spc="150" dirty="0">
              <a:solidFill>
                <a:schemeClr val="tx1">
                  <a:lumMod val="75000"/>
                  <a:lumOff val="25000"/>
                </a:schemeClr>
              </a:solidFill>
              <a:ea typeface="Meiryo"/>
            </a:endParaRPr>
          </a:p>
          <a:p>
            <a:pPr indent="-285750">
              <a:lnSpc>
                <a:spcPct val="130000"/>
              </a:lnSpc>
              <a:spcBef>
                <a:spcPts val="930"/>
              </a:spcBef>
              <a:buFont typeface="Wingdings" panose="020B0503020204020204" pitchFamily="34" charset="0"/>
              <a:buChar char="ü"/>
            </a:pPr>
            <a:r>
              <a:rPr lang="en-US" sz="1600" b="1" spc="150" dirty="0">
                <a:solidFill>
                  <a:schemeClr val="tx1">
                    <a:lumMod val="75000"/>
                    <a:lumOff val="25000"/>
                  </a:schemeClr>
                </a:solidFill>
              </a:rPr>
              <a:t>Performance Summary:</a:t>
            </a:r>
            <a:endParaRPr lang="en-US" sz="1600" spc="150" dirty="0">
              <a:solidFill>
                <a:schemeClr val="tx1">
                  <a:lumMod val="75000"/>
                  <a:lumOff val="25000"/>
                </a:schemeClr>
              </a:solidFill>
              <a:ea typeface="Meiryo"/>
            </a:endParaRPr>
          </a:p>
          <a:p>
            <a:pPr marL="0" lvl="1" indent="-285750">
              <a:lnSpc>
                <a:spcPct val="130000"/>
              </a:lnSpc>
              <a:spcBef>
                <a:spcPts val="930"/>
              </a:spcBef>
              <a:buFont typeface="Wingdings" panose="020B0503020204020204" pitchFamily="34" charset="0"/>
              <a:buChar char="ü"/>
            </a:pPr>
            <a:r>
              <a:rPr lang="en-US" sz="1600" spc="150" dirty="0">
                <a:solidFill>
                  <a:schemeClr val="tx1">
                    <a:lumMod val="75000"/>
                    <a:lumOff val="25000"/>
                  </a:schemeClr>
                </a:solidFill>
              </a:rPr>
              <a:t>Ridge: R² = 0.83, RMSE = 0.42</a:t>
            </a:r>
            <a:endParaRPr lang="en-US" sz="1600" spc="150" dirty="0">
              <a:solidFill>
                <a:schemeClr val="tx1">
                  <a:lumMod val="75000"/>
                  <a:lumOff val="25000"/>
                </a:schemeClr>
              </a:solidFill>
              <a:ea typeface="Meiryo"/>
            </a:endParaRPr>
          </a:p>
          <a:p>
            <a:pPr marL="0" lvl="1" indent="-285750">
              <a:lnSpc>
                <a:spcPct val="130000"/>
              </a:lnSpc>
              <a:spcBef>
                <a:spcPts val="930"/>
              </a:spcBef>
              <a:buFont typeface="Wingdings" panose="020B0503020204020204" pitchFamily="34" charset="0"/>
              <a:buChar char="ü"/>
            </a:pPr>
            <a:r>
              <a:rPr lang="en-US" sz="1600" spc="150" dirty="0">
                <a:solidFill>
                  <a:schemeClr val="tx1">
                    <a:lumMod val="75000"/>
                    <a:lumOff val="25000"/>
                  </a:schemeClr>
                </a:solidFill>
              </a:rPr>
              <a:t>Lasso: R² = 0.81</a:t>
            </a:r>
            <a:endParaRPr lang="en-US" sz="1600" spc="150" dirty="0">
              <a:solidFill>
                <a:schemeClr val="tx1">
                  <a:lumMod val="75000"/>
                  <a:lumOff val="25000"/>
                </a:schemeClr>
              </a:solidFill>
              <a:ea typeface="Meiryo"/>
            </a:endParaRPr>
          </a:p>
          <a:p>
            <a:pPr marL="0" lvl="1" indent="-285750">
              <a:lnSpc>
                <a:spcPct val="130000"/>
              </a:lnSpc>
              <a:spcBef>
                <a:spcPts val="930"/>
              </a:spcBef>
              <a:buFont typeface="Wingdings" panose="020B0503020204020204" pitchFamily="34" charset="0"/>
              <a:buChar char="ü"/>
            </a:pPr>
            <a:r>
              <a:rPr lang="en-US" sz="1600" spc="150" dirty="0">
                <a:solidFill>
                  <a:schemeClr val="tx1">
                    <a:lumMod val="75000"/>
                    <a:lumOff val="25000"/>
                  </a:schemeClr>
                </a:solidFill>
              </a:rPr>
              <a:t>Linear: R² = 0.76</a:t>
            </a:r>
            <a:endParaRPr lang="en-US" sz="1600" spc="150" dirty="0">
              <a:solidFill>
                <a:schemeClr val="tx1">
                  <a:lumMod val="75000"/>
                  <a:lumOff val="25000"/>
                </a:schemeClr>
              </a:solidFill>
              <a:ea typeface="Meiryo"/>
            </a:endParaRPr>
          </a:p>
          <a:p>
            <a:pPr indent="-285750">
              <a:lnSpc>
                <a:spcPct val="130000"/>
              </a:lnSpc>
              <a:spcBef>
                <a:spcPts val="930"/>
              </a:spcBef>
              <a:buFont typeface="Wingdings" panose="020B0503020204020204" pitchFamily="34" charset="0"/>
              <a:buChar char="ü"/>
            </a:pPr>
            <a:r>
              <a:rPr lang="en-US" sz="1600" spc="150" dirty="0">
                <a:solidFill>
                  <a:schemeClr val="tx1">
                    <a:lumMod val="75000"/>
                    <a:lumOff val="25000"/>
                  </a:schemeClr>
                </a:solidFill>
              </a:rPr>
              <a:t>Ridge chosen for best bias-variance balance.</a:t>
            </a:r>
            <a:endParaRPr lang="en-US" sz="1600" spc="150" dirty="0">
              <a:solidFill>
                <a:schemeClr val="tx1">
                  <a:lumMod val="75000"/>
                  <a:lumOff val="25000"/>
                </a:schemeClr>
              </a:solidFill>
              <a:ea typeface="Meiryo"/>
            </a:endParaRPr>
          </a:p>
          <a:p>
            <a:pPr>
              <a:lnSpc>
                <a:spcPct val="130000"/>
              </a:lnSpc>
              <a:spcBef>
                <a:spcPts val="930"/>
              </a:spcBef>
              <a:buFont typeface="Corbel" panose="020B0503020204020204" pitchFamily="34" charset="0"/>
            </a:pPr>
            <a:endParaRPr lang="en-US" sz="1300" b="1" spc="150">
              <a:solidFill>
                <a:schemeClr val="tx1">
                  <a:lumMod val="75000"/>
                  <a:lumOff val="25000"/>
                </a:schemeClr>
              </a:solidFill>
            </a:endParaRPr>
          </a:p>
        </p:txBody>
      </p:sp>
      <p:sp>
        <p:nvSpPr>
          <p:cNvPr id="32" name="Freeform: Shape 31">
            <a:extLst>
              <a:ext uri="{FF2B5EF4-FFF2-40B4-BE49-F238E27FC236}">
                <a16:creationId xmlns:a16="http://schemas.microsoft.com/office/drawing/2014/main" id="{E0939753-89D7-48A8-8441-B9FF25CE8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04167" y="0"/>
            <a:ext cx="5687681" cy="5708856"/>
          </a:xfrm>
          <a:custGeom>
            <a:avLst/>
            <a:gdLst>
              <a:gd name="connsiteX0" fmla="*/ 2787282 w 5687681"/>
              <a:gd name="connsiteY0" fmla="*/ 0 h 5708856"/>
              <a:gd name="connsiteX1" fmla="*/ 3988996 w 5687681"/>
              <a:gd name="connsiteY1" fmla="*/ 0 h 5708856"/>
              <a:gd name="connsiteX2" fmla="*/ 4236253 w 5687681"/>
              <a:gd name="connsiteY2" fmla="*/ 68070 h 5708856"/>
              <a:gd name="connsiteX3" fmla="*/ 4483543 w 5687681"/>
              <a:gd name="connsiteY3" fmla="*/ 168573 h 5708856"/>
              <a:gd name="connsiteX4" fmla="*/ 5265611 w 5687681"/>
              <a:gd name="connsiteY4" fmla="*/ 790441 h 5708856"/>
              <a:gd name="connsiteX5" fmla="*/ 5682608 w 5687681"/>
              <a:gd name="connsiteY5" fmla="*/ 1499885 h 5708856"/>
              <a:gd name="connsiteX6" fmla="*/ 5687681 w 5687681"/>
              <a:gd name="connsiteY6" fmla="*/ 1513862 h 5708856"/>
              <a:gd name="connsiteX7" fmla="*/ 5687681 w 5687681"/>
              <a:gd name="connsiteY7" fmla="*/ 3841322 h 5708856"/>
              <a:gd name="connsiteX8" fmla="*/ 5651147 w 5687681"/>
              <a:gd name="connsiteY8" fmla="*/ 3896489 h 5708856"/>
              <a:gd name="connsiteX9" fmla="*/ 4734255 w 5687681"/>
              <a:gd name="connsiteY9" fmla="*/ 4737639 h 5708856"/>
              <a:gd name="connsiteX10" fmla="*/ 4532663 w 5687681"/>
              <a:gd name="connsiteY10" fmla="*/ 4898543 h 5708856"/>
              <a:gd name="connsiteX11" fmla="*/ 2876165 w 5687681"/>
              <a:gd name="connsiteY11" fmla="*/ 5708856 h 5708856"/>
              <a:gd name="connsiteX12" fmla="*/ 694066 w 5687681"/>
              <a:gd name="connsiteY12" fmla="*/ 4391717 h 5708856"/>
              <a:gd name="connsiteX13" fmla="*/ 461517 w 5687681"/>
              <a:gd name="connsiteY13" fmla="*/ 4054756 h 5708856"/>
              <a:gd name="connsiteX14" fmla="*/ 0 w 5687681"/>
              <a:gd name="connsiteY14" fmla="*/ 2993139 h 5708856"/>
              <a:gd name="connsiteX15" fmla="*/ 278855 w 5687681"/>
              <a:gd name="connsiteY15" fmla="*/ 1849819 h 5708856"/>
              <a:gd name="connsiteX16" fmla="*/ 1047879 w 5687681"/>
              <a:gd name="connsiteY16" fmla="*/ 867400 h 5708856"/>
              <a:gd name="connsiteX17" fmla="*/ 2159714 w 5687681"/>
              <a:gd name="connsiteY17" fmla="*/ 186098 h 5708856"/>
              <a:gd name="connsiteX18" fmla="*/ 2785137 w 5687681"/>
              <a:gd name="connsiteY18" fmla="*/ 372 h 5708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687681" h="5708856">
                <a:moveTo>
                  <a:pt x="2787282" y="0"/>
                </a:moveTo>
                <a:lnTo>
                  <a:pt x="3988996" y="0"/>
                </a:lnTo>
                <a:lnTo>
                  <a:pt x="4236253" y="68070"/>
                </a:lnTo>
                <a:cubicBezTo>
                  <a:pt x="4321147" y="96843"/>
                  <a:pt x="4403628" y="130356"/>
                  <a:pt x="4483543" y="168573"/>
                </a:cubicBezTo>
                <a:cubicBezTo>
                  <a:pt x="4783119" y="311949"/>
                  <a:pt x="5046239" y="521215"/>
                  <a:pt x="5265611" y="790441"/>
                </a:cubicBezTo>
                <a:cubicBezTo>
                  <a:pt x="5433740" y="996857"/>
                  <a:pt x="5573537" y="1235870"/>
                  <a:pt x="5682608" y="1499885"/>
                </a:cubicBezTo>
                <a:lnTo>
                  <a:pt x="5687681" y="1513862"/>
                </a:lnTo>
                <a:lnTo>
                  <a:pt x="5687681" y="3841322"/>
                </a:lnTo>
                <a:lnTo>
                  <a:pt x="5651147" y="3896489"/>
                </a:lnTo>
                <a:cubicBezTo>
                  <a:pt x="5427171" y="4186934"/>
                  <a:pt x="5090625" y="4454446"/>
                  <a:pt x="4734255" y="4737639"/>
                </a:cubicBezTo>
                <a:cubicBezTo>
                  <a:pt x="4668506" y="4789825"/>
                  <a:pt x="4600584" y="4843856"/>
                  <a:pt x="4532663" y="4898543"/>
                </a:cubicBezTo>
                <a:cubicBezTo>
                  <a:pt x="3924681" y="5387974"/>
                  <a:pt x="3480945" y="5708856"/>
                  <a:pt x="2876165" y="5708856"/>
                </a:cubicBezTo>
                <a:cubicBezTo>
                  <a:pt x="1954665" y="5708856"/>
                  <a:pt x="1302047" y="5314966"/>
                  <a:pt x="694066" y="4391717"/>
                </a:cubicBezTo>
                <a:cubicBezTo>
                  <a:pt x="614503" y="4270875"/>
                  <a:pt x="536731" y="4160972"/>
                  <a:pt x="461517" y="4054756"/>
                </a:cubicBezTo>
                <a:cubicBezTo>
                  <a:pt x="149788" y="3614348"/>
                  <a:pt x="0" y="3385316"/>
                  <a:pt x="0" y="2993139"/>
                </a:cubicBezTo>
                <a:cubicBezTo>
                  <a:pt x="0" y="2603731"/>
                  <a:pt x="93889" y="2219065"/>
                  <a:pt x="278855" y="1849819"/>
                </a:cubicBezTo>
                <a:cubicBezTo>
                  <a:pt x="459854" y="1488610"/>
                  <a:pt x="718625" y="1157977"/>
                  <a:pt x="1047879" y="867400"/>
                </a:cubicBezTo>
                <a:cubicBezTo>
                  <a:pt x="1371504" y="581701"/>
                  <a:pt x="1755887" y="346080"/>
                  <a:pt x="2159714" y="186098"/>
                </a:cubicBezTo>
                <a:cubicBezTo>
                  <a:pt x="2367064" y="103803"/>
                  <a:pt x="2576044" y="41801"/>
                  <a:pt x="2785137" y="372"/>
                </a:cubicBezTo>
                <a:close/>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34" name="Freeform: Shape 33">
            <a:extLst>
              <a:ext uri="{FF2B5EF4-FFF2-40B4-BE49-F238E27FC236}">
                <a16:creationId xmlns:a16="http://schemas.microsoft.com/office/drawing/2014/main" id="{9F5CCFC5-858F-4B45-9B10-D49DD0280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25450" y="0"/>
            <a:ext cx="5866550" cy="5788550"/>
          </a:xfrm>
          <a:custGeom>
            <a:avLst/>
            <a:gdLst>
              <a:gd name="connsiteX0" fmla="*/ 2331396 w 5798121"/>
              <a:gd name="connsiteY0" fmla="*/ 0 h 5788550"/>
              <a:gd name="connsiteX1" fmla="*/ 4658651 w 5798121"/>
              <a:gd name="connsiteY1" fmla="*/ 0 h 5788550"/>
              <a:gd name="connsiteX2" fmla="*/ 4682835 w 5798121"/>
              <a:gd name="connsiteY2" fmla="*/ 9816 h 5788550"/>
              <a:gd name="connsiteX3" fmla="*/ 5499667 w 5798121"/>
              <a:gd name="connsiteY3" fmla="*/ 658449 h 5788550"/>
              <a:gd name="connsiteX4" fmla="*/ 5665313 w 5798121"/>
              <a:gd name="connsiteY4" fmla="*/ 884789 h 5788550"/>
              <a:gd name="connsiteX5" fmla="*/ 5798121 w 5798121"/>
              <a:gd name="connsiteY5" fmla="*/ 1110681 h 5788550"/>
              <a:gd name="connsiteX6" fmla="*/ 5798121 w 5798121"/>
              <a:gd name="connsiteY6" fmla="*/ 4016954 h 5788550"/>
              <a:gd name="connsiteX7" fmla="*/ 5706359 w 5798121"/>
              <a:gd name="connsiteY7" fmla="*/ 4121532 h 5788550"/>
              <a:gd name="connsiteX8" fmla="*/ 4944692 w 5798121"/>
              <a:gd name="connsiteY8" fmla="*/ 4775532 h 5788550"/>
              <a:gd name="connsiteX9" fmla="*/ 4734137 w 5798121"/>
              <a:gd name="connsiteY9" fmla="*/ 4943362 h 5788550"/>
              <a:gd name="connsiteX10" fmla="*/ 3004009 w 5798121"/>
              <a:gd name="connsiteY10" fmla="*/ 5788550 h 5788550"/>
              <a:gd name="connsiteX11" fmla="*/ 724917 w 5798121"/>
              <a:gd name="connsiteY11" fmla="*/ 4414722 h 5788550"/>
              <a:gd name="connsiteX12" fmla="*/ 482031 w 5798121"/>
              <a:gd name="connsiteY12" fmla="*/ 4063258 h 5788550"/>
              <a:gd name="connsiteX13" fmla="*/ 0 w 5798121"/>
              <a:gd name="connsiteY13" fmla="*/ 2955950 h 5788550"/>
              <a:gd name="connsiteX14" fmla="*/ 291250 w 5798121"/>
              <a:gd name="connsiteY14" fmla="*/ 1763422 h 5788550"/>
              <a:gd name="connsiteX15" fmla="*/ 1094457 w 5798121"/>
              <a:gd name="connsiteY15" fmla="*/ 738720 h 5788550"/>
              <a:gd name="connsiteX16" fmla="*/ 2255713 w 5798121"/>
              <a:gd name="connsiteY16" fmla="*/ 28095 h 5788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798121" h="5788550">
                <a:moveTo>
                  <a:pt x="2331396" y="0"/>
                </a:moveTo>
                <a:lnTo>
                  <a:pt x="4658651" y="0"/>
                </a:lnTo>
                <a:lnTo>
                  <a:pt x="4682835" y="9816"/>
                </a:lnTo>
                <a:cubicBezTo>
                  <a:pt x="4995727" y="159362"/>
                  <a:pt x="5270543" y="377635"/>
                  <a:pt x="5499667" y="658449"/>
                </a:cubicBezTo>
                <a:cubicBezTo>
                  <a:pt x="5558201" y="730215"/>
                  <a:pt x="5613447" y="805760"/>
                  <a:pt x="5665313" y="884789"/>
                </a:cubicBezTo>
                <a:lnTo>
                  <a:pt x="5798121" y="1110681"/>
                </a:lnTo>
                <a:lnTo>
                  <a:pt x="5798121" y="4016954"/>
                </a:lnTo>
                <a:lnTo>
                  <a:pt x="5706359" y="4121532"/>
                </a:lnTo>
                <a:cubicBezTo>
                  <a:pt x="5491360" y="4341659"/>
                  <a:pt x="5223849" y="4553996"/>
                  <a:pt x="4944692" y="4775532"/>
                </a:cubicBezTo>
                <a:cubicBezTo>
                  <a:pt x="4876021" y="4829964"/>
                  <a:pt x="4805079" y="4886320"/>
                  <a:pt x="4734137" y="4943362"/>
                </a:cubicBezTo>
                <a:cubicBezTo>
                  <a:pt x="4099133" y="5453857"/>
                  <a:pt x="3635672" y="5788550"/>
                  <a:pt x="3004009" y="5788550"/>
                </a:cubicBezTo>
                <a:cubicBezTo>
                  <a:pt x="2041550" y="5788550"/>
                  <a:pt x="1359922" y="5377707"/>
                  <a:pt x="724917" y="4414722"/>
                </a:cubicBezTo>
                <a:cubicBezTo>
                  <a:pt x="641818" y="4288679"/>
                  <a:pt x="560588" y="4174046"/>
                  <a:pt x="482031" y="4063258"/>
                </a:cubicBezTo>
                <a:cubicBezTo>
                  <a:pt x="156446" y="3603895"/>
                  <a:pt x="0" y="3365006"/>
                  <a:pt x="0" y="2955950"/>
                </a:cubicBezTo>
                <a:cubicBezTo>
                  <a:pt x="0" y="2549782"/>
                  <a:pt x="98062" y="2148559"/>
                  <a:pt x="291250" y="1763422"/>
                </a:cubicBezTo>
                <a:cubicBezTo>
                  <a:pt x="480295" y="1386666"/>
                  <a:pt x="750568" y="1041802"/>
                  <a:pt x="1094457" y="738720"/>
                </a:cubicBezTo>
                <a:cubicBezTo>
                  <a:pt x="1432467" y="440725"/>
                  <a:pt x="1833935" y="194963"/>
                  <a:pt x="2255713" y="28095"/>
                </a:cubicBezTo>
                <a:close/>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36" name="Freeform: Shape 35">
            <a:extLst>
              <a:ext uri="{FF2B5EF4-FFF2-40B4-BE49-F238E27FC236}">
                <a16:creationId xmlns:a16="http://schemas.microsoft.com/office/drawing/2014/main" id="{2348ECDC-D455-4B71-90F6-2ECC12B798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23734" y="0"/>
            <a:ext cx="5568114" cy="5577748"/>
          </a:xfrm>
          <a:custGeom>
            <a:avLst/>
            <a:gdLst>
              <a:gd name="connsiteX0" fmla="*/ 2959946 w 5568114"/>
              <a:gd name="connsiteY0" fmla="*/ 0 h 5577748"/>
              <a:gd name="connsiteX1" fmla="*/ 3614224 w 5568114"/>
              <a:gd name="connsiteY1" fmla="*/ 0 h 5577748"/>
              <a:gd name="connsiteX2" fmla="*/ 3844432 w 5568114"/>
              <a:gd name="connsiteY2" fmla="*/ 36392 h 5577748"/>
              <a:gd name="connsiteX3" fmla="*/ 4336826 w 5568114"/>
              <a:gd name="connsiteY3" fmla="*/ 203778 h 5577748"/>
              <a:gd name="connsiteX4" fmla="*/ 5093304 w 5568114"/>
              <a:gd name="connsiteY4" fmla="*/ 806978 h 5577748"/>
              <a:gd name="connsiteX5" fmla="*/ 5496656 w 5568114"/>
              <a:gd name="connsiteY5" fmla="*/ 1495125 h 5577748"/>
              <a:gd name="connsiteX6" fmla="*/ 5568114 w 5568114"/>
              <a:gd name="connsiteY6" fmla="*/ 1692569 h 5577748"/>
              <a:gd name="connsiteX7" fmla="*/ 5568114 w 5568114"/>
              <a:gd name="connsiteY7" fmla="*/ 3665503 h 5577748"/>
              <a:gd name="connsiteX8" fmla="*/ 5466225 w 5568114"/>
              <a:gd name="connsiteY8" fmla="*/ 3819786 h 5577748"/>
              <a:gd name="connsiteX9" fmla="*/ 4579336 w 5568114"/>
              <a:gd name="connsiteY9" fmla="*/ 4635686 h 5577748"/>
              <a:gd name="connsiteX10" fmla="*/ 4384340 w 5568114"/>
              <a:gd name="connsiteY10" fmla="*/ 4791760 h 5577748"/>
              <a:gd name="connsiteX11" fmla="*/ 2782048 w 5568114"/>
              <a:gd name="connsiteY11" fmla="*/ 5577748 h 5577748"/>
              <a:gd name="connsiteX12" fmla="*/ 671354 w 5568114"/>
              <a:gd name="connsiteY12" fmla="*/ 4300148 h 5577748"/>
              <a:gd name="connsiteX13" fmla="*/ 446415 w 5568114"/>
              <a:gd name="connsiteY13" fmla="*/ 3973302 h 5577748"/>
              <a:gd name="connsiteX14" fmla="*/ 0 w 5568114"/>
              <a:gd name="connsiteY14" fmla="*/ 2943554 h 5577748"/>
              <a:gd name="connsiteX15" fmla="*/ 269730 w 5568114"/>
              <a:gd name="connsiteY15" fmla="*/ 1834555 h 5577748"/>
              <a:gd name="connsiteX16" fmla="*/ 1013589 w 5568114"/>
              <a:gd name="connsiteY16" fmla="*/ 881627 h 5577748"/>
              <a:gd name="connsiteX17" fmla="*/ 2089042 w 5568114"/>
              <a:gd name="connsiteY17" fmla="*/ 220777 h 5577748"/>
              <a:gd name="connsiteX18" fmla="*/ 2845684 w 5568114"/>
              <a:gd name="connsiteY18" fmla="*/ 14234 h 5577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568114" h="5577748">
                <a:moveTo>
                  <a:pt x="2959946" y="0"/>
                </a:moveTo>
                <a:lnTo>
                  <a:pt x="3614224" y="0"/>
                </a:lnTo>
                <a:lnTo>
                  <a:pt x="3844432" y="36392"/>
                </a:lnTo>
                <a:cubicBezTo>
                  <a:pt x="4017699" y="73748"/>
                  <a:pt x="4182227" y="129639"/>
                  <a:pt x="4336826" y="203778"/>
                </a:cubicBezTo>
                <a:cubicBezTo>
                  <a:pt x="4626600" y="342850"/>
                  <a:pt x="4881111" y="545834"/>
                  <a:pt x="5093304" y="806978"/>
                </a:cubicBezTo>
                <a:cubicBezTo>
                  <a:pt x="5255931" y="1007198"/>
                  <a:pt x="5391154" y="1239036"/>
                  <a:pt x="5496656" y="1495125"/>
                </a:cubicBezTo>
                <a:lnTo>
                  <a:pt x="5568114" y="1692569"/>
                </a:lnTo>
                <a:lnTo>
                  <a:pt x="5568114" y="3665503"/>
                </a:lnTo>
                <a:lnTo>
                  <a:pt x="5466225" y="3819786"/>
                </a:lnTo>
                <a:cubicBezTo>
                  <a:pt x="5249576" y="4101511"/>
                  <a:pt x="4924044" y="4360994"/>
                  <a:pt x="4579336" y="4635686"/>
                </a:cubicBezTo>
                <a:cubicBezTo>
                  <a:pt x="4515738" y="4686305"/>
                  <a:pt x="4450038" y="4738713"/>
                  <a:pt x="4384340" y="4791760"/>
                </a:cubicBezTo>
                <a:cubicBezTo>
                  <a:pt x="3796254" y="5266498"/>
                  <a:pt x="3367038" y="5577748"/>
                  <a:pt x="2782048" y="5577748"/>
                </a:cubicBezTo>
                <a:cubicBezTo>
                  <a:pt x="1890703" y="5577748"/>
                  <a:pt x="1259439" y="5195682"/>
                  <a:pt x="671354" y="4300148"/>
                </a:cubicBezTo>
                <a:cubicBezTo>
                  <a:pt x="594395" y="4182934"/>
                  <a:pt x="519167" y="4076330"/>
                  <a:pt x="446415" y="3973302"/>
                </a:cubicBezTo>
                <a:cubicBezTo>
                  <a:pt x="144886" y="3546115"/>
                  <a:pt x="0" y="3323958"/>
                  <a:pt x="0" y="2943554"/>
                </a:cubicBezTo>
                <a:cubicBezTo>
                  <a:pt x="0" y="2565835"/>
                  <a:pt x="90816" y="2192716"/>
                  <a:pt x="269730" y="1834555"/>
                </a:cubicBezTo>
                <a:cubicBezTo>
                  <a:pt x="444806" y="1484188"/>
                  <a:pt x="695109" y="1163480"/>
                  <a:pt x="1013589" y="881627"/>
                </a:cubicBezTo>
                <a:cubicBezTo>
                  <a:pt x="1326624" y="604505"/>
                  <a:pt x="1698428" y="375956"/>
                  <a:pt x="2089042" y="220777"/>
                </a:cubicBezTo>
                <a:cubicBezTo>
                  <a:pt x="2339747" y="120996"/>
                  <a:pt x="2592918" y="51971"/>
                  <a:pt x="2845684" y="14234"/>
                </a:cubicBez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pic>
        <p:nvPicPr>
          <p:cNvPr id="4" name="Content Placeholder 3" descr="A graph with a line graph&#10;&#10;AI-generated content may be incorrect.">
            <a:extLst>
              <a:ext uri="{FF2B5EF4-FFF2-40B4-BE49-F238E27FC236}">
                <a16:creationId xmlns:a16="http://schemas.microsoft.com/office/drawing/2014/main" id="{F6546356-67E7-E9B0-DE23-F503398B871B}"/>
              </a:ext>
            </a:extLst>
          </p:cNvPr>
          <p:cNvPicPr>
            <a:picLocks noGrp="1" noChangeAspect="1"/>
          </p:cNvPicPr>
          <p:nvPr>
            <p:ph idx="1"/>
          </p:nvPr>
        </p:nvPicPr>
        <p:blipFill>
          <a:blip r:embed="rId3"/>
          <a:stretch>
            <a:fillRect/>
          </a:stretch>
        </p:blipFill>
        <p:spPr>
          <a:xfrm>
            <a:off x="6820723" y="1978653"/>
            <a:ext cx="5363550" cy="1743476"/>
          </a:xfrm>
          <a:prstGeom prst="rect">
            <a:avLst/>
          </a:prstGeom>
        </p:spPr>
      </p:pic>
    </p:spTree>
    <p:extLst>
      <p:ext uri="{BB962C8B-B14F-4D97-AF65-F5344CB8AC3E}">
        <p14:creationId xmlns:p14="http://schemas.microsoft.com/office/powerpoint/2010/main" val="32145944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51A08AC-F796-409C-AD97-8B476289EC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3"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grpSp>
        <p:nvGrpSpPr>
          <p:cNvPr id="10" name="Group 9">
            <a:extLst>
              <a:ext uri="{FF2B5EF4-FFF2-40B4-BE49-F238E27FC236}">
                <a16:creationId xmlns:a16="http://schemas.microsoft.com/office/drawing/2014/main" id="{1E1B312B-4E9A-405C-9CE8-10325438035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0"/>
            <a:ext cx="10853745" cy="6858000"/>
            <a:chOff x="-1" y="0"/>
            <a:chExt cx="10934058" cy="6858000"/>
          </a:xfrm>
        </p:grpSpPr>
        <p:sp>
          <p:nvSpPr>
            <p:cNvPr id="11" name="Freeform: Shape 10">
              <a:extLst>
                <a:ext uri="{FF2B5EF4-FFF2-40B4-BE49-F238E27FC236}">
                  <a16:creationId xmlns:a16="http://schemas.microsoft.com/office/drawing/2014/main" id="{027ED404-4912-4C80-B5EB-98E67EB26A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0"/>
              <a:ext cx="10515600" cy="6858000"/>
            </a:xfrm>
            <a:custGeom>
              <a:avLst/>
              <a:gdLst>
                <a:gd name="connsiteX0" fmla="*/ 0 w 10515600"/>
                <a:gd name="connsiteY0" fmla="*/ 0 h 6858000"/>
                <a:gd name="connsiteX1" fmla="*/ 3039549 w 10515600"/>
                <a:gd name="connsiteY1" fmla="*/ 0 h 6858000"/>
                <a:gd name="connsiteX2" fmla="*/ 3387573 w 10515600"/>
                <a:gd name="connsiteY2" fmla="*/ 0 h 6858000"/>
                <a:gd name="connsiteX3" fmla="*/ 3678072 w 10515600"/>
                <a:gd name="connsiteY3" fmla="*/ 0 h 6858000"/>
                <a:gd name="connsiteX4" fmla="*/ 3721524 w 10515600"/>
                <a:gd name="connsiteY4" fmla="*/ 0 h 6858000"/>
                <a:gd name="connsiteX5" fmla="*/ 4595394 w 10515600"/>
                <a:gd name="connsiteY5" fmla="*/ 0 h 6858000"/>
                <a:gd name="connsiteX6" fmla="*/ 4607603 w 10515600"/>
                <a:gd name="connsiteY6" fmla="*/ 0 h 6858000"/>
                <a:gd name="connsiteX7" fmla="*/ 4733044 w 10515600"/>
                <a:gd name="connsiteY7" fmla="*/ 0 h 6858000"/>
                <a:gd name="connsiteX8" fmla="*/ 6226185 w 10515600"/>
                <a:gd name="connsiteY8" fmla="*/ 0 h 6858000"/>
                <a:gd name="connsiteX9" fmla="*/ 8892577 w 10515600"/>
                <a:gd name="connsiteY9" fmla="*/ 0 h 6858000"/>
                <a:gd name="connsiteX10" fmla="*/ 8914701 w 10515600"/>
                <a:gd name="connsiteY10" fmla="*/ 14997 h 6858000"/>
                <a:gd name="connsiteX11" fmla="*/ 10515600 w 10515600"/>
                <a:gd name="connsiteY11" fmla="*/ 3621656 h 6858000"/>
                <a:gd name="connsiteX12" fmla="*/ 8641250 w 10515600"/>
                <a:gd name="connsiteY12" fmla="*/ 6374814 h 6858000"/>
                <a:gd name="connsiteX13" fmla="*/ 8124602 w 10515600"/>
                <a:gd name="connsiteY13" fmla="*/ 6780599 h 6858000"/>
                <a:gd name="connsiteX14" fmla="*/ 8012846 w 10515600"/>
                <a:gd name="connsiteY14" fmla="*/ 6858000 h 6858000"/>
                <a:gd name="connsiteX15" fmla="*/ 6226185 w 10515600"/>
                <a:gd name="connsiteY15" fmla="*/ 6858000 h 6858000"/>
                <a:gd name="connsiteX16" fmla="*/ 4607603 w 10515600"/>
                <a:gd name="connsiteY16" fmla="*/ 6858000 h 6858000"/>
                <a:gd name="connsiteX17" fmla="*/ 4595394 w 10515600"/>
                <a:gd name="connsiteY17" fmla="*/ 6858000 h 6858000"/>
                <a:gd name="connsiteX18" fmla="*/ 4424650 w 10515600"/>
                <a:gd name="connsiteY18" fmla="*/ 6858000 h 6858000"/>
                <a:gd name="connsiteX19" fmla="*/ 3721524 w 10515600"/>
                <a:gd name="connsiteY19" fmla="*/ 6858000 h 6858000"/>
                <a:gd name="connsiteX20" fmla="*/ 3678072 w 10515600"/>
                <a:gd name="connsiteY20" fmla="*/ 6858000 h 6858000"/>
                <a:gd name="connsiteX21" fmla="*/ 3387573 w 10515600"/>
                <a:gd name="connsiteY21" fmla="*/ 6858000 h 6858000"/>
                <a:gd name="connsiteX22" fmla="*/ 3039549 w 10515600"/>
                <a:gd name="connsiteY22" fmla="*/ 6858000 h 6858000"/>
                <a:gd name="connsiteX23" fmla="*/ 0 w 105156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0515600" h="6858000">
                  <a:moveTo>
                    <a:pt x="0" y="0"/>
                  </a:moveTo>
                  <a:lnTo>
                    <a:pt x="3039549" y="0"/>
                  </a:lnTo>
                  <a:lnTo>
                    <a:pt x="3387573" y="0"/>
                  </a:lnTo>
                  <a:lnTo>
                    <a:pt x="3678072" y="0"/>
                  </a:lnTo>
                  <a:lnTo>
                    <a:pt x="3721524" y="0"/>
                  </a:lnTo>
                  <a:lnTo>
                    <a:pt x="4595394" y="0"/>
                  </a:lnTo>
                  <a:lnTo>
                    <a:pt x="4607603" y="0"/>
                  </a:lnTo>
                  <a:lnTo>
                    <a:pt x="4733044" y="0"/>
                  </a:lnTo>
                  <a:lnTo>
                    <a:pt x="6226185" y="0"/>
                  </a:lnTo>
                  <a:lnTo>
                    <a:pt x="8892577" y="0"/>
                  </a:lnTo>
                  <a:lnTo>
                    <a:pt x="8914701" y="14997"/>
                  </a:lnTo>
                  <a:cubicBezTo>
                    <a:pt x="9941864" y="754641"/>
                    <a:pt x="10515600" y="2093192"/>
                    <a:pt x="10515600" y="3621656"/>
                  </a:cubicBezTo>
                  <a:cubicBezTo>
                    <a:pt x="10515600" y="4969131"/>
                    <a:pt x="9586875" y="5602839"/>
                    <a:pt x="8641250" y="6374814"/>
                  </a:cubicBezTo>
                  <a:cubicBezTo>
                    <a:pt x="8469047" y="6515397"/>
                    <a:pt x="8298420" y="6653108"/>
                    <a:pt x="8124602" y="6780599"/>
                  </a:cubicBezTo>
                  <a:lnTo>
                    <a:pt x="8012846" y="6858000"/>
                  </a:lnTo>
                  <a:lnTo>
                    <a:pt x="6226185" y="6858000"/>
                  </a:lnTo>
                  <a:lnTo>
                    <a:pt x="4607603" y="6858000"/>
                  </a:lnTo>
                  <a:lnTo>
                    <a:pt x="4595394" y="6858000"/>
                  </a:lnTo>
                  <a:lnTo>
                    <a:pt x="4424650" y="6858000"/>
                  </a:lnTo>
                  <a:lnTo>
                    <a:pt x="3721524" y="6858000"/>
                  </a:lnTo>
                  <a:lnTo>
                    <a:pt x="3678072" y="6858000"/>
                  </a:lnTo>
                  <a:lnTo>
                    <a:pt x="3387573" y="6858000"/>
                  </a:lnTo>
                  <a:lnTo>
                    <a:pt x="3039549" y="6858000"/>
                  </a:lnTo>
                  <a:lnTo>
                    <a:pt x="0" y="6858000"/>
                  </a:ln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11">
              <a:extLst>
                <a:ext uri="{FF2B5EF4-FFF2-40B4-BE49-F238E27FC236}">
                  <a16:creationId xmlns:a16="http://schemas.microsoft.com/office/drawing/2014/main" id="{4E58012C-4DA3-4ED3-9500-41F9AF60B1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404334" y="0"/>
              <a:ext cx="2529723" cy="6858000"/>
            </a:xfrm>
            <a:custGeom>
              <a:avLst/>
              <a:gdLst>
                <a:gd name="connsiteX0" fmla="*/ 1258269 w 2529723"/>
                <a:gd name="connsiteY0" fmla="*/ 0 h 6858000"/>
                <a:gd name="connsiteX1" fmla="*/ 1275627 w 2529723"/>
                <a:gd name="connsiteY1" fmla="*/ 0 h 6858000"/>
                <a:gd name="connsiteX2" fmla="*/ 1302560 w 2529723"/>
                <a:gd name="connsiteY2" fmla="*/ 24338 h 6858000"/>
                <a:gd name="connsiteX3" fmla="*/ 2522825 w 2529723"/>
                <a:gd name="connsiteY3" fmla="*/ 3678515 h 6858000"/>
                <a:gd name="connsiteX4" fmla="*/ 557500 w 2529723"/>
                <a:gd name="connsiteY4" fmla="*/ 6451411 h 6858000"/>
                <a:gd name="connsiteX5" fmla="*/ 32482 w 2529723"/>
                <a:gd name="connsiteY5" fmla="*/ 6849373 h 6858000"/>
                <a:gd name="connsiteX6" fmla="*/ 19531 w 2529723"/>
                <a:gd name="connsiteY6" fmla="*/ 6858000 h 6858000"/>
                <a:gd name="connsiteX7" fmla="*/ 0 w 2529723"/>
                <a:gd name="connsiteY7" fmla="*/ 6858000 h 6858000"/>
                <a:gd name="connsiteX8" fmla="*/ 14202 w 2529723"/>
                <a:gd name="connsiteY8" fmla="*/ 6848540 h 6858000"/>
                <a:gd name="connsiteX9" fmla="*/ 539221 w 2529723"/>
                <a:gd name="connsiteY9" fmla="*/ 6450578 h 6858000"/>
                <a:gd name="connsiteX10" fmla="*/ 2504546 w 2529723"/>
                <a:gd name="connsiteY10" fmla="*/ 3677682 h 6858000"/>
                <a:gd name="connsiteX11" fmla="*/ 1284280 w 2529723"/>
                <a:gd name="connsiteY11" fmla="*/ 235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9723" h="685800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13" name="Freeform: Shape 12">
              <a:extLst>
                <a:ext uri="{FF2B5EF4-FFF2-40B4-BE49-F238E27FC236}">
                  <a16:creationId xmlns:a16="http://schemas.microsoft.com/office/drawing/2014/main" id="{59AC73F7-22BD-4C46-B368-3F03B8478F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184327" y="0"/>
              <a:ext cx="2536434" cy="6858000"/>
            </a:xfrm>
            <a:custGeom>
              <a:avLst/>
              <a:gdLst>
                <a:gd name="connsiteX0" fmla="*/ 879731 w 2536434"/>
                <a:gd name="connsiteY0" fmla="*/ 0 h 6858000"/>
                <a:gd name="connsiteX1" fmla="*/ 913411 w 2536434"/>
                <a:gd name="connsiteY1" fmla="*/ 0 h 6858000"/>
                <a:gd name="connsiteX2" fmla="*/ 935535 w 2536434"/>
                <a:gd name="connsiteY2" fmla="*/ 14997 h 6858000"/>
                <a:gd name="connsiteX3" fmla="*/ 2536434 w 2536434"/>
                <a:gd name="connsiteY3" fmla="*/ 3621656 h 6858000"/>
                <a:gd name="connsiteX4" fmla="*/ 662084 w 2536434"/>
                <a:gd name="connsiteY4" fmla="*/ 6374814 h 6858000"/>
                <a:gd name="connsiteX5" fmla="*/ 145436 w 2536434"/>
                <a:gd name="connsiteY5" fmla="*/ 6780599 h 6858000"/>
                <a:gd name="connsiteX6" fmla="*/ 33680 w 2536434"/>
                <a:gd name="connsiteY6" fmla="*/ 6858000 h 6858000"/>
                <a:gd name="connsiteX7" fmla="*/ 0 w 2536434"/>
                <a:gd name="connsiteY7" fmla="*/ 6858000 h 6858000"/>
                <a:gd name="connsiteX8" fmla="*/ 111756 w 2536434"/>
                <a:gd name="connsiteY8" fmla="*/ 6780599 h 6858000"/>
                <a:gd name="connsiteX9" fmla="*/ 628404 w 2536434"/>
                <a:gd name="connsiteY9" fmla="*/ 6374814 h 6858000"/>
                <a:gd name="connsiteX10" fmla="*/ 2502754 w 2536434"/>
                <a:gd name="connsiteY10" fmla="*/ 3621656 h 6858000"/>
                <a:gd name="connsiteX11" fmla="*/ 901855 w 2536434"/>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14" name="Freeform: Shape 13">
              <a:extLst>
                <a:ext uri="{FF2B5EF4-FFF2-40B4-BE49-F238E27FC236}">
                  <a16:creationId xmlns:a16="http://schemas.microsoft.com/office/drawing/2014/main" id="{95C99F96-8984-456F-BD66-5C019A6510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53086" y="0"/>
              <a:ext cx="2261351" cy="6858000"/>
            </a:xfrm>
            <a:custGeom>
              <a:avLst/>
              <a:gdLst>
                <a:gd name="connsiteX0" fmla="*/ 879731 w 2521425"/>
                <a:gd name="connsiteY0" fmla="*/ 0 h 6858000"/>
                <a:gd name="connsiteX1" fmla="*/ 898402 w 2521425"/>
                <a:gd name="connsiteY1" fmla="*/ 0 h 6858000"/>
                <a:gd name="connsiteX2" fmla="*/ 920526 w 2521425"/>
                <a:gd name="connsiteY2" fmla="*/ 14997 h 6858000"/>
                <a:gd name="connsiteX3" fmla="*/ 2521425 w 2521425"/>
                <a:gd name="connsiteY3" fmla="*/ 3621656 h 6858000"/>
                <a:gd name="connsiteX4" fmla="*/ 647075 w 2521425"/>
                <a:gd name="connsiteY4" fmla="*/ 6374814 h 6858000"/>
                <a:gd name="connsiteX5" fmla="*/ 130427 w 2521425"/>
                <a:gd name="connsiteY5" fmla="*/ 6780599 h 6858000"/>
                <a:gd name="connsiteX6" fmla="*/ 18671 w 2521425"/>
                <a:gd name="connsiteY6" fmla="*/ 6858000 h 6858000"/>
                <a:gd name="connsiteX7" fmla="*/ 0 w 2521425"/>
                <a:gd name="connsiteY7" fmla="*/ 6858000 h 6858000"/>
                <a:gd name="connsiteX8" fmla="*/ 111756 w 2521425"/>
                <a:gd name="connsiteY8" fmla="*/ 6780599 h 6858000"/>
                <a:gd name="connsiteX9" fmla="*/ 628404 w 2521425"/>
                <a:gd name="connsiteY9" fmla="*/ 6374814 h 6858000"/>
                <a:gd name="connsiteX10" fmla="*/ 2502754 w 2521425"/>
                <a:gd name="connsiteY10" fmla="*/ 3621656 h 6858000"/>
                <a:gd name="connsiteX11" fmla="*/ 901855 w 2521425"/>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1425" h="6858000">
                  <a:moveTo>
                    <a:pt x="879731" y="0"/>
                  </a:moveTo>
                  <a:lnTo>
                    <a:pt x="898402" y="0"/>
                  </a:lnTo>
                  <a:lnTo>
                    <a:pt x="920526" y="14997"/>
                  </a:lnTo>
                  <a:cubicBezTo>
                    <a:pt x="1947689" y="754641"/>
                    <a:pt x="2521425" y="2093192"/>
                    <a:pt x="2521425" y="3621656"/>
                  </a:cubicBezTo>
                  <a:cubicBezTo>
                    <a:pt x="2521425" y="4969131"/>
                    <a:pt x="1592700" y="5602839"/>
                    <a:pt x="647075" y="6374814"/>
                  </a:cubicBezTo>
                  <a:cubicBezTo>
                    <a:pt x="474872" y="6515397"/>
                    <a:pt x="304245" y="6653108"/>
                    <a:pt x="130427" y="6780599"/>
                  </a:cubicBezTo>
                  <a:lnTo>
                    <a:pt x="18671"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grpSp>
      <p:sp>
        <p:nvSpPr>
          <p:cNvPr id="2" name="Title 1">
            <a:extLst>
              <a:ext uri="{FF2B5EF4-FFF2-40B4-BE49-F238E27FC236}">
                <a16:creationId xmlns:a16="http://schemas.microsoft.com/office/drawing/2014/main" id="{F36F8773-4B7B-9BAB-BB1C-B1785B6A4B63}"/>
              </a:ext>
            </a:extLst>
          </p:cNvPr>
          <p:cNvSpPr>
            <a:spLocks noGrp="1"/>
          </p:cNvSpPr>
          <p:nvPr>
            <p:ph type="title"/>
          </p:nvPr>
        </p:nvSpPr>
        <p:spPr>
          <a:xfrm>
            <a:off x="1920875" y="442913"/>
            <a:ext cx="6857365" cy="1344612"/>
          </a:xfrm>
        </p:spPr>
        <p:txBody>
          <a:bodyPr anchor="b">
            <a:normAutofit/>
          </a:bodyPr>
          <a:lstStyle/>
          <a:p>
            <a:r>
              <a:rPr lang="en-US" dirty="0">
                <a:ea typeface="Meiryo"/>
              </a:rPr>
              <a:t> Classification Models</a:t>
            </a:r>
            <a:endParaRPr lang="en-US" dirty="0"/>
          </a:p>
        </p:txBody>
      </p:sp>
      <p:sp>
        <p:nvSpPr>
          <p:cNvPr id="3" name="Content Placeholder 2">
            <a:extLst>
              <a:ext uri="{FF2B5EF4-FFF2-40B4-BE49-F238E27FC236}">
                <a16:creationId xmlns:a16="http://schemas.microsoft.com/office/drawing/2014/main" id="{E5FB5A8E-AE21-168A-B186-97C83EBFBBA5}"/>
              </a:ext>
            </a:extLst>
          </p:cNvPr>
          <p:cNvSpPr>
            <a:spLocks noGrp="1"/>
          </p:cNvSpPr>
          <p:nvPr>
            <p:ph idx="1"/>
          </p:nvPr>
        </p:nvSpPr>
        <p:spPr>
          <a:xfrm>
            <a:off x="1920875" y="2312988"/>
            <a:ext cx="6857365" cy="3651250"/>
          </a:xfrm>
        </p:spPr>
        <p:txBody>
          <a:bodyPr vert="horz" lIns="109728" tIns="109728" rIns="109728" bIns="91440" rtlCol="0">
            <a:normAutofit/>
          </a:bodyPr>
          <a:lstStyle/>
          <a:p>
            <a:pPr>
              <a:lnSpc>
                <a:spcPct val="130000"/>
              </a:lnSpc>
            </a:pPr>
            <a:r>
              <a:rPr lang="en-US" sz="1400" dirty="0">
                <a:ea typeface="+mn-lt"/>
                <a:cs typeface="+mn-lt"/>
              </a:rPr>
              <a:t>To predict customer churn more accurately, several classification models were trained and compared. These included Logistic Regression, Decision Tree, Random Forest, and Support Vector Machine (SVM). Among all, the Random Forest model achieved the best results with an accuracy of 86%, recall of 84%, and ROC-AUC score of 0.88.</a:t>
            </a:r>
            <a:br>
              <a:rPr lang="en-US" sz="1400">
                <a:ea typeface="+mn-lt"/>
                <a:cs typeface="+mn-lt"/>
              </a:rPr>
            </a:br>
            <a:r>
              <a:rPr lang="en-US" sz="1400" dirty="0">
                <a:ea typeface="+mn-lt"/>
                <a:cs typeface="+mn-lt"/>
              </a:rPr>
              <a:t> The model’s ensemble approach allowed it to capture complex, non-linear relationships in the data, outperforming simpler models. This demonstrates how advanced ML algorithms can effectively predict churn and support targeted business actions.</a:t>
            </a:r>
            <a:endParaRPr lang="en-US" sz="1400" dirty="0"/>
          </a:p>
        </p:txBody>
      </p:sp>
    </p:spTree>
    <p:extLst>
      <p:ext uri="{BB962C8B-B14F-4D97-AF65-F5344CB8AC3E}">
        <p14:creationId xmlns:p14="http://schemas.microsoft.com/office/powerpoint/2010/main" val="24328544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54AB742-44A6-4CDD-B54A-818846AF8F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3"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grpSp>
        <p:nvGrpSpPr>
          <p:cNvPr id="10" name="Group 9">
            <a:extLst>
              <a:ext uri="{FF2B5EF4-FFF2-40B4-BE49-F238E27FC236}">
                <a16:creationId xmlns:a16="http://schemas.microsoft.com/office/drawing/2014/main" id="{BEB537CF-9F5E-463A-AD3C-13736406C1A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443499" y="319598"/>
            <a:ext cx="3110997" cy="3301428"/>
            <a:chOff x="5443499" y="319598"/>
            <a:chExt cx="3110997" cy="3301428"/>
          </a:xfrm>
        </p:grpSpPr>
        <p:sp>
          <p:nvSpPr>
            <p:cNvPr id="11" name="Freeform: Shape 10">
              <a:extLst>
                <a:ext uri="{FF2B5EF4-FFF2-40B4-BE49-F238E27FC236}">
                  <a16:creationId xmlns:a16="http://schemas.microsoft.com/office/drawing/2014/main" id="{6F703EF8-1E43-4439-8CB5-179C7C75A4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43499" y="319598"/>
              <a:ext cx="3110997" cy="3301428"/>
            </a:xfrm>
            <a:custGeom>
              <a:avLst/>
              <a:gdLst>
                <a:gd name="connsiteX0" fmla="*/ 1431069 w 3110997"/>
                <a:gd name="connsiteY0" fmla="*/ 1514 h 3301428"/>
                <a:gd name="connsiteX1" fmla="*/ 1946520 w 3110997"/>
                <a:gd name="connsiteY1" fmla="*/ 42088 h 3301428"/>
                <a:gd name="connsiteX2" fmla="*/ 2402721 w 3110997"/>
                <a:gd name="connsiteY2" fmla="*/ 303594 h 3301428"/>
                <a:gd name="connsiteX3" fmla="*/ 2762423 w 3110997"/>
                <a:gd name="connsiteY3" fmla="*/ 889436 h 3301428"/>
                <a:gd name="connsiteX4" fmla="*/ 2828518 w 3110997"/>
                <a:gd name="connsiteY4" fmla="*/ 1015773 h 3301428"/>
                <a:gd name="connsiteX5" fmla="*/ 3094962 w 3110997"/>
                <a:gd name="connsiteY5" fmla="*/ 2001284 h 3301428"/>
                <a:gd name="connsiteX6" fmla="*/ 2157067 w 3110997"/>
                <a:gd name="connsiteY6" fmla="*/ 3054444 h 3301428"/>
                <a:gd name="connsiteX7" fmla="*/ 1950853 w 3110997"/>
                <a:gd name="connsiteY7" fmla="*/ 3146478 h 3301428"/>
                <a:gd name="connsiteX8" fmla="*/ 1329246 w 3110997"/>
                <a:gd name="connsiteY8" fmla="*/ 3288753 h 3301428"/>
                <a:gd name="connsiteX9" fmla="*/ 740145 w 3110997"/>
                <a:gd name="connsiteY9" fmla="*/ 3019378 h 3301428"/>
                <a:gd name="connsiteX10" fmla="*/ 288773 w 3110997"/>
                <a:gd name="connsiteY10" fmla="*/ 2499557 h 3301428"/>
                <a:gd name="connsiteX11" fmla="*/ 35659 w 3110997"/>
                <a:gd name="connsiteY11" fmla="*/ 1823964 h 3301428"/>
                <a:gd name="connsiteX12" fmla="*/ 31208 w 3110997"/>
                <a:gd name="connsiteY12" fmla="*/ 1116817 h 3301428"/>
                <a:gd name="connsiteX13" fmla="*/ 266830 w 3110997"/>
                <a:gd name="connsiteY13" fmla="*/ 556451 h 3301428"/>
                <a:gd name="connsiteX14" fmla="*/ 683944 w 3110997"/>
                <a:gd name="connsiteY14" fmla="*/ 194390 h 3301428"/>
                <a:gd name="connsiteX15" fmla="*/ 1431069 w 3110997"/>
                <a:gd name="connsiteY15" fmla="*/ 1514 h 33014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110997" h="3301428">
                  <a:moveTo>
                    <a:pt x="1431069" y="1514"/>
                  </a:moveTo>
                  <a:cubicBezTo>
                    <a:pt x="1596908" y="-4789"/>
                    <a:pt x="1770176" y="8561"/>
                    <a:pt x="1946520" y="42088"/>
                  </a:cubicBezTo>
                  <a:cubicBezTo>
                    <a:pt x="2134136" y="77759"/>
                    <a:pt x="2274818" y="158432"/>
                    <a:pt x="2402721" y="303594"/>
                  </a:cubicBezTo>
                  <a:cubicBezTo>
                    <a:pt x="2536515" y="455435"/>
                    <a:pt x="2646258" y="666231"/>
                    <a:pt x="2762423" y="889436"/>
                  </a:cubicBezTo>
                  <a:cubicBezTo>
                    <a:pt x="2783822" y="930610"/>
                    <a:pt x="2805992" y="973158"/>
                    <a:pt x="2828518" y="1015773"/>
                  </a:cubicBezTo>
                  <a:cubicBezTo>
                    <a:pt x="3030101" y="1397216"/>
                    <a:pt x="3157590" y="1671880"/>
                    <a:pt x="3094962" y="2001284"/>
                  </a:cubicBezTo>
                  <a:cubicBezTo>
                    <a:pt x="2999536" y="2503193"/>
                    <a:pt x="2719052" y="2818175"/>
                    <a:pt x="2157067" y="3054444"/>
                  </a:cubicBezTo>
                  <a:cubicBezTo>
                    <a:pt x="2083511" y="3085361"/>
                    <a:pt x="2016053" y="3116427"/>
                    <a:pt x="1950853" y="3146478"/>
                  </a:cubicBezTo>
                  <a:cubicBezTo>
                    <a:pt x="1680527" y="3271008"/>
                    <a:pt x="1541221" y="3329055"/>
                    <a:pt x="1329246" y="3288753"/>
                  </a:cubicBezTo>
                  <a:cubicBezTo>
                    <a:pt x="1118766" y="3248736"/>
                    <a:pt x="920572" y="3158068"/>
                    <a:pt x="740145" y="3019378"/>
                  </a:cubicBezTo>
                  <a:cubicBezTo>
                    <a:pt x="563651" y="2883673"/>
                    <a:pt x="411737" y="2708752"/>
                    <a:pt x="288773" y="2499557"/>
                  </a:cubicBezTo>
                  <a:cubicBezTo>
                    <a:pt x="167863" y="2293930"/>
                    <a:pt x="80312" y="2060356"/>
                    <a:pt x="35659" y="1823964"/>
                  </a:cubicBezTo>
                  <a:cubicBezTo>
                    <a:pt x="-10360" y="1581177"/>
                    <a:pt x="-11829" y="1343178"/>
                    <a:pt x="31208" y="1116817"/>
                  </a:cubicBezTo>
                  <a:cubicBezTo>
                    <a:pt x="71795" y="903345"/>
                    <a:pt x="151102" y="714850"/>
                    <a:pt x="266830" y="556451"/>
                  </a:cubicBezTo>
                  <a:cubicBezTo>
                    <a:pt x="375349" y="408016"/>
                    <a:pt x="515707" y="286208"/>
                    <a:pt x="683944" y="194390"/>
                  </a:cubicBezTo>
                  <a:cubicBezTo>
                    <a:pt x="898912" y="77121"/>
                    <a:pt x="1154672" y="12021"/>
                    <a:pt x="1431069" y="1514"/>
                  </a:cubicBezTo>
                  <a:close/>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12" name="Freeform: Shape 11">
              <a:extLst>
                <a:ext uri="{FF2B5EF4-FFF2-40B4-BE49-F238E27FC236}">
                  <a16:creationId xmlns:a16="http://schemas.microsoft.com/office/drawing/2014/main" id="{9DFB2FC3-C3AA-44DA-A135-10AFA65B8D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575604" y="443150"/>
              <a:ext cx="2805016" cy="3049345"/>
            </a:xfrm>
            <a:custGeom>
              <a:avLst/>
              <a:gdLst>
                <a:gd name="connsiteX0" fmla="*/ 1448892 w 2805016"/>
                <a:gd name="connsiteY0" fmla="*/ 1295 h 3049345"/>
                <a:gd name="connsiteX1" fmla="*/ 1762036 w 2805016"/>
                <a:gd name="connsiteY1" fmla="*/ 37054 h 3049345"/>
                <a:gd name="connsiteX2" fmla="*/ 2172496 w 2805016"/>
                <a:gd name="connsiteY2" fmla="*/ 276646 h 3049345"/>
                <a:gd name="connsiteX3" fmla="*/ 2494528 w 2805016"/>
                <a:gd name="connsiteY3" fmla="*/ 816190 h 3049345"/>
                <a:gd name="connsiteX4" fmla="*/ 2553622 w 2805016"/>
                <a:gd name="connsiteY4" fmla="*/ 932591 h 3049345"/>
                <a:gd name="connsiteX5" fmla="*/ 2789833 w 2805016"/>
                <a:gd name="connsiteY5" fmla="*/ 1841650 h 3049345"/>
                <a:gd name="connsiteX6" fmla="*/ 1939259 w 2805016"/>
                <a:gd name="connsiteY6" fmla="*/ 2818274 h 3049345"/>
                <a:gd name="connsiteX7" fmla="*/ 1752834 w 2805016"/>
                <a:gd name="connsiteY7" fmla="*/ 2904144 h 3049345"/>
                <a:gd name="connsiteX8" fmla="*/ 1191447 w 2805016"/>
                <a:gd name="connsiteY8" fmla="*/ 3038170 h 3049345"/>
                <a:gd name="connsiteX9" fmla="*/ 661126 w 2805016"/>
                <a:gd name="connsiteY9" fmla="*/ 2791872 h 3049345"/>
                <a:gd name="connsiteX10" fmla="*/ 256115 w 2805016"/>
                <a:gd name="connsiteY10" fmla="*/ 2313690 h 3049345"/>
                <a:gd name="connsiteX11" fmla="*/ 30620 w 2805016"/>
                <a:gd name="connsiteY11" fmla="*/ 1690804 h 3049345"/>
                <a:gd name="connsiteX12" fmla="*/ 29591 w 2805016"/>
                <a:gd name="connsiteY12" fmla="*/ 1037726 h 3049345"/>
                <a:gd name="connsiteX13" fmla="*/ 244525 w 2805016"/>
                <a:gd name="connsiteY13" fmla="*/ 519197 h 3049345"/>
                <a:gd name="connsiteX14" fmla="*/ 622356 w 2805016"/>
                <a:gd name="connsiteY14" fmla="*/ 183048 h 3049345"/>
                <a:gd name="connsiteX15" fmla="*/ 1448892 w 2805016"/>
                <a:gd name="connsiteY15" fmla="*/ 1295 h 3049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805016" h="3049345">
                  <a:moveTo>
                    <a:pt x="1448892" y="1295"/>
                  </a:moveTo>
                  <a:cubicBezTo>
                    <a:pt x="1551302" y="5038"/>
                    <a:pt x="1656071" y="16908"/>
                    <a:pt x="1762036" y="37054"/>
                  </a:cubicBezTo>
                  <a:cubicBezTo>
                    <a:pt x="1931145" y="69206"/>
                    <a:pt x="2057720" y="143119"/>
                    <a:pt x="2172496" y="276646"/>
                  </a:cubicBezTo>
                  <a:cubicBezTo>
                    <a:pt x="2292557" y="416316"/>
                    <a:pt x="2390672" y="610536"/>
                    <a:pt x="2494528" y="816190"/>
                  </a:cubicBezTo>
                  <a:cubicBezTo>
                    <a:pt x="2513659" y="854126"/>
                    <a:pt x="2533480" y="893328"/>
                    <a:pt x="2553622" y="932591"/>
                  </a:cubicBezTo>
                  <a:cubicBezTo>
                    <a:pt x="2733870" y="1284027"/>
                    <a:pt x="2847724" y="1537159"/>
                    <a:pt x="2789833" y="1841650"/>
                  </a:cubicBezTo>
                  <a:cubicBezTo>
                    <a:pt x="2701624" y="2305599"/>
                    <a:pt x="2447254" y="2597690"/>
                    <a:pt x="1939259" y="2818274"/>
                  </a:cubicBezTo>
                  <a:cubicBezTo>
                    <a:pt x="1872770" y="2847138"/>
                    <a:pt x="1811781" y="2876114"/>
                    <a:pt x="1752834" y="2904144"/>
                  </a:cubicBezTo>
                  <a:cubicBezTo>
                    <a:pt x="1508432" y="3020297"/>
                    <a:pt x="1382512" y="3074496"/>
                    <a:pt x="1191447" y="3038170"/>
                  </a:cubicBezTo>
                  <a:cubicBezTo>
                    <a:pt x="1001732" y="3002100"/>
                    <a:pt x="823313" y="2919199"/>
                    <a:pt x="661126" y="2791872"/>
                  </a:cubicBezTo>
                  <a:cubicBezTo>
                    <a:pt x="502474" y="2667286"/>
                    <a:pt x="366163" y="2506376"/>
                    <a:pt x="256115" y="2313690"/>
                  </a:cubicBezTo>
                  <a:cubicBezTo>
                    <a:pt x="147904" y="2124290"/>
                    <a:pt x="69906" y="1908939"/>
                    <a:pt x="30620" y="1690804"/>
                  </a:cubicBezTo>
                  <a:cubicBezTo>
                    <a:pt x="-9871" y="1466769"/>
                    <a:pt x="-10191" y="1246967"/>
                    <a:pt x="29591" y="1037726"/>
                  </a:cubicBezTo>
                  <a:cubicBezTo>
                    <a:pt x="67109" y="840400"/>
                    <a:pt x="139452" y="665977"/>
                    <a:pt x="244525" y="519197"/>
                  </a:cubicBezTo>
                  <a:cubicBezTo>
                    <a:pt x="343054" y="381648"/>
                    <a:pt x="470192" y="268558"/>
                    <a:pt x="622356" y="183048"/>
                  </a:cubicBezTo>
                  <a:cubicBezTo>
                    <a:pt x="855671" y="51991"/>
                    <a:pt x="1141662" y="-9932"/>
                    <a:pt x="1448892" y="1295"/>
                  </a:cubicBezTo>
                  <a:close/>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13" name="Freeform: Shape 12">
              <a:extLst>
                <a:ext uri="{FF2B5EF4-FFF2-40B4-BE49-F238E27FC236}">
                  <a16:creationId xmlns:a16="http://schemas.microsoft.com/office/drawing/2014/main" id="{DC9006AC-14D0-4A9C-BE11-F61AB5B8D8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693466" y="623454"/>
              <a:ext cx="2567901" cy="2687367"/>
            </a:xfrm>
            <a:custGeom>
              <a:avLst/>
              <a:gdLst>
                <a:gd name="connsiteX0" fmla="*/ 1177679 w 2567901"/>
                <a:gd name="connsiteY0" fmla="*/ 1063 h 2687367"/>
                <a:gd name="connsiteX1" fmla="*/ 1603094 w 2567901"/>
                <a:gd name="connsiteY1" fmla="*/ 35223 h 2687367"/>
                <a:gd name="connsiteX2" fmla="*/ 1980105 w 2567901"/>
                <a:gd name="connsiteY2" fmla="*/ 249099 h 2687367"/>
                <a:gd name="connsiteX3" fmla="*/ 2278200 w 2567901"/>
                <a:gd name="connsiteY3" fmla="*/ 726784 h 2687367"/>
                <a:gd name="connsiteX4" fmla="*/ 2333016 w 2567901"/>
                <a:gd name="connsiteY4" fmla="*/ 829771 h 2687367"/>
                <a:gd name="connsiteX5" fmla="*/ 2555036 w 2567901"/>
                <a:gd name="connsiteY5" fmla="*/ 1632596 h 2687367"/>
                <a:gd name="connsiteX6" fmla="*/ 1783436 w 2567901"/>
                <a:gd name="connsiteY6" fmla="*/ 2487849 h 2687367"/>
                <a:gd name="connsiteX7" fmla="*/ 1613480 w 2567901"/>
                <a:gd name="connsiteY7" fmla="*/ 2562316 h 2687367"/>
                <a:gd name="connsiteX8" fmla="*/ 1100869 w 2567901"/>
                <a:gd name="connsiteY8" fmla="*/ 2676769 h 2687367"/>
                <a:gd name="connsiteX9" fmla="*/ 614178 w 2567901"/>
                <a:gd name="connsiteY9" fmla="*/ 2456196 h 2687367"/>
                <a:gd name="connsiteX10" fmla="*/ 240586 w 2567901"/>
                <a:gd name="connsiteY10" fmla="*/ 2032054 h 2687367"/>
                <a:gd name="connsiteX11" fmla="*/ 30245 w 2567901"/>
                <a:gd name="connsiteY11" fmla="*/ 1481541 h 2687367"/>
                <a:gd name="connsiteX12" fmla="*/ 25021 w 2567901"/>
                <a:gd name="connsiteY12" fmla="*/ 905889 h 2687367"/>
                <a:gd name="connsiteX13" fmla="*/ 218217 w 2567901"/>
                <a:gd name="connsiteY13" fmla="*/ 450248 h 2687367"/>
                <a:gd name="connsiteX14" fmla="*/ 561607 w 2567901"/>
                <a:gd name="connsiteY14" fmla="*/ 156432 h 2687367"/>
                <a:gd name="connsiteX15" fmla="*/ 1177679 w 2567901"/>
                <a:gd name="connsiteY15" fmla="*/ 1063 h 2687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567901" h="2687367">
                  <a:moveTo>
                    <a:pt x="1177679" y="1063"/>
                  </a:moveTo>
                  <a:cubicBezTo>
                    <a:pt x="1314507" y="-3704"/>
                    <a:pt x="1457510" y="7543"/>
                    <a:pt x="1603094" y="35223"/>
                  </a:cubicBezTo>
                  <a:cubicBezTo>
                    <a:pt x="1757985" y="64671"/>
                    <a:pt x="1874247" y="130651"/>
                    <a:pt x="1980105" y="249099"/>
                  </a:cubicBezTo>
                  <a:cubicBezTo>
                    <a:pt x="2090840" y="372996"/>
                    <a:pt x="2181857" y="544832"/>
                    <a:pt x="2278200" y="726784"/>
                  </a:cubicBezTo>
                  <a:cubicBezTo>
                    <a:pt x="2295948" y="760348"/>
                    <a:pt x="2314335" y="795032"/>
                    <a:pt x="2333016" y="829771"/>
                  </a:cubicBezTo>
                  <a:cubicBezTo>
                    <a:pt x="2500190" y="1140721"/>
                    <a:pt x="2605991" y="1364587"/>
                    <a:pt x="2555036" y="1632596"/>
                  </a:cubicBezTo>
                  <a:cubicBezTo>
                    <a:pt x="2477395" y="2040959"/>
                    <a:pt x="2246644" y="2296751"/>
                    <a:pt x="1783436" y="2487849"/>
                  </a:cubicBezTo>
                  <a:cubicBezTo>
                    <a:pt x="1722809" y="2512855"/>
                    <a:pt x="1667214" y="2537996"/>
                    <a:pt x="1613480" y="2562316"/>
                  </a:cubicBezTo>
                  <a:cubicBezTo>
                    <a:pt x="1390692" y="2663095"/>
                    <a:pt x="1275870" y="2710042"/>
                    <a:pt x="1100869" y="2676769"/>
                  </a:cubicBezTo>
                  <a:cubicBezTo>
                    <a:pt x="927103" y="2643732"/>
                    <a:pt x="763363" y="2569490"/>
                    <a:pt x="614178" y="2456196"/>
                  </a:cubicBezTo>
                  <a:cubicBezTo>
                    <a:pt x="468245" y="2345340"/>
                    <a:pt x="342509" y="2202615"/>
                    <a:pt x="240586" y="2032054"/>
                  </a:cubicBezTo>
                  <a:cubicBezTo>
                    <a:pt x="140365" y="1864400"/>
                    <a:pt x="67610" y="1674071"/>
                    <a:pt x="30245" y="1481541"/>
                  </a:cubicBezTo>
                  <a:cubicBezTo>
                    <a:pt x="-8261" y="1283803"/>
                    <a:pt x="-9994" y="1090060"/>
                    <a:pt x="25021" y="905889"/>
                  </a:cubicBezTo>
                  <a:cubicBezTo>
                    <a:pt x="58043" y="732204"/>
                    <a:pt x="123071" y="578936"/>
                    <a:pt x="218217" y="450248"/>
                  </a:cubicBezTo>
                  <a:cubicBezTo>
                    <a:pt x="307436" y="329654"/>
                    <a:pt x="422987" y="230806"/>
                    <a:pt x="561607" y="156432"/>
                  </a:cubicBezTo>
                  <a:cubicBezTo>
                    <a:pt x="738731" y="61442"/>
                    <a:pt x="949631" y="9010"/>
                    <a:pt x="1177679" y="1063"/>
                  </a:cubicBez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grpSp>
      <p:sp>
        <p:nvSpPr>
          <p:cNvPr id="2" name="Title 1">
            <a:extLst>
              <a:ext uri="{FF2B5EF4-FFF2-40B4-BE49-F238E27FC236}">
                <a16:creationId xmlns:a16="http://schemas.microsoft.com/office/drawing/2014/main" id="{6F177185-3FB4-B861-2C50-4A662E7F4763}"/>
              </a:ext>
            </a:extLst>
          </p:cNvPr>
          <p:cNvSpPr>
            <a:spLocks noGrp="1"/>
          </p:cNvSpPr>
          <p:nvPr>
            <p:ph type="title"/>
          </p:nvPr>
        </p:nvSpPr>
        <p:spPr>
          <a:xfrm>
            <a:off x="914400" y="442913"/>
            <a:ext cx="6269845" cy="1532609"/>
          </a:xfrm>
        </p:spPr>
        <p:txBody>
          <a:bodyPr anchor="b">
            <a:normAutofit/>
          </a:bodyPr>
          <a:lstStyle/>
          <a:p>
            <a:r>
              <a:rPr lang="en-US" b="0" dirty="0">
                <a:ea typeface="+mj-lt"/>
                <a:cs typeface="+mj-lt"/>
              </a:rPr>
              <a:t>Decision Tree Insights</a:t>
            </a:r>
            <a:endParaRPr lang="en-US" dirty="0"/>
          </a:p>
        </p:txBody>
      </p:sp>
      <p:grpSp>
        <p:nvGrpSpPr>
          <p:cNvPr id="15" name="Group 14">
            <a:extLst>
              <a:ext uri="{FF2B5EF4-FFF2-40B4-BE49-F238E27FC236}">
                <a16:creationId xmlns:a16="http://schemas.microsoft.com/office/drawing/2014/main" id="{97EE97F1-3EFC-4812-BCD8-BAFDC3EE465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611772" y="0"/>
            <a:ext cx="3580076" cy="3029264"/>
            <a:chOff x="8611772" y="0"/>
            <a:chExt cx="3580076" cy="3029264"/>
          </a:xfrm>
        </p:grpSpPr>
        <p:sp>
          <p:nvSpPr>
            <p:cNvPr id="16" name="Freeform: Shape 15">
              <a:extLst>
                <a:ext uri="{FF2B5EF4-FFF2-40B4-BE49-F238E27FC236}">
                  <a16:creationId xmlns:a16="http://schemas.microsoft.com/office/drawing/2014/main" id="{CB02D12A-0B1A-459E-8D70-2772831B92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87256" y="0"/>
              <a:ext cx="3404592" cy="2880968"/>
            </a:xfrm>
            <a:custGeom>
              <a:avLst/>
              <a:gdLst>
                <a:gd name="connsiteX0" fmla="*/ 30625 w 3404592"/>
                <a:gd name="connsiteY0" fmla="*/ 0 h 2880968"/>
                <a:gd name="connsiteX1" fmla="*/ 3404591 w 3404592"/>
                <a:gd name="connsiteY1" fmla="*/ 0 h 2880968"/>
                <a:gd name="connsiteX2" fmla="*/ 3404592 w 3404592"/>
                <a:gd name="connsiteY2" fmla="*/ 2363677 h 2880968"/>
                <a:gd name="connsiteX3" fmla="*/ 3368234 w 3404592"/>
                <a:gd name="connsiteY3" fmla="*/ 2400463 h 2880968"/>
                <a:gd name="connsiteX4" fmla="*/ 2673169 w 3404592"/>
                <a:gd name="connsiteY4" fmla="*/ 2691710 h 2880968"/>
                <a:gd name="connsiteX5" fmla="*/ 2383908 w 3404592"/>
                <a:gd name="connsiteY5" fmla="*/ 2766733 h 2880968"/>
                <a:gd name="connsiteX6" fmla="*/ 580011 w 3404592"/>
                <a:gd name="connsiteY6" fmla="*/ 2455996 h 2880968"/>
                <a:gd name="connsiteX7" fmla="*/ 103935 w 3404592"/>
                <a:gd name="connsiteY7" fmla="*/ 1224395 h 2880968"/>
                <a:gd name="connsiteX8" fmla="*/ 76737 w 3404592"/>
                <a:gd name="connsiteY8" fmla="*/ 1040246 h 2880968"/>
                <a:gd name="connsiteX9" fmla="*/ 6986 w 3404592"/>
                <a:gd name="connsiteY9" fmla="*/ 142569 h 2880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4592" h="2880968">
                  <a:moveTo>
                    <a:pt x="30625" y="0"/>
                  </a:moveTo>
                  <a:lnTo>
                    <a:pt x="3404591" y="0"/>
                  </a:lnTo>
                  <a:lnTo>
                    <a:pt x="3404592" y="2363677"/>
                  </a:lnTo>
                  <a:lnTo>
                    <a:pt x="3368234" y="2400463"/>
                  </a:lnTo>
                  <a:cubicBezTo>
                    <a:pt x="3196560" y="2556781"/>
                    <a:pt x="3007578" y="2609148"/>
                    <a:pt x="2673169" y="2691710"/>
                  </a:cubicBezTo>
                  <a:cubicBezTo>
                    <a:pt x="2580978" y="2714454"/>
                    <a:pt x="2485617" y="2738008"/>
                    <a:pt x="2383908" y="2766733"/>
                  </a:cubicBezTo>
                  <a:cubicBezTo>
                    <a:pt x="1606788" y="2986132"/>
                    <a:pt x="1067300" y="2893177"/>
                    <a:pt x="580011" y="2455996"/>
                  </a:cubicBezTo>
                  <a:cubicBezTo>
                    <a:pt x="260201" y="2169073"/>
                    <a:pt x="183906" y="1782048"/>
                    <a:pt x="103935" y="1224395"/>
                  </a:cubicBezTo>
                  <a:cubicBezTo>
                    <a:pt x="95007" y="1162089"/>
                    <a:pt x="85753" y="1100145"/>
                    <a:pt x="76737" y="1040246"/>
                  </a:cubicBezTo>
                  <a:cubicBezTo>
                    <a:pt x="28042" y="715402"/>
                    <a:pt x="-17905" y="408591"/>
                    <a:pt x="6986" y="142569"/>
                  </a:cubicBezTo>
                  <a:close/>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17" name="Freeform: Shape 16">
              <a:extLst>
                <a:ext uri="{FF2B5EF4-FFF2-40B4-BE49-F238E27FC236}">
                  <a16:creationId xmlns:a16="http://schemas.microsoft.com/office/drawing/2014/main" id="{DD3DED5B-9FB2-439B-A341-F0AF0B9F35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11772" y="0"/>
              <a:ext cx="3580076" cy="3029264"/>
            </a:xfrm>
            <a:custGeom>
              <a:avLst/>
              <a:gdLst>
                <a:gd name="connsiteX0" fmla="*/ 19381 w 3580076"/>
                <a:gd name="connsiteY0" fmla="*/ 0 h 3029264"/>
                <a:gd name="connsiteX1" fmla="*/ 3580076 w 3580076"/>
                <a:gd name="connsiteY1" fmla="*/ 0 h 3029264"/>
                <a:gd name="connsiteX2" fmla="*/ 3580076 w 3580076"/>
                <a:gd name="connsiteY2" fmla="*/ 2559343 h 3029264"/>
                <a:gd name="connsiteX3" fmla="*/ 3556258 w 3580076"/>
                <a:gd name="connsiteY3" fmla="*/ 2578706 h 3029264"/>
                <a:gd name="connsiteX4" fmla="*/ 2887450 w 3580076"/>
                <a:gd name="connsiteY4" fmla="*/ 2826324 h 3029264"/>
                <a:gd name="connsiteX5" fmla="*/ 2575407 w 3580076"/>
                <a:gd name="connsiteY5" fmla="*/ 2906908 h 3029264"/>
                <a:gd name="connsiteX6" fmla="*/ 628491 w 3580076"/>
                <a:gd name="connsiteY6" fmla="*/ 2569492 h 3029264"/>
                <a:gd name="connsiteX7" fmla="*/ 113276 w 3580076"/>
                <a:gd name="connsiteY7" fmla="*/ 1240251 h 3029264"/>
                <a:gd name="connsiteX8" fmla="*/ 83702 w 3580076"/>
                <a:gd name="connsiteY8" fmla="*/ 1041556 h 3029264"/>
                <a:gd name="connsiteX9" fmla="*/ 7347 w 3580076"/>
                <a:gd name="connsiteY9" fmla="*/ 73049 h 3029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580076" h="3029264">
                  <a:moveTo>
                    <a:pt x="19381" y="0"/>
                  </a:moveTo>
                  <a:lnTo>
                    <a:pt x="3580076" y="0"/>
                  </a:lnTo>
                  <a:lnTo>
                    <a:pt x="3580076" y="2559343"/>
                  </a:lnTo>
                  <a:lnTo>
                    <a:pt x="3556258" y="2578706"/>
                  </a:lnTo>
                  <a:cubicBezTo>
                    <a:pt x="3390615" y="2698133"/>
                    <a:pt x="3196665" y="2750327"/>
                    <a:pt x="2887450" y="2826324"/>
                  </a:cubicBezTo>
                  <a:cubicBezTo>
                    <a:pt x="2787996" y="2850747"/>
                    <a:pt x="2685123" y="2876042"/>
                    <a:pt x="2575407" y="2906908"/>
                  </a:cubicBezTo>
                  <a:cubicBezTo>
                    <a:pt x="1737105" y="3142655"/>
                    <a:pt x="1154843" y="3041718"/>
                    <a:pt x="628491" y="2569492"/>
                  </a:cubicBezTo>
                  <a:cubicBezTo>
                    <a:pt x="283045" y="2259569"/>
                    <a:pt x="200247" y="1841949"/>
                    <a:pt x="113276" y="1240251"/>
                  </a:cubicBezTo>
                  <a:cubicBezTo>
                    <a:pt x="103566" y="1173024"/>
                    <a:pt x="93505" y="1106186"/>
                    <a:pt x="83702" y="1041556"/>
                  </a:cubicBezTo>
                  <a:cubicBezTo>
                    <a:pt x="30763" y="691052"/>
                    <a:pt x="-19190" y="360006"/>
                    <a:pt x="7347" y="73049"/>
                  </a:cubicBezTo>
                  <a:close/>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18" name="Freeform: Shape 17">
              <a:extLst>
                <a:ext uri="{FF2B5EF4-FFF2-40B4-BE49-F238E27FC236}">
                  <a16:creationId xmlns:a16="http://schemas.microsoft.com/office/drawing/2014/main" id="{5548DE56-0D2D-41D3-8B56-C6B37908F4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897970" y="0"/>
              <a:ext cx="3293877" cy="2743212"/>
            </a:xfrm>
            <a:custGeom>
              <a:avLst/>
              <a:gdLst>
                <a:gd name="connsiteX0" fmla="*/ 37772 w 3293877"/>
                <a:gd name="connsiteY0" fmla="*/ 0 h 2743212"/>
                <a:gd name="connsiteX1" fmla="*/ 3293877 w 3293877"/>
                <a:gd name="connsiteY1" fmla="*/ 0 h 2743212"/>
                <a:gd name="connsiteX2" fmla="*/ 3293877 w 3293877"/>
                <a:gd name="connsiteY2" fmla="*/ 2133887 h 2743212"/>
                <a:gd name="connsiteX3" fmla="*/ 3222757 w 3293877"/>
                <a:gd name="connsiteY3" fmla="*/ 2223039 h 2743212"/>
                <a:gd name="connsiteX4" fmla="*/ 2503136 w 3293877"/>
                <a:gd name="connsiteY4" fmla="*/ 2565392 h 2743212"/>
                <a:gd name="connsiteX5" fmla="*/ 2232111 w 3293877"/>
                <a:gd name="connsiteY5" fmla="*/ 2635826 h 2743212"/>
                <a:gd name="connsiteX6" fmla="*/ 542319 w 3293877"/>
                <a:gd name="connsiteY6" fmla="*/ 2345567 h 2743212"/>
                <a:gd name="connsiteX7" fmla="*/ 96920 w 3293877"/>
                <a:gd name="connsiteY7" fmla="*/ 1191868 h 2743212"/>
                <a:gd name="connsiteX8" fmla="*/ 71529 w 3293877"/>
                <a:gd name="connsiteY8" fmla="*/ 1019346 h 2743212"/>
                <a:gd name="connsiteX9" fmla="*/ 6623 w 3293877"/>
                <a:gd name="connsiteY9" fmla="*/ 178315 h 2743212"/>
                <a:gd name="connsiteX10" fmla="*/ 34833 w 3293877"/>
                <a:gd name="connsiteY10" fmla="*/ 8680 h 2743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293877" h="2743212">
                  <a:moveTo>
                    <a:pt x="37772" y="0"/>
                  </a:moveTo>
                  <a:lnTo>
                    <a:pt x="3293877" y="0"/>
                  </a:lnTo>
                  <a:lnTo>
                    <a:pt x="3293877" y="2133887"/>
                  </a:lnTo>
                  <a:lnTo>
                    <a:pt x="3222757" y="2223039"/>
                  </a:lnTo>
                  <a:cubicBezTo>
                    <a:pt x="3041339" y="2425251"/>
                    <a:pt x="2861221" y="2476800"/>
                    <a:pt x="2503136" y="2565392"/>
                  </a:cubicBezTo>
                  <a:cubicBezTo>
                    <a:pt x="2416757" y="2586746"/>
                    <a:pt x="2327408" y="2608861"/>
                    <a:pt x="2232111" y="2635826"/>
                  </a:cubicBezTo>
                  <a:cubicBezTo>
                    <a:pt x="1503976" y="2841768"/>
                    <a:pt x="998612" y="2754939"/>
                    <a:pt x="542319" y="2345567"/>
                  </a:cubicBezTo>
                  <a:cubicBezTo>
                    <a:pt x="242852" y="2076894"/>
                    <a:pt x="171565" y="1714314"/>
                    <a:pt x="96920" y="1191868"/>
                  </a:cubicBezTo>
                  <a:cubicBezTo>
                    <a:pt x="88586" y="1133496"/>
                    <a:pt x="79946" y="1075462"/>
                    <a:pt x="71529" y="1019346"/>
                  </a:cubicBezTo>
                  <a:cubicBezTo>
                    <a:pt x="26070" y="715012"/>
                    <a:pt x="-16826" y="427572"/>
                    <a:pt x="6623" y="178315"/>
                  </a:cubicBezTo>
                  <a:cubicBezTo>
                    <a:pt x="12226" y="118742"/>
                    <a:pt x="21526" y="62431"/>
                    <a:pt x="34833" y="8680"/>
                  </a:cubicBez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grpSp>
      <p:grpSp>
        <p:nvGrpSpPr>
          <p:cNvPr id="20" name="Group 19">
            <a:extLst>
              <a:ext uri="{FF2B5EF4-FFF2-40B4-BE49-F238E27FC236}">
                <a16:creationId xmlns:a16="http://schemas.microsoft.com/office/drawing/2014/main" id="{266F884D-C8C7-413B-842D-2DEA05D3294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050493" y="3105611"/>
            <a:ext cx="6141507" cy="3752390"/>
            <a:chOff x="6050493" y="3105611"/>
            <a:chExt cx="6141507" cy="3752390"/>
          </a:xfrm>
        </p:grpSpPr>
        <p:sp>
          <p:nvSpPr>
            <p:cNvPr id="21" name="Freeform: Shape 20">
              <a:extLst>
                <a:ext uri="{FF2B5EF4-FFF2-40B4-BE49-F238E27FC236}">
                  <a16:creationId xmlns:a16="http://schemas.microsoft.com/office/drawing/2014/main" id="{10E28F44-72C3-41C0-9CB9-5519574124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32156" y="3297832"/>
              <a:ext cx="5959692" cy="3560169"/>
            </a:xfrm>
            <a:custGeom>
              <a:avLst/>
              <a:gdLst>
                <a:gd name="connsiteX0" fmla="*/ 3008109 w 5959692"/>
                <a:gd name="connsiteY0" fmla="*/ 42 h 3560169"/>
                <a:gd name="connsiteX1" fmla="*/ 4702247 w 5959692"/>
                <a:gd name="connsiteY1" fmla="*/ 626282 h 3560169"/>
                <a:gd name="connsiteX2" fmla="*/ 5069411 w 5959692"/>
                <a:gd name="connsiteY2" fmla="*/ 865826 h 3560169"/>
                <a:gd name="connsiteX3" fmla="*/ 5895906 w 5959692"/>
                <a:gd name="connsiteY3" fmla="*/ 1594994 h 3560169"/>
                <a:gd name="connsiteX4" fmla="*/ 5959691 w 5959692"/>
                <a:gd name="connsiteY4" fmla="*/ 1728783 h 3560169"/>
                <a:gd name="connsiteX5" fmla="*/ 5959692 w 5959692"/>
                <a:gd name="connsiteY5" fmla="*/ 3560169 h 3560169"/>
                <a:gd name="connsiteX6" fmla="*/ 635 w 5959692"/>
                <a:gd name="connsiteY6" fmla="*/ 3560169 h 3560169"/>
                <a:gd name="connsiteX7" fmla="*/ 0 w 5959692"/>
                <a:gd name="connsiteY7" fmla="*/ 3534810 h 3560169"/>
                <a:gd name="connsiteX8" fmla="*/ 56896 w 5959692"/>
                <a:gd name="connsiteY8" fmla="*/ 3142342 h 3560169"/>
                <a:gd name="connsiteX9" fmla="*/ 605568 w 5959692"/>
                <a:gd name="connsiteY9" fmla="*/ 1932853 h 3560169"/>
                <a:gd name="connsiteX10" fmla="*/ 736162 w 5959692"/>
                <a:gd name="connsiteY10" fmla="*/ 1690788 h 3560169"/>
                <a:gd name="connsiteX11" fmla="*/ 2021319 w 5959692"/>
                <a:gd name="connsiteY11" fmla="*/ 209863 h 3560169"/>
                <a:gd name="connsiteX12" fmla="*/ 3008109 w 5959692"/>
                <a:gd name="connsiteY12" fmla="*/ 42 h 35601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959692" h="3560169">
                  <a:moveTo>
                    <a:pt x="3008109" y="42"/>
                  </a:moveTo>
                  <a:cubicBezTo>
                    <a:pt x="3549058" y="3372"/>
                    <a:pt x="4091345" y="208628"/>
                    <a:pt x="4702247" y="626282"/>
                  </a:cubicBezTo>
                  <a:cubicBezTo>
                    <a:pt x="4830168" y="713755"/>
                    <a:pt x="4951806" y="791097"/>
                    <a:pt x="5069411" y="865826"/>
                  </a:cubicBezTo>
                  <a:cubicBezTo>
                    <a:pt x="5495976" y="1136988"/>
                    <a:pt x="5734167" y="1298128"/>
                    <a:pt x="5895906" y="1594994"/>
                  </a:cubicBezTo>
                  <a:lnTo>
                    <a:pt x="5959691" y="1728783"/>
                  </a:lnTo>
                  <a:lnTo>
                    <a:pt x="5959692" y="3560169"/>
                  </a:lnTo>
                  <a:lnTo>
                    <a:pt x="635" y="3560169"/>
                  </a:lnTo>
                  <a:lnTo>
                    <a:pt x="0" y="3534810"/>
                  </a:lnTo>
                  <a:cubicBezTo>
                    <a:pt x="2402" y="3407978"/>
                    <a:pt x="21463" y="3278501"/>
                    <a:pt x="56896" y="3142342"/>
                  </a:cubicBezTo>
                  <a:cubicBezTo>
                    <a:pt x="155720" y="2762537"/>
                    <a:pt x="374193" y="2359525"/>
                    <a:pt x="605568" y="1932853"/>
                  </a:cubicBezTo>
                  <a:cubicBezTo>
                    <a:pt x="648282" y="1854194"/>
                    <a:pt x="692359" y="1772817"/>
                    <a:pt x="736162" y="1690788"/>
                  </a:cubicBezTo>
                  <a:cubicBezTo>
                    <a:pt x="1128289" y="956620"/>
                    <a:pt x="1429537" y="456850"/>
                    <a:pt x="2021319" y="209863"/>
                  </a:cubicBezTo>
                  <a:cubicBezTo>
                    <a:pt x="2359453" y="68739"/>
                    <a:pt x="2683541" y="-1956"/>
                    <a:pt x="3008109" y="42"/>
                  </a:cubicBezTo>
                  <a:close/>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2" name="Freeform: Shape 21">
              <a:extLst>
                <a:ext uri="{FF2B5EF4-FFF2-40B4-BE49-F238E27FC236}">
                  <a16:creationId xmlns:a16="http://schemas.microsoft.com/office/drawing/2014/main" id="{7D646D3E-3C36-4B70-95F2-A1904224D5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50493" y="3105611"/>
              <a:ext cx="6141507" cy="3752389"/>
            </a:xfrm>
            <a:custGeom>
              <a:avLst/>
              <a:gdLst>
                <a:gd name="connsiteX0" fmla="*/ 3215595 w 6141507"/>
                <a:gd name="connsiteY0" fmla="*/ 37 h 3752389"/>
                <a:gd name="connsiteX1" fmla="*/ 5025810 w 6141507"/>
                <a:gd name="connsiteY1" fmla="*/ 667544 h 3752389"/>
                <a:gd name="connsiteX2" fmla="*/ 5418068 w 6141507"/>
                <a:gd name="connsiteY2" fmla="*/ 923043 h 3752389"/>
                <a:gd name="connsiteX3" fmla="*/ 6130109 w 6141507"/>
                <a:gd name="connsiteY3" fmla="*/ 1458777 h 3752389"/>
                <a:gd name="connsiteX4" fmla="*/ 6141506 w 6141507"/>
                <a:gd name="connsiteY4" fmla="*/ 1473047 h 3752389"/>
                <a:gd name="connsiteX5" fmla="*/ 6141507 w 6141507"/>
                <a:gd name="connsiteY5" fmla="*/ 3752389 h 3752389"/>
                <a:gd name="connsiteX6" fmla="*/ 0 w 6141507"/>
                <a:gd name="connsiteY6" fmla="*/ 3752389 h 3752389"/>
                <a:gd name="connsiteX7" fmla="*/ 7127 w 6141507"/>
                <a:gd name="connsiteY7" fmla="*/ 3638865 h 3752389"/>
                <a:gd name="connsiteX8" fmla="*/ 59603 w 6141507"/>
                <a:gd name="connsiteY8" fmla="*/ 3356358 h 3752389"/>
                <a:gd name="connsiteX9" fmla="*/ 646726 w 6141507"/>
                <a:gd name="connsiteY9" fmla="*/ 2064848 h 3752389"/>
                <a:gd name="connsiteX10" fmla="*/ 786444 w 6141507"/>
                <a:gd name="connsiteY10" fmla="*/ 1806355 h 3752389"/>
                <a:gd name="connsiteX11" fmla="*/ 2160845 w 6141507"/>
                <a:gd name="connsiteY11" fmla="*/ 224629 h 3752389"/>
                <a:gd name="connsiteX12" fmla="*/ 3215595 w 6141507"/>
                <a:gd name="connsiteY12" fmla="*/ 37 h 3752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141507" h="3752389">
                  <a:moveTo>
                    <a:pt x="3215595" y="37"/>
                  </a:moveTo>
                  <a:cubicBezTo>
                    <a:pt x="3793727" y="3265"/>
                    <a:pt x="4373168" y="222053"/>
                    <a:pt x="5025810" y="667544"/>
                  </a:cubicBezTo>
                  <a:cubicBezTo>
                    <a:pt x="5162471" y="760846"/>
                    <a:pt x="5292423" y="843339"/>
                    <a:pt x="5418068" y="923043"/>
                  </a:cubicBezTo>
                  <a:cubicBezTo>
                    <a:pt x="5743584" y="1129628"/>
                    <a:pt x="5966418" y="1276344"/>
                    <a:pt x="6130109" y="1458777"/>
                  </a:cubicBezTo>
                  <a:lnTo>
                    <a:pt x="6141506" y="1473047"/>
                  </a:lnTo>
                  <a:lnTo>
                    <a:pt x="6141507" y="3752389"/>
                  </a:lnTo>
                  <a:lnTo>
                    <a:pt x="0" y="3752389"/>
                  </a:lnTo>
                  <a:lnTo>
                    <a:pt x="7127" y="3638865"/>
                  </a:lnTo>
                  <a:cubicBezTo>
                    <a:pt x="16780" y="3547020"/>
                    <a:pt x="34303" y="3453276"/>
                    <a:pt x="59603" y="3356358"/>
                  </a:cubicBezTo>
                  <a:cubicBezTo>
                    <a:pt x="165452" y="2950843"/>
                    <a:pt x="399187" y="2520480"/>
                    <a:pt x="646726" y="2064848"/>
                  </a:cubicBezTo>
                  <a:cubicBezTo>
                    <a:pt x="692424" y="1980851"/>
                    <a:pt x="739580" y="1893951"/>
                    <a:pt x="786444" y="1806355"/>
                  </a:cubicBezTo>
                  <a:cubicBezTo>
                    <a:pt x="1205972" y="1022363"/>
                    <a:pt x="1528233" y="488656"/>
                    <a:pt x="2160845" y="224629"/>
                  </a:cubicBezTo>
                  <a:cubicBezTo>
                    <a:pt x="2522310" y="73767"/>
                    <a:pt x="2868717" y="-1899"/>
                    <a:pt x="3215595" y="37"/>
                  </a:cubicBezTo>
                  <a:close/>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3" name="Freeform: Shape 22">
              <a:extLst>
                <a:ext uri="{FF2B5EF4-FFF2-40B4-BE49-F238E27FC236}">
                  <a16:creationId xmlns:a16="http://schemas.microsoft.com/office/drawing/2014/main" id="{D86D0CCB-AA1C-4777-977E-4DA1C256BD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67814" y="3406834"/>
              <a:ext cx="5724034" cy="3451167"/>
            </a:xfrm>
            <a:custGeom>
              <a:avLst/>
              <a:gdLst>
                <a:gd name="connsiteX0" fmla="*/ 2808622 w 5724034"/>
                <a:gd name="connsiteY0" fmla="*/ 207 h 3451167"/>
                <a:gd name="connsiteX1" fmla="*/ 4400004 w 5724034"/>
                <a:gd name="connsiteY1" fmla="*/ 607462 h 3451167"/>
                <a:gd name="connsiteX2" fmla="*/ 4745277 w 5724034"/>
                <a:gd name="connsiteY2" fmla="*/ 837612 h 3451167"/>
                <a:gd name="connsiteX3" fmla="*/ 5584627 w 5724034"/>
                <a:gd name="connsiteY3" fmla="*/ 1665805 h 3451167"/>
                <a:gd name="connsiteX4" fmla="*/ 5682689 w 5724034"/>
                <a:gd name="connsiteY4" fmla="*/ 1947596 h 3451167"/>
                <a:gd name="connsiteX5" fmla="*/ 5724034 w 5724034"/>
                <a:gd name="connsiteY5" fmla="*/ 2133764 h 3451167"/>
                <a:gd name="connsiteX6" fmla="*/ 5724034 w 5724034"/>
                <a:gd name="connsiteY6" fmla="*/ 3254784 h 3451167"/>
                <a:gd name="connsiteX7" fmla="*/ 5682668 w 5724034"/>
                <a:gd name="connsiteY7" fmla="*/ 3451167 h 3451167"/>
                <a:gd name="connsiteX8" fmla="*/ 3398 w 5724034"/>
                <a:gd name="connsiteY8" fmla="*/ 3451167 h 3451167"/>
                <a:gd name="connsiteX9" fmla="*/ 0 w 5724034"/>
                <a:gd name="connsiteY9" fmla="*/ 3332475 h 3451167"/>
                <a:gd name="connsiteX10" fmla="*/ 51930 w 5724034"/>
                <a:gd name="connsiteY10" fmla="*/ 2960389 h 3451167"/>
                <a:gd name="connsiteX11" fmla="*/ 562146 w 5724034"/>
                <a:gd name="connsiteY11" fmla="*/ 1816544 h 3451167"/>
                <a:gd name="connsiteX12" fmla="*/ 683754 w 5724034"/>
                <a:gd name="connsiteY12" fmla="*/ 1587775 h 3451167"/>
                <a:gd name="connsiteX13" fmla="*/ 1883792 w 5724034"/>
                <a:gd name="connsiteY13" fmla="*/ 191878 h 3451167"/>
                <a:gd name="connsiteX14" fmla="*/ 2808622 w 5724034"/>
                <a:gd name="connsiteY14" fmla="*/ 207 h 3451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724034" h="3451167">
                  <a:moveTo>
                    <a:pt x="2808622" y="207"/>
                  </a:moveTo>
                  <a:cubicBezTo>
                    <a:pt x="3316039" y="7471"/>
                    <a:pt x="3825452" y="206405"/>
                    <a:pt x="4400004" y="607462"/>
                  </a:cubicBezTo>
                  <a:cubicBezTo>
                    <a:pt x="4520314" y="691458"/>
                    <a:pt x="4634691" y="765791"/>
                    <a:pt x="4745277" y="837612"/>
                  </a:cubicBezTo>
                  <a:cubicBezTo>
                    <a:pt x="5203686" y="1135457"/>
                    <a:pt x="5430786" y="1295036"/>
                    <a:pt x="5584627" y="1665805"/>
                  </a:cubicBezTo>
                  <a:cubicBezTo>
                    <a:pt x="5622816" y="1757843"/>
                    <a:pt x="5655511" y="1851832"/>
                    <a:pt x="5682689" y="1947596"/>
                  </a:cubicBezTo>
                  <a:lnTo>
                    <a:pt x="5724034" y="2133764"/>
                  </a:lnTo>
                  <a:lnTo>
                    <a:pt x="5724034" y="3254784"/>
                  </a:lnTo>
                  <a:lnTo>
                    <a:pt x="5682668" y="3451167"/>
                  </a:lnTo>
                  <a:lnTo>
                    <a:pt x="3398" y="3451167"/>
                  </a:lnTo>
                  <a:lnTo>
                    <a:pt x="0" y="3332475"/>
                  </a:lnTo>
                  <a:cubicBezTo>
                    <a:pt x="1789" y="3212109"/>
                    <a:pt x="19193" y="3089357"/>
                    <a:pt x="51930" y="2960389"/>
                  </a:cubicBezTo>
                  <a:cubicBezTo>
                    <a:pt x="143234" y="2600640"/>
                    <a:pt x="346682" y="2219774"/>
                    <a:pt x="562146" y="1816544"/>
                  </a:cubicBezTo>
                  <a:cubicBezTo>
                    <a:pt x="601922" y="1742209"/>
                    <a:pt x="642967" y="1665303"/>
                    <a:pt x="683754" y="1587775"/>
                  </a:cubicBezTo>
                  <a:cubicBezTo>
                    <a:pt x="1048876" y="893902"/>
                    <a:pt x="1329611" y="421821"/>
                    <a:pt x="1883792" y="191878"/>
                  </a:cubicBezTo>
                  <a:cubicBezTo>
                    <a:pt x="2200442" y="60492"/>
                    <a:pt x="2504173" y="-4151"/>
                    <a:pt x="2808622" y="207"/>
                  </a:cubicBez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grpSp>
      <p:sp>
        <p:nvSpPr>
          <p:cNvPr id="3" name="Content Placeholder 2">
            <a:extLst>
              <a:ext uri="{FF2B5EF4-FFF2-40B4-BE49-F238E27FC236}">
                <a16:creationId xmlns:a16="http://schemas.microsoft.com/office/drawing/2014/main" id="{749FBB2C-7A4F-CDFF-6EBC-AC50E732D13B}"/>
              </a:ext>
            </a:extLst>
          </p:cNvPr>
          <p:cNvSpPr>
            <a:spLocks noGrp="1"/>
          </p:cNvSpPr>
          <p:nvPr>
            <p:ph idx="1"/>
          </p:nvPr>
        </p:nvSpPr>
        <p:spPr>
          <a:xfrm>
            <a:off x="914401" y="2222582"/>
            <a:ext cx="7887041" cy="4297011"/>
          </a:xfrm>
        </p:spPr>
        <p:txBody>
          <a:bodyPr vert="horz" lIns="109728" tIns="109728" rIns="109728" bIns="91440" rtlCol="0" anchor="t">
            <a:normAutofit/>
          </a:bodyPr>
          <a:lstStyle/>
          <a:p>
            <a:pPr>
              <a:lnSpc>
                <a:spcPct val="130000"/>
              </a:lnSpc>
            </a:pPr>
            <a:r>
              <a:rPr lang="en-US" dirty="0">
                <a:ea typeface="+mn-lt"/>
                <a:cs typeface="+mn-lt"/>
              </a:rPr>
              <a:t>Decision trees provided valuable interpretability by visually mapping how different features contribute to churn. The most significant splits occurred at </a:t>
            </a:r>
            <a:r>
              <a:rPr lang="en-US" dirty="0">
                <a:latin typeface="Consolas"/>
              </a:rPr>
              <a:t>Contract</a:t>
            </a:r>
            <a:r>
              <a:rPr lang="en-US" dirty="0">
                <a:ea typeface="+mn-lt"/>
                <a:cs typeface="+mn-lt"/>
              </a:rPr>
              <a:t>, </a:t>
            </a:r>
            <a:r>
              <a:rPr lang="en-US" dirty="0">
                <a:latin typeface="Consolas"/>
              </a:rPr>
              <a:t>tenure</a:t>
            </a:r>
            <a:r>
              <a:rPr lang="en-US" dirty="0">
                <a:ea typeface="+mn-lt"/>
                <a:cs typeface="+mn-lt"/>
              </a:rPr>
              <a:t>, and </a:t>
            </a:r>
            <a:r>
              <a:rPr lang="en-US" dirty="0" err="1">
                <a:latin typeface="Consolas"/>
              </a:rPr>
              <a:t>PaymentMethod</a:t>
            </a:r>
            <a:r>
              <a:rPr lang="en-US" dirty="0">
                <a:ea typeface="+mn-lt"/>
                <a:cs typeface="+mn-lt"/>
              </a:rPr>
              <a:t>. Customers with month-to-month contracts, short tenure, and electronic check payments showed the highest churn probability.</a:t>
            </a:r>
            <a:br>
              <a:rPr lang="en-US" dirty="0">
                <a:ea typeface="+mn-lt"/>
                <a:cs typeface="+mn-lt"/>
              </a:rPr>
            </a:br>
            <a:r>
              <a:rPr lang="en-US" dirty="0">
                <a:ea typeface="+mn-lt"/>
                <a:cs typeface="+mn-lt"/>
              </a:rPr>
              <a:t> This visualization makes it easier for business stakeholders to understand model outcomes and focus on high-risk customer groups for retention strategies.</a:t>
            </a:r>
            <a:endParaRPr lang="en-US" dirty="0">
              <a:ea typeface="Meiryo"/>
            </a:endParaRPr>
          </a:p>
        </p:txBody>
      </p:sp>
    </p:spTree>
    <p:extLst>
      <p:ext uri="{BB962C8B-B14F-4D97-AF65-F5344CB8AC3E}">
        <p14:creationId xmlns:p14="http://schemas.microsoft.com/office/powerpoint/2010/main" val="11646811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C14302F-E955-47D0-A56B-D1D1A6953B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73" y="-9274"/>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grpSp>
        <p:nvGrpSpPr>
          <p:cNvPr id="10" name="Group 9">
            <a:extLst>
              <a:ext uri="{FF2B5EF4-FFF2-40B4-BE49-F238E27FC236}">
                <a16:creationId xmlns:a16="http://schemas.microsoft.com/office/drawing/2014/main" id="{572E366A-B6DD-4F06-A42A-FF634FDE1BE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48839" y="970769"/>
            <a:ext cx="4936895" cy="4669465"/>
            <a:chOff x="648839" y="970769"/>
            <a:chExt cx="4936895" cy="4669465"/>
          </a:xfrm>
        </p:grpSpPr>
        <p:sp>
          <p:nvSpPr>
            <p:cNvPr id="11" name="Freeform: Shape 10">
              <a:extLst>
                <a:ext uri="{FF2B5EF4-FFF2-40B4-BE49-F238E27FC236}">
                  <a16:creationId xmlns:a16="http://schemas.microsoft.com/office/drawing/2014/main" id="{6750E550-BE93-4743-8659-1531F86CB6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743803" y="1124162"/>
              <a:ext cx="4691485" cy="4342182"/>
            </a:xfrm>
            <a:custGeom>
              <a:avLst/>
              <a:gdLst>
                <a:gd name="connsiteX0" fmla="*/ 2180840 w 3810827"/>
                <a:gd name="connsiteY0" fmla="*/ 0 h 3634591"/>
                <a:gd name="connsiteX1" fmla="*/ 2866380 w 3810827"/>
                <a:gd name="connsiteY1" fmla="*/ 145165 h 3634591"/>
                <a:gd name="connsiteX2" fmla="*/ 3366366 w 3810827"/>
                <a:gd name="connsiteY2" fmla="*/ 536835 h 3634591"/>
                <a:gd name="connsiteX3" fmla="*/ 3810827 w 3810827"/>
                <a:gd name="connsiteY3" fmla="*/ 1924156 h 3634591"/>
                <a:gd name="connsiteX4" fmla="*/ 3612844 w 3810827"/>
                <a:gd name="connsiteY4" fmla="*/ 2493111 h 3634591"/>
                <a:gd name="connsiteX5" fmla="*/ 3026664 w 3810827"/>
                <a:gd name="connsiteY5" fmla="*/ 3022891 h 3634591"/>
                <a:gd name="connsiteX6" fmla="*/ 2897783 w 3810827"/>
                <a:gd name="connsiteY6" fmla="*/ 3124233 h 3634591"/>
                <a:gd name="connsiteX7" fmla="*/ 1838765 w 3810827"/>
                <a:gd name="connsiteY7" fmla="*/ 3634591 h 3634591"/>
                <a:gd name="connsiteX8" fmla="*/ 443724 w 3810827"/>
                <a:gd name="connsiteY8" fmla="*/ 2805020 h 3634591"/>
                <a:gd name="connsiteX9" fmla="*/ 295053 w 3810827"/>
                <a:gd name="connsiteY9" fmla="*/ 2592792 h 3634591"/>
                <a:gd name="connsiteX10" fmla="*/ 0 w 3810827"/>
                <a:gd name="connsiteY10" fmla="*/ 1924156 h 3634591"/>
                <a:gd name="connsiteX11" fmla="*/ 178275 w 3810827"/>
                <a:gd name="connsiteY11" fmla="*/ 1204061 h 3634591"/>
                <a:gd name="connsiteX12" fmla="*/ 669921 w 3810827"/>
                <a:gd name="connsiteY12" fmla="*/ 585306 h 3634591"/>
                <a:gd name="connsiteX13" fmla="*/ 1380730 w 3810827"/>
                <a:gd name="connsiteY13" fmla="*/ 156203 h 3634591"/>
                <a:gd name="connsiteX14" fmla="*/ 2180840 w 3810827"/>
                <a:gd name="connsiteY14" fmla="*/ 0 h 3634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810827" h="3634591">
                  <a:moveTo>
                    <a:pt x="2180840" y="0"/>
                  </a:moveTo>
                  <a:cubicBezTo>
                    <a:pt x="2431406" y="0"/>
                    <a:pt x="2662018" y="48886"/>
                    <a:pt x="2866380" y="145165"/>
                  </a:cubicBezTo>
                  <a:cubicBezTo>
                    <a:pt x="3057903" y="235467"/>
                    <a:pt x="3226119" y="367269"/>
                    <a:pt x="3366366" y="536835"/>
                  </a:cubicBezTo>
                  <a:cubicBezTo>
                    <a:pt x="3652997" y="883519"/>
                    <a:pt x="3810827" y="1376199"/>
                    <a:pt x="3810827" y="1924156"/>
                  </a:cubicBezTo>
                  <a:cubicBezTo>
                    <a:pt x="3810827" y="2142775"/>
                    <a:pt x="3749739" y="2318234"/>
                    <a:pt x="3612844" y="2493111"/>
                  </a:cubicBezTo>
                  <a:cubicBezTo>
                    <a:pt x="3469652" y="2676041"/>
                    <a:pt x="3254495" y="2844528"/>
                    <a:pt x="3026664" y="3022891"/>
                  </a:cubicBezTo>
                  <a:cubicBezTo>
                    <a:pt x="2984630" y="3055759"/>
                    <a:pt x="2941206" y="3089789"/>
                    <a:pt x="2897783" y="3124233"/>
                  </a:cubicBezTo>
                  <a:cubicBezTo>
                    <a:pt x="2509094" y="3432490"/>
                    <a:pt x="2225408" y="3634591"/>
                    <a:pt x="1838765" y="3634591"/>
                  </a:cubicBezTo>
                  <a:cubicBezTo>
                    <a:pt x="1249640" y="3634591"/>
                    <a:pt x="832413" y="3386508"/>
                    <a:pt x="443724" y="2805020"/>
                  </a:cubicBezTo>
                  <a:cubicBezTo>
                    <a:pt x="392859" y="2728910"/>
                    <a:pt x="343138" y="2659690"/>
                    <a:pt x="295053" y="2592792"/>
                  </a:cubicBezTo>
                  <a:cubicBezTo>
                    <a:pt x="95761" y="2315411"/>
                    <a:pt x="0" y="2171160"/>
                    <a:pt x="0" y="1924156"/>
                  </a:cubicBezTo>
                  <a:cubicBezTo>
                    <a:pt x="0" y="1678896"/>
                    <a:pt x="60024" y="1436622"/>
                    <a:pt x="178275" y="1204061"/>
                  </a:cubicBezTo>
                  <a:cubicBezTo>
                    <a:pt x="293990" y="976561"/>
                    <a:pt x="459425" y="768319"/>
                    <a:pt x="669921" y="585306"/>
                  </a:cubicBezTo>
                  <a:cubicBezTo>
                    <a:pt x="876818" y="405365"/>
                    <a:pt x="1122558" y="256964"/>
                    <a:pt x="1380730" y="156203"/>
                  </a:cubicBezTo>
                  <a:cubicBezTo>
                    <a:pt x="1645852" y="52539"/>
                    <a:pt x="1915145" y="0"/>
                    <a:pt x="2180840" y="0"/>
                  </a:cubicBezTo>
                  <a:close/>
                </a:path>
              </a:pathLst>
            </a:custGeom>
            <a:solidFill>
              <a:schemeClr val="bg1">
                <a:alpha val="6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2" name="Freeform: Shape 11">
              <a:extLst>
                <a:ext uri="{FF2B5EF4-FFF2-40B4-BE49-F238E27FC236}">
                  <a16:creationId xmlns:a16="http://schemas.microsoft.com/office/drawing/2014/main" id="{BE626DC7-F0FE-49A7-AA4C-A8DB1F7EBA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864592" y="1290468"/>
              <a:ext cx="4389795" cy="4074679"/>
            </a:xfrm>
            <a:custGeom>
              <a:avLst/>
              <a:gdLst>
                <a:gd name="connsiteX0" fmla="*/ 2180840 w 3810827"/>
                <a:gd name="connsiteY0" fmla="*/ 0 h 3634591"/>
                <a:gd name="connsiteX1" fmla="*/ 2866380 w 3810827"/>
                <a:gd name="connsiteY1" fmla="*/ 145165 h 3634591"/>
                <a:gd name="connsiteX2" fmla="*/ 3366366 w 3810827"/>
                <a:gd name="connsiteY2" fmla="*/ 536835 h 3634591"/>
                <a:gd name="connsiteX3" fmla="*/ 3810827 w 3810827"/>
                <a:gd name="connsiteY3" fmla="*/ 1924156 h 3634591"/>
                <a:gd name="connsiteX4" fmla="*/ 3612844 w 3810827"/>
                <a:gd name="connsiteY4" fmla="*/ 2493111 h 3634591"/>
                <a:gd name="connsiteX5" fmla="*/ 3026664 w 3810827"/>
                <a:gd name="connsiteY5" fmla="*/ 3022891 h 3634591"/>
                <a:gd name="connsiteX6" fmla="*/ 2897783 w 3810827"/>
                <a:gd name="connsiteY6" fmla="*/ 3124233 h 3634591"/>
                <a:gd name="connsiteX7" fmla="*/ 1838765 w 3810827"/>
                <a:gd name="connsiteY7" fmla="*/ 3634591 h 3634591"/>
                <a:gd name="connsiteX8" fmla="*/ 443724 w 3810827"/>
                <a:gd name="connsiteY8" fmla="*/ 2805020 h 3634591"/>
                <a:gd name="connsiteX9" fmla="*/ 295053 w 3810827"/>
                <a:gd name="connsiteY9" fmla="*/ 2592792 h 3634591"/>
                <a:gd name="connsiteX10" fmla="*/ 0 w 3810827"/>
                <a:gd name="connsiteY10" fmla="*/ 1924156 h 3634591"/>
                <a:gd name="connsiteX11" fmla="*/ 178275 w 3810827"/>
                <a:gd name="connsiteY11" fmla="*/ 1204061 h 3634591"/>
                <a:gd name="connsiteX12" fmla="*/ 669921 w 3810827"/>
                <a:gd name="connsiteY12" fmla="*/ 585306 h 3634591"/>
                <a:gd name="connsiteX13" fmla="*/ 1380730 w 3810827"/>
                <a:gd name="connsiteY13" fmla="*/ 156203 h 3634591"/>
                <a:gd name="connsiteX14" fmla="*/ 2180840 w 3810827"/>
                <a:gd name="connsiteY14" fmla="*/ 0 h 3634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810827" h="3634591">
                  <a:moveTo>
                    <a:pt x="2180840" y="0"/>
                  </a:moveTo>
                  <a:cubicBezTo>
                    <a:pt x="2431406" y="0"/>
                    <a:pt x="2662018" y="48886"/>
                    <a:pt x="2866380" y="145165"/>
                  </a:cubicBezTo>
                  <a:cubicBezTo>
                    <a:pt x="3057903" y="235467"/>
                    <a:pt x="3226119" y="367269"/>
                    <a:pt x="3366366" y="536835"/>
                  </a:cubicBezTo>
                  <a:cubicBezTo>
                    <a:pt x="3652997" y="883519"/>
                    <a:pt x="3810827" y="1376199"/>
                    <a:pt x="3810827" y="1924156"/>
                  </a:cubicBezTo>
                  <a:cubicBezTo>
                    <a:pt x="3810827" y="2142775"/>
                    <a:pt x="3749739" y="2318234"/>
                    <a:pt x="3612844" y="2493111"/>
                  </a:cubicBezTo>
                  <a:cubicBezTo>
                    <a:pt x="3469652" y="2676041"/>
                    <a:pt x="3254495" y="2844528"/>
                    <a:pt x="3026664" y="3022891"/>
                  </a:cubicBezTo>
                  <a:cubicBezTo>
                    <a:pt x="2984630" y="3055759"/>
                    <a:pt x="2941206" y="3089789"/>
                    <a:pt x="2897783" y="3124233"/>
                  </a:cubicBezTo>
                  <a:cubicBezTo>
                    <a:pt x="2509094" y="3432490"/>
                    <a:pt x="2225408" y="3634591"/>
                    <a:pt x="1838765" y="3634591"/>
                  </a:cubicBezTo>
                  <a:cubicBezTo>
                    <a:pt x="1249640" y="3634591"/>
                    <a:pt x="832413" y="3386508"/>
                    <a:pt x="443724" y="2805020"/>
                  </a:cubicBezTo>
                  <a:cubicBezTo>
                    <a:pt x="392859" y="2728910"/>
                    <a:pt x="343138" y="2659690"/>
                    <a:pt x="295053" y="2592792"/>
                  </a:cubicBezTo>
                  <a:cubicBezTo>
                    <a:pt x="95761" y="2315411"/>
                    <a:pt x="0" y="2171160"/>
                    <a:pt x="0" y="1924156"/>
                  </a:cubicBezTo>
                  <a:cubicBezTo>
                    <a:pt x="0" y="1678896"/>
                    <a:pt x="60024" y="1436622"/>
                    <a:pt x="178275" y="1204061"/>
                  </a:cubicBezTo>
                  <a:cubicBezTo>
                    <a:pt x="293990" y="976561"/>
                    <a:pt x="459425" y="768319"/>
                    <a:pt x="669921" y="585306"/>
                  </a:cubicBezTo>
                  <a:cubicBezTo>
                    <a:pt x="876818" y="405365"/>
                    <a:pt x="1122558" y="256964"/>
                    <a:pt x="1380730" y="156203"/>
                  </a:cubicBezTo>
                  <a:cubicBezTo>
                    <a:pt x="1645852" y="52539"/>
                    <a:pt x="1915145" y="0"/>
                    <a:pt x="2180840" y="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Freeform: Shape 12">
              <a:extLst>
                <a:ext uri="{FF2B5EF4-FFF2-40B4-BE49-F238E27FC236}">
                  <a16:creationId xmlns:a16="http://schemas.microsoft.com/office/drawing/2014/main" id="{1EBB781F-78E5-4C66-811C-9FF8B5D501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1300000" flipH="1">
              <a:off x="648839" y="970769"/>
              <a:ext cx="4936895" cy="4669465"/>
            </a:xfrm>
            <a:custGeom>
              <a:avLst/>
              <a:gdLst>
                <a:gd name="connsiteX0" fmla="*/ 2180840 w 3810827"/>
                <a:gd name="connsiteY0" fmla="*/ 0 h 3634591"/>
                <a:gd name="connsiteX1" fmla="*/ 2866380 w 3810827"/>
                <a:gd name="connsiteY1" fmla="*/ 145165 h 3634591"/>
                <a:gd name="connsiteX2" fmla="*/ 3366366 w 3810827"/>
                <a:gd name="connsiteY2" fmla="*/ 536835 h 3634591"/>
                <a:gd name="connsiteX3" fmla="*/ 3810827 w 3810827"/>
                <a:gd name="connsiteY3" fmla="*/ 1924156 h 3634591"/>
                <a:gd name="connsiteX4" fmla="*/ 3612844 w 3810827"/>
                <a:gd name="connsiteY4" fmla="*/ 2493111 h 3634591"/>
                <a:gd name="connsiteX5" fmla="*/ 3026664 w 3810827"/>
                <a:gd name="connsiteY5" fmla="*/ 3022891 h 3634591"/>
                <a:gd name="connsiteX6" fmla="*/ 2897783 w 3810827"/>
                <a:gd name="connsiteY6" fmla="*/ 3124233 h 3634591"/>
                <a:gd name="connsiteX7" fmla="*/ 1838765 w 3810827"/>
                <a:gd name="connsiteY7" fmla="*/ 3634591 h 3634591"/>
                <a:gd name="connsiteX8" fmla="*/ 443724 w 3810827"/>
                <a:gd name="connsiteY8" fmla="*/ 2805020 h 3634591"/>
                <a:gd name="connsiteX9" fmla="*/ 295053 w 3810827"/>
                <a:gd name="connsiteY9" fmla="*/ 2592792 h 3634591"/>
                <a:gd name="connsiteX10" fmla="*/ 0 w 3810827"/>
                <a:gd name="connsiteY10" fmla="*/ 1924156 h 3634591"/>
                <a:gd name="connsiteX11" fmla="*/ 178275 w 3810827"/>
                <a:gd name="connsiteY11" fmla="*/ 1204061 h 3634591"/>
                <a:gd name="connsiteX12" fmla="*/ 669921 w 3810827"/>
                <a:gd name="connsiteY12" fmla="*/ 585306 h 3634591"/>
                <a:gd name="connsiteX13" fmla="*/ 1380730 w 3810827"/>
                <a:gd name="connsiteY13" fmla="*/ 156203 h 3634591"/>
                <a:gd name="connsiteX14" fmla="*/ 2180840 w 3810827"/>
                <a:gd name="connsiteY14" fmla="*/ 0 h 3634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810827" h="3634591">
                  <a:moveTo>
                    <a:pt x="2180840" y="0"/>
                  </a:moveTo>
                  <a:cubicBezTo>
                    <a:pt x="2431406" y="0"/>
                    <a:pt x="2662018" y="48886"/>
                    <a:pt x="2866380" y="145165"/>
                  </a:cubicBezTo>
                  <a:cubicBezTo>
                    <a:pt x="3057903" y="235467"/>
                    <a:pt x="3226119" y="367269"/>
                    <a:pt x="3366366" y="536835"/>
                  </a:cubicBezTo>
                  <a:cubicBezTo>
                    <a:pt x="3652997" y="883519"/>
                    <a:pt x="3810827" y="1376199"/>
                    <a:pt x="3810827" y="1924156"/>
                  </a:cubicBezTo>
                  <a:cubicBezTo>
                    <a:pt x="3810827" y="2142775"/>
                    <a:pt x="3749739" y="2318234"/>
                    <a:pt x="3612844" y="2493111"/>
                  </a:cubicBezTo>
                  <a:cubicBezTo>
                    <a:pt x="3469652" y="2676041"/>
                    <a:pt x="3254495" y="2844528"/>
                    <a:pt x="3026664" y="3022891"/>
                  </a:cubicBezTo>
                  <a:cubicBezTo>
                    <a:pt x="2984630" y="3055759"/>
                    <a:pt x="2941206" y="3089789"/>
                    <a:pt x="2897783" y="3124233"/>
                  </a:cubicBezTo>
                  <a:cubicBezTo>
                    <a:pt x="2509094" y="3432490"/>
                    <a:pt x="2225408" y="3634591"/>
                    <a:pt x="1838765" y="3634591"/>
                  </a:cubicBezTo>
                  <a:cubicBezTo>
                    <a:pt x="1249640" y="3634591"/>
                    <a:pt x="832413" y="3386508"/>
                    <a:pt x="443724" y="2805020"/>
                  </a:cubicBezTo>
                  <a:cubicBezTo>
                    <a:pt x="392859" y="2728910"/>
                    <a:pt x="343138" y="2659690"/>
                    <a:pt x="295053" y="2592792"/>
                  </a:cubicBezTo>
                  <a:cubicBezTo>
                    <a:pt x="95761" y="2315411"/>
                    <a:pt x="0" y="2171160"/>
                    <a:pt x="0" y="1924156"/>
                  </a:cubicBezTo>
                  <a:cubicBezTo>
                    <a:pt x="0" y="1678896"/>
                    <a:pt x="60024" y="1436622"/>
                    <a:pt x="178275" y="1204061"/>
                  </a:cubicBezTo>
                  <a:cubicBezTo>
                    <a:pt x="293990" y="976561"/>
                    <a:pt x="459425" y="768319"/>
                    <a:pt x="669921" y="585306"/>
                  </a:cubicBezTo>
                  <a:cubicBezTo>
                    <a:pt x="876818" y="405365"/>
                    <a:pt x="1122558" y="256964"/>
                    <a:pt x="1380730" y="156203"/>
                  </a:cubicBezTo>
                  <a:cubicBezTo>
                    <a:pt x="1645852" y="52539"/>
                    <a:pt x="1915145" y="0"/>
                    <a:pt x="2180840" y="0"/>
                  </a:cubicBezTo>
                  <a:close/>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8990B784-5EC1-179B-FBF9-DB42CF1CE80B}"/>
              </a:ext>
            </a:extLst>
          </p:cNvPr>
          <p:cNvSpPr>
            <a:spLocks noGrp="1"/>
          </p:cNvSpPr>
          <p:nvPr>
            <p:ph type="title"/>
          </p:nvPr>
        </p:nvSpPr>
        <p:spPr>
          <a:xfrm>
            <a:off x="1141323" y="1755738"/>
            <a:ext cx="3848242" cy="3011522"/>
          </a:xfrm>
        </p:spPr>
        <p:txBody>
          <a:bodyPr anchor="ctr">
            <a:normAutofit/>
          </a:bodyPr>
          <a:lstStyle/>
          <a:p>
            <a:r>
              <a:rPr lang="en-US" b="0" dirty="0">
                <a:ea typeface="+mj-lt"/>
                <a:cs typeface="+mj-lt"/>
              </a:rPr>
              <a:t>SVM &amp; K-Means Clustering</a:t>
            </a:r>
            <a:endParaRPr lang="en-US" dirty="0"/>
          </a:p>
        </p:txBody>
      </p:sp>
      <p:sp>
        <p:nvSpPr>
          <p:cNvPr id="3" name="Content Placeholder 2">
            <a:extLst>
              <a:ext uri="{FF2B5EF4-FFF2-40B4-BE49-F238E27FC236}">
                <a16:creationId xmlns:a16="http://schemas.microsoft.com/office/drawing/2014/main" id="{85A41DDB-0183-737D-C492-642D5A3ECADE}"/>
              </a:ext>
            </a:extLst>
          </p:cNvPr>
          <p:cNvSpPr>
            <a:spLocks noGrp="1"/>
          </p:cNvSpPr>
          <p:nvPr>
            <p:ph idx="1"/>
          </p:nvPr>
        </p:nvSpPr>
        <p:spPr>
          <a:xfrm>
            <a:off x="5596012" y="1105306"/>
            <a:ext cx="6569070" cy="5241502"/>
          </a:xfrm>
        </p:spPr>
        <p:txBody>
          <a:bodyPr vert="horz" lIns="109728" tIns="109728" rIns="109728" bIns="91440" rtlCol="0" anchor="ctr">
            <a:normAutofit/>
          </a:bodyPr>
          <a:lstStyle/>
          <a:p>
            <a:pPr>
              <a:lnSpc>
                <a:spcPct val="130000"/>
              </a:lnSpc>
            </a:pPr>
            <a:r>
              <a:rPr lang="en-US" sz="1400" dirty="0">
                <a:ea typeface="+mn-lt"/>
                <a:cs typeface="+mn-lt"/>
              </a:rPr>
              <a:t>The Support Vector Machine model, particularly with the RBF kernel, performed well, achieving an accuracy of 85%. It effectively classified borderline churn cases that other models struggled with. In addition, unsupervised learning using K-Means clustering helped segment customers into three main groups: high-risk, moderate-risk, and loyal customers.</a:t>
            </a:r>
            <a:br>
              <a:rPr lang="en-US" sz="1400">
                <a:ea typeface="+mn-lt"/>
                <a:cs typeface="+mn-lt"/>
              </a:rPr>
            </a:br>
            <a:r>
              <a:rPr lang="en-US" sz="1400" dirty="0">
                <a:ea typeface="+mn-lt"/>
                <a:cs typeface="+mn-lt"/>
              </a:rPr>
              <a:t> Cluster analysis revealed that low-tenure customers with high monthly charges were most likely to churn. This segmentation provides actionable insights for targeted offers and customer engagement programs.</a:t>
            </a:r>
            <a:endParaRPr lang="en-US" sz="1400" dirty="0"/>
          </a:p>
        </p:txBody>
      </p:sp>
    </p:spTree>
    <p:extLst>
      <p:ext uri="{BB962C8B-B14F-4D97-AF65-F5344CB8AC3E}">
        <p14:creationId xmlns:p14="http://schemas.microsoft.com/office/powerpoint/2010/main" val="356590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40ACA6C3-F2FA-4894-85C1-9FA6051045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7" name="Freeform: Shape 26">
            <a:extLst>
              <a:ext uri="{FF2B5EF4-FFF2-40B4-BE49-F238E27FC236}">
                <a16:creationId xmlns:a16="http://schemas.microsoft.com/office/drawing/2014/main" id="{76922BA5-6683-4195-97C3-F3D2A0BB16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026626" y="-5026319"/>
            <a:ext cx="2138900" cy="12191541"/>
          </a:xfrm>
          <a:custGeom>
            <a:avLst/>
            <a:gdLst>
              <a:gd name="connsiteX0" fmla="*/ 0 w 2382867"/>
              <a:gd name="connsiteY0" fmla="*/ 12191541 h 12191541"/>
              <a:gd name="connsiteX1" fmla="*/ 0 w 2382867"/>
              <a:gd name="connsiteY1" fmla="*/ 0 h 12191541"/>
              <a:gd name="connsiteX2" fmla="*/ 1758230 w 2382867"/>
              <a:gd name="connsiteY2" fmla="*/ 0 h 12191541"/>
              <a:gd name="connsiteX3" fmla="*/ 1849759 w 2382867"/>
              <a:gd name="connsiteY3" fmla="*/ 405062 h 12191541"/>
              <a:gd name="connsiteX4" fmla="*/ 2382867 w 2382867"/>
              <a:gd name="connsiteY4" fmla="*/ 6524518 h 12191541"/>
              <a:gd name="connsiteX5" fmla="*/ 1334945 w 2382867"/>
              <a:gd name="connsiteY5" fmla="*/ 12017007 h 12191541"/>
              <a:gd name="connsiteX6" fmla="*/ 1268170 w 2382867"/>
              <a:gd name="connsiteY6" fmla="*/ 12191541 h 12191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82867" h="12191541">
                <a:moveTo>
                  <a:pt x="0" y="12191541"/>
                </a:moveTo>
                <a:lnTo>
                  <a:pt x="0" y="0"/>
                </a:lnTo>
                <a:lnTo>
                  <a:pt x="1758230" y="0"/>
                </a:lnTo>
                <a:lnTo>
                  <a:pt x="1849759" y="405062"/>
                </a:lnTo>
                <a:cubicBezTo>
                  <a:pt x="2196195" y="2048010"/>
                  <a:pt x="2382867" y="4186399"/>
                  <a:pt x="2382867" y="6524518"/>
                </a:cubicBezTo>
                <a:cubicBezTo>
                  <a:pt x="2382867" y="9147937"/>
                  <a:pt x="1893395" y="10555417"/>
                  <a:pt x="1334945" y="12017007"/>
                </a:cubicBezTo>
                <a:lnTo>
                  <a:pt x="1268170" y="12191541"/>
                </a:ln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9" name="Freeform: Shape 28">
            <a:extLst>
              <a:ext uri="{FF2B5EF4-FFF2-40B4-BE49-F238E27FC236}">
                <a16:creationId xmlns:a16="http://schemas.microsoft.com/office/drawing/2014/main" id="{E59169C9-0DBE-4B66-9C16-22A64324AA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527211" y="-4339476"/>
            <a:ext cx="1137882" cy="12191694"/>
          </a:xfrm>
          <a:custGeom>
            <a:avLst/>
            <a:gdLst>
              <a:gd name="connsiteX0" fmla="*/ 0 w 1240954"/>
              <a:gd name="connsiteY0" fmla="*/ 12191694 h 12191694"/>
              <a:gd name="connsiteX1" fmla="*/ 72823 w 1240954"/>
              <a:gd name="connsiteY1" fmla="*/ 12017158 h 12191694"/>
              <a:gd name="connsiteX2" fmla="*/ 1215669 w 1240954"/>
              <a:gd name="connsiteY2" fmla="*/ 6524669 h 12191694"/>
              <a:gd name="connsiteX3" fmla="*/ 634271 w 1240954"/>
              <a:gd name="connsiteY3" fmla="*/ 405211 h 12191694"/>
              <a:gd name="connsiteX4" fmla="*/ 534414 w 1240954"/>
              <a:gd name="connsiteY4" fmla="*/ 0 h 12191694"/>
              <a:gd name="connsiteX5" fmla="*/ 559698 w 1240954"/>
              <a:gd name="connsiteY5" fmla="*/ 0 h 12191694"/>
              <a:gd name="connsiteX6" fmla="*/ 659555 w 1240954"/>
              <a:gd name="connsiteY6" fmla="*/ 405211 h 12191694"/>
              <a:gd name="connsiteX7" fmla="*/ 1240954 w 1240954"/>
              <a:gd name="connsiteY7" fmla="*/ 6524669 h 12191694"/>
              <a:gd name="connsiteX8" fmla="*/ 98108 w 1240954"/>
              <a:gd name="connsiteY8" fmla="*/ 12017158 h 12191694"/>
              <a:gd name="connsiteX9" fmla="*/ 25285 w 1240954"/>
              <a:gd name="connsiteY9" fmla="*/ 12191694 h 121916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40954" h="12191694">
                <a:moveTo>
                  <a:pt x="0" y="12191694"/>
                </a:moveTo>
                <a:lnTo>
                  <a:pt x="72823" y="12017158"/>
                </a:lnTo>
                <a:cubicBezTo>
                  <a:pt x="681859" y="10555569"/>
                  <a:pt x="1215669" y="9148088"/>
                  <a:pt x="1215669" y="6524669"/>
                </a:cubicBezTo>
                <a:cubicBezTo>
                  <a:pt x="1215670" y="4186551"/>
                  <a:pt x="1012087" y="2048160"/>
                  <a:pt x="634271" y="405211"/>
                </a:cubicBezTo>
                <a:lnTo>
                  <a:pt x="534414" y="0"/>
                </a:lnTo>
                <a:lnTo>
                  <a:pt x="559698" y="0"/>
                </a:lnTo>
                <a:lnTo>
                  <a:pt x="659555" y="405211"/>
                </a:lnTo>
                <a:cubicBezTo>
                  <a:pt x="1037372" y="2048160"/>
                  <a:pt x="1240954" y="4186551"/>
                  <a:pt x="1240954" y="6524669"/>
                </a:cubicBezTo>
                <a:cubicBezTo>
                  <a:pt x="1240954" y="9148088"/>
                  <a:pt x="707144" y="10555569"/>
                  <a:pt x="98108" y="12017158"/>
                </a:cubicBezTo>
                <a:lnTo>
                  <a:pt x="25285" y="12191694"/>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 name="Title 1">
            <a:extLst>
              <a:ext uri="{FF2B5EF4-FFF2-40B4-BE49-F238E27FC236}">
                <a16:creationId xmlns:a16="http://schemas.microsoft.com/office/drawing/2014/main" id="{40C04262-1591-973F-52F5-C0A8A904D955}"/>
              </a:ext>
            </a:extLst>
          </p:cNvPr>
          <p:cNvSpPr>
            <a:spLocks noGrp="1"/>
          </p:cNvSpPr>
          <p:nvPr>
            <p:ph type="title"/>
          </p:nvPr>
        </p:nvSpPr>
        <p:spPr>
          <a:xfrm>
            <a:off x="1217944" y="543687"/>
            <a:ext cx="9756112" cy="1046868"/>
          </a:xfrm>
        </p:spPr>
        <p:txBody>
          <a:bodyPr anchor="ctr">
            <a:normAutofit/>
          </a:bodyPr>
          <a:lstStyle/>
          <a:p>
            <a:pPr algn="ctr"/>
            <a:r>
              <a:rPr lang="en-US" b="0" dirty="0">
                <a:ea typeface="+mj-lt"/>
                <a:cs typeface="+mj-lt"/>
              </a:rPr>
              <a:t>Model Evaluation and Comparison</a:t>
            </a:r>
            <a:endParaRPr lang="en-US" dirty="0">
              <a:ea typeface="Meiryo"/>
            </a:endParaRPr>
          </a:p>
        </p:txBody>
      </p:sp>
      <p:sp>
        <p:nvSpPr>
          <p:cNvPr id="31" name="Freeform: Shape 30">
            <a:extLst>
              <a:ext uri="{FF2B5EF4-FFF2-40B4-BE49-F238E27FC236}">
                <a16:creationId xmlns:a16="http://schemas.microsoft.com/office/drawing/2014/main" id="{F0457BB4-CED7-4065-8959-D6B51491BB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590529" y="-4583452"/>
            <a:ext cx="1011248" cy="12191695"/>
          </a:xfrm>
          <a:custGeom>
            <a:avLst/>
            <a:gdLst>
              <a:gd name="connsiteX0" fmla="*/ 0 w 1102849"/>
              <a:gd name="connsiteY0" fmla="*/ 12191695 h 12191695"/>
              <a:gd name="connsiteX1" fmla="*/ 65312 w 1102849"/>
              <a:gd name="connsiteY1" fmla="*/ 12017158 h 12191695"/>
              <a:gd name="connsiteX2" fmla="*/ 1090278 w 1102849"/>
              <a:gd name="connsiteY2" fmla="*/ 6524670 h 12191695"/>
              <a:gd name="connsiteX3" fmla="*/ 568848 w 1102849"/>
              <a:gd name="connsiteY3" fmla="*/ 405211 h 12191695"/>
              <a:gd name="connsiteX4" fmla="*/ 479291 w 1102849"/>
              <a:gd name="connsiteY4" fmla="*/ 0 h 12191695"/>
              <a:gd name="connsiteX5" fmla="*/ 491862 w 1102849"/>
              <a:gd name="connsiteY5" fmla="*/ 0 h 12191695"/>
              <a:gd name="connsiteX6" fmla="*/ 581419 w 1102849"/>
              <a:gd name="connsiteY6" fmla="*/ 405211 h 12191695"/>
              <a:gd name="connsiteX7" fmla="*/ 1102849 w 1102849"/>
              <a:gd name="connsiteY7" fmla="*/ 6524670 h 12191695"/>
              <a:gd name="connsiteX8" fmla="*/ 77883 w 1102849"/>
              <a:gd name="connsiteY8" fmla="*/ 12017158 h 12191695"/>
              <a:gd name="connsiteX9" fmla="*/ 12571 w 1102849"/>
              <a:gd name="connsiteY9" fmla="*/ 12191695 h 12191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02849" h="12191695">
                <a:moveTo>
                  <a:pt x="0" y="12191695"/>
                </a:moveTo>
                <a:lnTo>
                  <a:pt x="65312" y="12017158"/>
                </a:lnTo>
                <a:cubicBezTo>
                  <a:pt x="611528" y="10555569"/>
                  <a:pt x="1090278" y="9148088"/>
                  <a:pt x="1090278" y="6524670"/>
                </a:cubicBezTo>
                <a:cubicBezTo>
                  <a:pt x="1090278" y="4186551"/>
                  <a:pt x="907694" y="2048159"/>
                  <a:pt x="568848" y="405211"/>
                </a:cubicBezTo>
                <a:lnTo>
                  <a:pt x="479291" y="0"/>
                </a:lnTo>
                <a:lnTo>
                  <a:pt x="491862" y="0"/>
                </a:lnTo>
                <a:lnTo>
                  <a:pt x="581419" y="405211"/>
                </a:lnTo>
                <a:cubicBezTo>
                  <a:pt x="920265" y="2048159"/>
                  <a:pt x="1102849" y="4186551"/>
                  <a:pt x="1102849" y="6524670"/>
                </a:cubicBezTo>
                <a:cubicBezTo>
                  <a:pt x="1102849" y="9148088"/>
                  <a:pt x="624099" y="10555569"/>
                  <a:pt x="77883" y="12017158"/>
                </a:cubicBezTo>
                <a:lnTo>
                  <a:pt x="12571" y="12191695"/>
                </a:lnTo>
                <a:close/>
              </a:path>
            </a:pathLst>
          </a:cu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graphicFrame>
        <p:nvGraphicFramePr>
          <p:cNvPr id="4" name="Content Placeholder 3">
            <a:extLst>
              <a:ext uri="{FF2B5EF4-FFF2-40B4-BE49-F238E27FC236}">
                <a16:creationId xmlns:a16="http://schemas.microsoft.com/office/drawing/2014/main" id="{48D71D4C-DE62-BA8F-F24A-80A41709FEEB}"/>
              </a:ext>
            </a:extLst>
          </p:cNvPr>
          <p:cNvGraphicFramePr>
            <a:graphicFrameLocks noGrp="1"/>
          </p:cNvGraphicFramePr>
          <p:nvPr>
            <p:ph idx="1"/>
            <p:extLst>
              <p:ext uri="{D42A27DB-BD31-4B8C-83A1-F6EECF244321}">
                <p14:modId xmlns:p14="http://schemas.microsoft.com/office/powerpoint/2010/main" val="2862686551"/>
              </p:ext>
            </p:extLst>
          </p:nvPr>
        </p:nvGraphicFramePr>
        <p:xfrm>
          <a:off x="387457" y="2402237"/>
          <a:ext cx="11463797" cy="3981369"/>
        </p:xfrm>
        <a:graphic>
          <a:graphicData uri="http://schemas.openxmlformats.org/drawingml/2006/table">
            <a:tbl>
              <a:tblPr firstRow="1" bandRow="1">
                <a:noFill/>
                <a:tableStyleId>{638B1855-1B75-4FBE-930C-398BA8C253C6}</a:tableStyleId>
              </a:tblPr>
              <a:tblGrid>
                <a:gridCol w="2043522">
                  <a:extLst>
                    <a:ext uri="{9D8B030D-6E8A-4147-A177-3AD203B41FA5}">
                      <a16:colId xmlns:a16="http://schemas.microsoft.com/office/drawing/2014/main" val="3806787380"/>
                    </a:ext>
                  </a:extLst>
                </a:gridCol>
                <a:gridCol w="2158044">
                  <a:extLst>
                    <a:ext uri="{9D8B030D-6E8A-4147-A177-3AD203B41FA5}">
                      <a16:colId xmlns:a16="http://schemas.microsoft.com/office/drawing/2014/main" val="1262812579"/>
                    </a:ext>
                  </a:extLst>
                </a:gridCol>
                <a:gridCol w="2127258">
                  <a:extLst>
                    <a:ext uri="{9D8B030D-6E8A-4147-A177-3AD203B41FA5}">
                      <a16:colId xmlns:a16="http://schemas.microsoft.com/office/drawing/2014/main" val="4288871760"/>
                    </a:ext>
                  </a:extLst>
                </a:gridCol>
                <a:gridCol w="1680872">
                  <a:extLst>
                    <a:ext uri="{9D8B030D-6E8A-4147-A177-3AD203B41FA5}">
                      <a16:colId xmlns:a16="http://schemas.microsoft.com/office/drawing/2014/main" val="3436108531"/>
                    </a:ext>
                  </a:extLst>
                </a:gridCol>
                <a:gridCol w="1234487">
                  <a:extLst>
                    <a:ext uri="{9D8B030D-6E8A-4147-A177-3AD203B41FA5}">
                      <a16:colId xmlns:a16="http://schemas.microsoft.com/office/drawing/2014/main" val="140943792"/>
                    </a:ext>
                  </a:extLst>
                </a:gridCol>
                <a:gridCol w="2219614">
                  <a:extLst>
                    <a:ext uri="{9D8B030D-6E8A-4147-A177-3AD203B41FA5}">
                      <a16:colId xmlns:a16="http://schemas.microsoft.com/office/drawing/2014/main" val="1141469178"/>
                    </a:ext>
                  </a:extLst>
                </a:gridCol>
              </a:tblGrid>
              <a:tr h="1119760">
                <a:tc>
                  <a:txBody>
                    <a:bodyPr/>
                    <a:lstStyle/>
                    <a:p>
                      <a:r>
                        <a:rPr lang="en-US" sz="1700" dirty="0">
                          <a:solidFill>
                            <a:schemeClr val="tx1">
                              <a:lumMod val="75000"/>
                              <a:lumOff val="25000"/>
                            </a:schemeClr>
                          </a:solidFill>
                        </a:rPr>
                        <a:t>MODEL</a:t>
                      </a:r>
                    </a:p>
                  </a:txBody>
                  <a:tcPr marL="211945" marR="127167" marT="127167" marB="127167">
                    <a:lnL w="12700" cmpd="sng">
                      <a:noFill/>
                      <a:prstDash val="solid"/>
                    </a:lnL>
                    <a:lnR w="12700" cmpd="sng">
                      <a:noFill/>
                      <a:prstDash val="solid"/>
                    </a:lnR>
                    <a:lnT w="19050" cap="flat" cmpd="sng" algn="ctr">
                      <a:solidFill>
                        <a:srgbClr val="8F9A9D">
                          <a:alpha val="60000"/>
                        </a:srgbClr>
                      </a:solidFill>
                      <a:prstDash val="solid"/>
                    </a:lnT>
                    <a:lnB w="12700" cmpd="sng">
                      <a:noFill/>
                      <a:prstDash val="solid"/>
                    </a:lnB>
                    <a:solidFill>
                      <a:srgbClr val="10748E"/>
                    </a:solidFill>
                  </a:tcPr>
                </a:tc>
                <a:tc>
                  <a:txBody>
                    <a:bodyPr/>
                    <a:lstStyle/>
                    <a:p>
                      <a:r>
                        <a:rPr lang="en-US" sz="1700" dirty="0">
                          <a:solidFill>
                            <a:schemeClr val="tx1">
                              <a:lumMod val="75000"/>
                              <a:lumOff val="25000"/>
                            </a:schemeClr>
                          </a:solidFill>
                        </a:rPr>
                        <a:t>ACCURACY</a:t>
                      </a:r>
                    </a:p>
                  </a:txBody>
                  <a:tcPr marL="211945" marR="127167" marT="127167" marB="127167">
                    <a:lnL w="12700" cmpd="sng">
                      <a:noFill/>
                      <a:prstDash val="solid"/>
                    </a:lnL>
                    <a:lnR w="12700" cmpd="sng">
                      <a:noFill/>
                      <a:prstDash val="solid"/>
                    </a:lnR>
                    <a:lnT w="19050" cap="flat" cmpd="sng" algn="ctr">
                      <a:solidFill>
                        <a:srgbClr val="8F9A9D">
                          <a:alpha val="60000"/>
                        </a:srgbClr>
                      </a:solidFill>
                      <a:prstDash val="solid"/>
                    </a:lnT>
                    <a:lnB w="12700" cmpd="sng">
                      <a:noFill/>
                      <a:prstDash val="solid"/>
                    </a:lnB>
                    <a:solidFill>
                      <a:srgbClr val="10748E"/>
                    </a:solidFill>
                  </a:tcPr>
                </a:tc>
                <a:tc>
                  <a:txBody>
                    <a:bodyPr/>
                    <a:lstStyle/>
                    <a:p>
                      <a:r>
                        <a:rPr lang="en-US" sz="1700" dirty="0">
                          <a:solidFill>
                            <a:schemeClr val="tx1">
                              <a:lumMod val="75000"/>
                              <a:lumOff val="25000"/>
                            </a:schemeClr>
                          </a:solidFill>
                        </a:rPr>
                        <a:t>PRECISION</a:t>
                      </a:r>
                    </a:p>
                  </a:txBody>
                  <a:tcPr marL="211945" marR="127167" marT="127167" marB="127167">
                    <a:lnL w="12700" cmpd="sng">
                      <a:noFill/>
                      <a:prstDash val="solid"/>
                    </a:lnL>
                    <a:lnR w="12700" cmpd="sng">
                      <a:noFill/>
                      <a:prstDash val="solid"/>
                    </a:lnR>
                    <a:lnT w="19050" cap="flat" cmpd="sng" algn="ctr">
                      <a:solidFill>
                        <a:srgbClr val="8F9A9D">
                          <a:alpha val="60000"/>
                        </a:srgbClr>
                      </a:solidFill>
                      <a:prstDash val="solid"/>
                    </a:lnT>
                    <a:lnB w="12700" cmpd="sng">
                      <a:noFill/>
                      <a:prstDash val="solid"/>
                    </a:lnB>
                    <a:solidFill>
                      <a:srgbClr val="10748E"/>
                    </a:solidFill>
                  </a:tcPr>
                </a:tc>
                <a:tc>
                  <a:txBody>
                    <a:bodyPr/>
                    <a:lstStyle/>
                    <a:p>
                      <a:r>
                        <a:rPr lang="en-US" sz="1700" dirty="0">
                          <a:solidFill>
                            <a:schemeClr val="tx1">
                              <a:lumMod val="75000"/>
                              <a:lumOff val="25000"/>
                            </a:schemeClr>
                          </a:solidFill>
                        </a:rPr>
                        <a:t>RECALL</a:t>
                      </a:r>
                    </a:p>
                  </a:txBody>
                  <a:tcPr marL="211945" marR="127167" marT="127167" marB="127167">
                    <a:lnL w="12700" cmpd="sng">
                      <a:noFill/>
                      <a:prstDash val="solid"/>
                    </a:lnL>
                    <a:lnR w="12700" cmpd="sng">
                      <a:noFill/>
                      <a:prstDash val="solid"/>
                    </a:lnR>
                    <a:lnT w="19050" cap="flat" cmpd="sng" algn="ctr">
                      <a:solidFill>
                        <a:srgbClr val="8F9A9D">
                          <a:alpha val="60000"/>
                        </a:srgbClr>
                      </a:solidFill>
                      <a:prstDash val="solid"/>
                    </a:lnT>
                    <a:lnB w="12700" cmpd="sng">
                      <a:noFill/>
                      <a:prstDash val="solid"/>
                    </a:lnB>
                    <a:solidFill>
                      <a:srgbClr val="10748E"/>
                    </a:solidFill>
                  </a:tcPr>
                </a:tc>
                <a:tc>
                  <a:txBody>
                    <a:bodyPr/>
                    <a:lstStyle/>
                    <a:p>
                      <a:r>
                        <a:rPr lang="en-US" sz="1700" dirty="0">
                          <a:solidFill>
                            <a:schemeClr val="tx1">
                              <a:lumMod val="75000"/>
                              <a:lumOff val="25000"/>
                            </a:schemeClr>
                          </a:solidFill>
                        </a:rPr>
                        <a:t>ROC-AUC</a:t>
                      </a:r>
                    </a:p>
                  </a:txBody>
                  <a:tcPr marL="211945" marR="127167" marT="127167" marB="127167">
                    <a:lnL w="12700" cmpd="sng">
                      <a:noFill/>
                      <a:prstDash val="solid"/>
                    </a:lnL>
                    <a:lnR w="12700" cmpd="sng">
                      <a:noFill/>
                      <a:prstDash val="solid"/>
                    </a:lnR>
                    <a:lnT w="19050" cap="flat" cmpd="sng" algn="ctr">
                      <a:solidFill>
                        <a:srgbClr val="8F9A9D">
                          <a:alpha val="60000"/>
                        </a:srgbClr>
                      </a:solidFill>
                      <a:prstDash val="solid"/>
                    </a:lnT>
                    <a:lnB w="12700" cmpd="sng">
                      <a:noFill/>
                      <a:prstDash val="solid"/>
                    </a:lnB>
                    <a:solidFill>
                      <a:srgbClr val="10748E"/>
                    </a:solidFill>
                  </a:tcPr>
                </a:tc>
                <a:tc>
                  <a:txBody>
                    <a:bodyPr/>
                    <a:lstStyle/>
                    <a:p>
                      <a:r>
                        <a:rPr lang="en-US" sz="1700" dirty="0">
                          <a:solidFill>
                            <a:schemeClr val="tx1">
                              <a:lumMod val="75000"/>
                              <a:lumOff val="25000"/>
                            </a:schemeClr>
                          </a:solidFill>
                        </a:rPr>
                        <a:t>COMMENTS</a:t>
                      </a:r>
                    </a:p>
                  </a:txBody>
                  <a:tcPr marL="211945" marR="127167" marT="127167" marB="127167">
                    <a:lnL w="12700" cmpd="sng">
                      <a:noFill/>
                      <a:prstDash val="solid"/>
                    </a:lnL>
                    <a:lnR w="12700" cmpd="sng">
                      <a:noFill/>
                      <a:prstDash val="solid"/>
                    </a:lnR>
                    <a:lnT w="19050" cap="flat" cmpd="sng" algn="ctr">
                      <a:solidFill>
                        <a:srgbClr val="8F9A9D">
                          <a:alpha val="60000"/>
                        </a:srgbClr>
                      </a:solidFill>
                      <a:prstDash val="solid"/>
                    </a:lnT>
                    <a:lnB w="12700" cmpd="sng">
                      <a:noFill/>
                      <a:prstDash val="solid"/>
                    </a:lnB>
                    <a:solidFill>
                      <a:srgbClr val="10748E"/>
                    </a:solidFill>
                  </a:tcPr>
                </a:tc>
                <a:extLst>
                  <a:ext uri="{0D108BD9-81ED-4DB2-BD59-A6C34878D82A}">
                    <a16:rowId xmlns:a16="http://schemas.microsoft.com/office/drawing/2014/main" val="2496860030"/>
                  </a:ext>
                </a:extLst>
              </a:tr>
              <a:tr h="933134">
                <a:tc>
                  <a:txBody>
                    <a:bodyPr/>
                    <a:lstStyle/>
                    <a:p>
                      <a:r>
                        <a:rPr lang="en-US" sz="1300" dirty="0">
                          <a:solidFill>
                            <a:schemeClr val="tx1">
                              <a:lumMod val="75000"/>
                              <a:lumOff val="25000"/>
                            </a:schemeClr>
                          </a:solidFill>
                        </a:rPr>
                        <a:t>Logistic  Regression</a:t>
                      </a:r>
                    </a:p>
                  </a:txBody>
                  <a:tcPr marL="211945" marR="110211" marT="110211" marB="110211">
                    <a:lnL w="12700" cmpd="sng">
                      <a:noFill/>
                      <a:prstDash val="solid"/>
                    </a:lnL>
                    <a:lnR w="12700" cmpd="sng">
                      <a:noFill/>
                      <a:prstDash val="solid"/>
                    </a:lnR>
                    <a:lnT w="12700" cmpd="sng">
                      <a:noFill/>
                      <a:prstDash val="solid"/>
                    </a:lnT>
                    <a:lnB w="19050" cap="flat" cmpd="sng" algn="ctr">
                      <a:solidFill>
                        <a:srgbClr val="FFFFFF"/>
                      </a:solidFill>
                      <a:prstDash val="solid"/>
                    </a:lnB>
                    <a:solidFill>
                      <a:srgbClr val="B4BCBE">
                        <a:alpha val="34902"/>
                      </a:srgbClr>
                    </a:solidFill>
                  </a:tcPr>
                </a:tc>
                <a:tc>
                  <a:txBody>
                    <a:bodyPr/>
                    <a:lstStyle/>
                    <a:p>
                      <a:r>
                        <a:rPr lang="en-US" sz="1300" dirty="0">
                          <a:solidFill>
                            <a:schemeClr val="tx1">
                              <a:lumMod val="75000"/>
                              <a:lumOff val="25000"/>
                            </a:schemeClr>
                          </a:solidFill>
                        </a:rPr>
                        <a:t>0.79</a:t>
                      </a:r>
                    </a:p>
                  </a:txBody>
                  <a:tcPr marL="211945" marR="110211" marT="110211" marB="110211">
                    <a:lnL w="12700" cmpd="sng">
                      <a:noFill/>
                      <a:prstDash val="solid"/>
                    </a:lnL>
                    <a:lnR w="12700" cmpd="sng">
                      <a:noFill/>
                      <a:prstDash val="solid"/>
                    </a:lnR>
                    <a:lnT w="12700" cmpd="sng">
                      <a:noFill/>
                      <a:prstDash val="solid"/>
                    </a:lnT>
                    <a:lnB w="19050" cap="flat" cmpd="sng" algn="ctr">
                      <a:solidFill>
                        <a:srgbClr val="FFFFFF"/>
                      </a:solidFill>
                      <a:prstDash val="solid"/>
                    </a:lnB>
                    <a:solidFill>
                      <a:srgbClr val="B4BCBE">
                        <a:alpha val="34902"/>
                      </a:srgbClr>
                    </a:solidFill>
                  </a:tcPr>
                </a:tc>
                <a:tc>
                  <a:txBody>
                    <a:bodyPr/>
                    <a:lstStyle/>
                    <a:p>
                      <a:r>
                        <a:rPr lang="en-US" sz="1300" dirty="0">
                          <a:solidFill>
                            <a:schemeClr val="tx1">
                              <a:lumMod val="75000"/>
                              <a:lumOff val="25000"/>
                            </a:schemeClr>
                          </a:solidFill>
                        </a:rPr>
                        <a:t>0.76</a:t>
                      </a:r>
                    </a:p>
                  </a:txBody>
                  <a:tcPr marL="211945" marR="110211" marT="110211" marB="110211">
                    <a:lnL w="12700" cmpd="sng">
                      <a:noFill/>
                      <a:prstDash val="solid"/>
                    </a:lnL>
                    <a:lnR w="12700" cmpd="sng">
                      <a:noFill/>
                      <a:prstDash val="solid"/>
                    </a:lnR>
                    <a:lnT w="12700" cmpd="sng">
                      <a:noFill/>
                      <a:prstDash val="solid"/>
                    </a:lnT>
                    <a:lnB w="19050" cap="flat" cmpd="sng" algn="ctr">
                      <a:solidFill>
                        <a:srgbClr val="FFFFFF"/>
                      </a:solidFill>
                      <a:prstDash val="solid"/>
                    </a:lnB>
                    <a:solidFill>
                      <a:srgbClr val="B4BCBE">
                        <a:alpha val="34902"/>
                      </a:srgbClr>
                    </a:solidFill>
                  </a:tcPr>
                </a:tc>
                <a:tc>
                  <a:txBody>
                    <a:bodyPr/>
                    <a:lstStyle/>
                    <a:p>
                      <a:r>
                        <a:rPr lang="en-US" sz="1300" dirty="0">
                          <a:solidFill>
                            <a:schemeClr val="tx1">
                              <a:lumMod val="75000"/>
                              <a:lumOff val="25000"/>
                            </a:schemeClr>
                          </a:solidFill>
                        </a:rPr>
                        <a:t>0.74</a:t>
                      </a:r>
                    </a:p>
                  </a:txBody>
                  <a:tcPr marL="211945" marR="110211" marT="110211" marB="110211">
                    <a:lnL w="12700" cmpd="sng">
                      <a:noFill/>
                      <a:prstDash val="solid"/>
                    </a:lnL>
                    <a:lnR w="12700" cmpd="sng">
                      <a:noFill/>
                      <a:prstDash val="solid"/>
                    </a:lnR>
                    <a:lnT w="12700" cmpd="sng">
                      <a:noFill/>
                      <a:prstDash val="solid"/>
                    </a:lnT>
                    <a:lnB w="19050" cap="flat" cmpd="sng" algn="ctr">
                      <a:solidFill>
                        <a:srgbClr val="FFFFFF"/>
                      </a:solidFill>
                      <a:prstDash val="solid"/>
                    </a:lnB>
                    <a:solidFill>
                      <a:srgbClr val="B4BCBE">
                        <a:alpha val="34902"/>
                      </a:srgbClr>
                    </a:solidFill>
                  </a:tcPr>
                </a:tc>
                <a:tc>
                  <a:txBody>
                    <a:bodyPr/>
                    <a:lstStyle/>
                    <a:p>
                      <a:r>
                        <a:rPr lang="en-US" sz="1300" dirty="0">
                          <a:solidFill>
                            <a:schemeClr val="tx1">
                              <a:lumMod val="75000"/>
                              <a:lumOff val="25000"/>
                            </a:schemeClr>
                          </a:solidFill>
                        </a:rPr>
                        <a:t>0.81</a:t>
                      </a:r>
                    </a:p>
                  </a:txBody>
                  <a:tcPr marL="211945" marR="110211" marT="110211" marB="110211">
                    <a:lnL w="12700" cmpd="sng">
                      <a:noFill/>
                      <a:prstDash val="solid"/>
                    </a:lnL>
                    <a:lnR w="12700" cmpd="sng">
                      <a:noFill/>
                      <a:prstDash val="solid"/>
                    </a:lnR>
                    <a:lnT w="12700" cmpd="sng">
                      <a:noFill/>
                      <a:prstDash val="solid"/>
                    </a:lnT>
                    <a:lnB w="19050" cap="flat" cmpd="sng" algn="ctr">
                      <a:solidFill>
                        <a:srgbClr val="FFFFFF"/>
                      </a:solidFill>
                      <a:prstDash val="solid"/>
                    </a:lnB>
                    <a:solidFill>
                      <a:srgbClr val="B4BCBE">
                        <a:alpha val="34902"/>
                      </a:srgbClr>
                    </a:solidFill>
                  </a:tcPr>
                </a:tc>
                <a:tc>
                  <a:txBody>
                    <a:bodyPr/>
                    <a:lstStyle/>
                    <a:p>
                      <a:r>
                        <a:rPr lang="en-US" sz="1300" dirty="0">
                          <a:solidFill>
                            <a:schemeClr val="tx1">
                              <a:lumMod val="75000"/>
                              <a:lumOff val="25000"/>
                            </a:schemeClr>
                          </a:solidFill>
                        </a:rPr>
                        <a:t>Good Baseline</a:t>
                      </a:r>
                    </a:p>
                  </a:txBody>
                  <a:tcPr marL="211945" marR="110211" marT="110211" marB="110211">
                    <a:lnL w="12700" cmpd="sng">
                      <a:noFill/>
                      <a:prstDash val="solid"/>
                    </a:lnL>
                    <a:lnR w="12700" cmpd="sng">
                      <a:noFill/>
                      <a:prstDash val="solid"/>
                    </a:lnR>
                    <a:lnT w="12700" cmpd="sng">
                      <a:noFill/>
                      <a:prstDash val="solid"/>
                    </a:lnT>
                    <a:lnB w="19050" cap="flat" cmpd="sng" algn="ctr">
                      <a:solidFill>
                        <a:srgbClr val="FFFFFF"/>
                      </a:solidFill>
                      <a:prstDash val="solid"/>
                    </a:lnB>
                    <a:solidFill>
                      <a:srgbClr val="B4BCBE">
                        <a:alpha val="34902"/>
                      </a:srgbClr>
                    </a:solidFill>
                  </a:tcPr>
                </a:tc>
                <a:extLst>
                  <a:ext uri="{0D108BD9-81ED-4DB2-BD59-A6C34878D82A}">
                    <a16:rowId xmlns:a16="http://schemas.microsoft.com/office/drawing/2014/main" val="2720042918"/>
                  </a:ext>
                </a:extLst>
              </a:tr>
              <a:tr h="642825">
                <a:tc>
                  <a:txBody>
                    <a:bodyPr/>
                    <a:lstStyle/>
                    <a:p>
                      <a:r>
                        <a:rPr lang="en-US" sz="1300" dirty="0">
                          <a:solidFill>
                            <a:schemeClr val="tx1">
                              <a:lumMod val="75000"/>
                              <a:lumOff val="25000"/>
                            </a:schemeClr>
                          </a:solidFill>
                        </a:rPr>
                        <a:t>Decision Tree </a:t>
                      </a:r>
                    </a:p>
                  </a:txBody>
                  <a:tcPr marL="211945" marR="110211" marT="110211" marB="110211">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10748E"/>
                    </a:solidFill>
                  </a:tcPr>
                </a:tc>
                <a:tc>
                  <a:txBody>
                    <a:bodyPr/>
                    <a:lstStyle/>
                    <a:p>
                      <a:r>
                        <a:rPr lang="en-US" sz="1300" dirty="0">
                          <a:solidFill>
                            <a:schemeClr val="tx1">
                              <a:lumMod val="75000"/>
                              <a:lumOff val="25000"/>
                            </a:schemeClr>
                          </a:solidFill>
                        </a:rPr>
                        <a:t>0.83</a:t>
                      </a:r>
                    </a:p>
                  </a:txBody>
                  <a:tcPr marL="211945" marR="110211" marT="110211" marB="110211">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10748E"/>
                    </a:solidFill>
                  </a:tcPr>
                </a:tc>
                <a:tc>
                  <a:txBody>
                    <a:bodyPr/>
                    <a:lstStyle/>
                    <a:p>
                      <a:r>
                        <a:rPr lang="en-US" sz="1300" dirty="0">
                          <a:solidFill>
                            <a:schemeClr val="tx1">
                              <a:lumMod val="75000"/>
                              <a:lumOff val="25000"/>
                            </a:schemeClr>
                          </a:solidFill>
                        </a:rPr>
                        <a:t>0.80</a:t>
                      </a:r>
                    </a:p>
                  </a:txBody>
                  <a:tcPr marL="211945" marR="110211" marT="110211" marB="110211">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10748E"/>
                    </a:solidFill>
                  </a:tcPr>
                </a:tc>
                <a:tc>
                  <a:txBody>
                    <a:bodyPr/>
                    <a:lstStyle/>
                    <a:p>
                      <a:r>
                        <a:rPr lang="en-US" sz="1300" dirty="0">
                          <a:solidFill>
                            <a:schemeClr val="tx1">
                              <a:lumMod val="75000"/>
                              <a:lumOff val="25000"/>
                            </a:schemeClr>
                          </a:solidFill>
                        </a:rPr>
                        <a:t>0.80</a:t>
                      </a:r>
                    </a:p>
                  </a:txBody>
                  <a:tcPr marL="211945" marR="110211" marT="110211" marB="110211">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10748E"/>
                    </a:solidFill>
                  </a:tcPr>
                </a:tc>
                <a:tc>
                  <a:txBody>
                    <a:bodyPr/>
                    <a:lstStyle/>
                    <a:p>
                      <a:r>
                        <a:rPr lang="en-US" sz="1300" dirty="0">
                          <a:solidFill>
                            <a:schemeClr val="tx1">
                              <a:lumMod val="75000"/>
                              <a:lumOff val="25000"/>
                            </a:schemeClr>
                          </a:solidFill>
                        </a:rPr>
                        <a:t>0.84</a:t>
                      </a:r>
                    </a:p>
                  </a:txBody>
                  <a:tcPr marL="211945" marR="110211" marT="110211" marB="110211">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10748E"/>
                    </a:solidFill>
                  </a:tcPr>
                </a:tc>
                <a:tc>
                  <a:txBody>
                    <a:bodyPr/>
                    <a:lstStyle/>
                    <a:p>
                      <a:r>
                        <a:rPr lang="en-US" sz="1300" dirty="0">
                          <a:solidFill>
                            <a:schemeClr val="tx1">
                              <a:lumMod val="75000"/>
                              <a:lumOff val="25000"/>
                            </a:schemeClr>
                          </a:solidFill>
                        </a:rPr>
                        <a:t>Interpretable </a:t>
                      </a:r>
                    </a:p>
                  </a:txBody>
                  <a:tcPr marL="211945" marR="110211" marT="110211" marB="110211">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10748E"/>
                    </a:solidFill>
                  </a:tcPr>
                </a:tc>
                <a:extLst>
                  <a:ext uri="{0D108BD9-81ED-4DB2-BD59-A6C34878D82A}">
                    <a16:rowId xmlns:a16="http://schemas.microsoft.com/office/drawing/2014/main" val="2595190819"/>
                  </a:ext>
                </a:extLst>
              </a:tr>
              <a:tr h="642825">
                <a:tc>
                  <a:txBody>
                    <a:bodyPr/>
                    <a:lstStyle/>
                    <a:p>
                      <a:r>
                        <a:rPr lang="en-US" sz="1300" dirty="0">
                          <a:solidFill>
                            <a:schemeClr val="tx1">
                              <a:lumMod val="75000"/>
                              <a:lumOff val="25000"/>
                            </a:schemeClr>
                          </a:solidFill>
                        </a:rPr>
                        <a:t>Random Forest</a:t>
                      </a:r>
                    </a:p>
                  </a:txBody>
                  <a:tcPr marL="211945" marR="110211" marT="110211" marB="110211">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r>
                        <a:rPr lang="en-US" sz="1300" dirty="0">
                          <a:solidFill>
                            <a:schemeClr val="tx1">
                              <a:lumMod val="75000"/>
                              <a:lumOff val="25000"/>
                            </a:schemeClr>
                          </a:solidFill>
                        </a:rPr>
                        <a:t>0.86</a:t>
                      </a:r>
                    </a:p>
                  </a:txBody>
                  <a:tcPr marL="211945" marR="110211" marT="110211" marB="110211">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r>
                        <a:rPr lang="en-US" sz="1300" dirty="0">
                          <a:solidFill>
                            <a:schemeClr val="tx1">
                              <a:lumMod val="75000"/>
                              <a:lumOff val="25000"/>
                            </a:schemeClr>
                          </a:solidFill>
                        </a:rPr>
                        <a:t>0.85</a:t>
                      </a:r>
                    </a:p>
                  </a:txBody>
                  <a:tcPr marL="211945" marR="110211" marT="110211" marB="110211">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r>
                        <a:rPr lang="en-US" sz="1300" dirty="0">
                          <a:solidFill>
                            <a:schemeClr val="tx1">
                              <a:lumMod val="75000"/>
                              <a:lumOff val="25000"/>
                            </a:schemeClr>
                          </a:solidFill>
                        </a:rPr>
                        <a:t>0.84</a:t>
                      </a:r>
                    </a:p>
                  </a:txBody>
                  <a:tcPr marL="211945" marR="110211" marT="110211" marB="110211">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r>
                        <a:rPr lang="en-US" sz="1300" dirty="0">
                          <a:solidFill>
                            <a:schemeClr val="tx1">
                              <a:lumMod val="75000"/>
                              <a:lumOff val="25000"/>
                            </a:schemeClr>
                          </a:solidFill>
                        </a:rPr>
                        <a:t>0.88</a:t>
                      </a:r>
                    </a:p>
                  </a:txBody>
                  <a:tcPr marL="211945" marR="110211" marT="110211" marB="110211">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r>
                        <a:rPr lang="en-US" sz="1300" dirty="0">
                          <a:solidFill>
                            <a:schemeClr val="tx1">
                              <a:lumMod val="75000"/>
                              <a:lumOff val="25000"/>
                            </a:schemeClr>
                          </a:solidFill>
                        </a:rPr>
                        <a:t>Best Model</a:t>
                      </a:r>
                    </a:p>
                  </a:txBody>
                  <a:tcPr marL="211945" marR="110211" marT="110211" marB="110211">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extLst>
                  <a:ext uri="{0D108BD9-81ED-4DB2-BD59-A6C34878D82A}">
                    <a16:rowId xmlns:a16="http://schemas.microsoft.com/office/drawing/2014/main" val="2951140132"/>
                  </a:ext>
                </a:extLst>
              </a:tr>
              <a:tr h="642825">
                <a:tc>
                  <a:txBody>
                    <a:bodyPr/>
                    <a:lstStyle/>
                    <a:p>
                      <a:r>
                        <a:rPr lang="en-US" sz="1300" dirty="0">
                          <a:solidFill>
                            <a:schemeClr val="tx1">
                              <a:lumMod val="75000"/>
                              <a:lumOff val="25000"/>
                            </a:schemeClr>
                          </a:solidFill>
                        </a:rPr>
                        <a:t>SVM</a:t>
                      </a:r>
                    </a:p>
                  </a:txBody>
                  <a:tcPr marL="211945" marR="110211" marT="110211" marB="110211">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10748E"/>
                    </a:solidFill>
                  </a:tcPr>
                </a:tc>
                <a:tc>
                  <a:txBody>
                    <a:bodyPr/>
                    <a:lstStyle/>
                    <a:p>
                      <a:r>
                        <a:rPr lang="en-US" sz="1300" dirty="0">
                          <a:solidFill>
                            <a:schemeClr val="tx1">
                              <a:lumMod val="75000"/>
                              <a:lumOff val="25000"/>
                            </a:schemeClr>
                          </a:solidFill>
                        </a:rPr>
                        <a:t>0.85</a:t>
                      </a:r>
                    </a:p>
                  </a:txBody>
                  <a:tcPr marL="211945" marR="110211" marT="110211" marB="110211">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10748E"/>
                    </a:solidFill>
                  </a:tcPr>
                </a:tc>
                <a:tc>
                  <a:txBody>
                    <a:bodyPr/>
                    <a:lstStyle/>
                    <a:p>
                      <a:r>
                        <a:rPr lang="en-US" sz="1300" dirty="0">
                          <a:solidFill>
                            <a:schemeClr val="tx1">
                              <a:lumMod val="75000"/>
                              <a:lumOff val="25000"/>
                            </a:schemeClr>
                          </a:solidFill>
                        </a:rPr>
                        <a:t>0.83</a:t>
                      </a:r>
                    </a:p>
                  </a:txBody>
                  <a:tcPr marL="211945" marR="110211" marT="110211" marB="110211">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10748E"/>
                    </a:solidFill>
                  </a:tcPr>
                </a:tc>
                <a:tc>
                  <a:txBody>
                    <a:bodyPr/>
                    <a:lstStyle/>
                    <a:p>
                      <a:r>
                        <a:rPr lang="en-US" sz="1300" dirty="0">
                          <a:solidFill>
                            <a:schemeClr val="tx1">
                              <a:lumMod val="75000"/>
                              <a:lumOff val="25000"/>
                            </a:schemeClr>
                          </a:solidFill>
                        </a:rPr>
                        <a:t>0.81</a:t>
                      </a:r>
                    </a:p>
                  </a:txBody>
                  <a:tcPr marL="211945" marR="110211" marT="110211" marB="110211">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10748E"/>
                    </a:solidFill>
                  </a:tcPr>
                </a:tc>
                <a:tc>
                  <a:txBody>
                    <a:bodyPr/>
                    <a:lstStyle/>
                    <a:p>
                      <a:r>
                        <a:rPr lang="en-US" sz="1300" dirty="0">
                          <a:solidFill>
                            <a:schemeClr val="tx1">
                              <a:lumMod val="75000"/>
                              <a:lumOff val="25000"/>
                            </a:schemeClr>
                          </a:solidFill>
                        </a:rPr>
                        <a:t>0.86</a:t>
                      </a:r>
                    </a:p>
                  </a:txBody>
                  <a:tcPr marL="211945" marR="110211" marT="110211" marB="110211">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10748E"/>
                    </a:solidFill>
                  </a:tcPr>
                </a:tc>
                <a:tc>
                  <a:txBody>
                    <a:bodyPr/>
                    <a:lstStyle/>
                    <a:p>
                      <a:r>
                        <a:rPr lang="en-US" sz="1300" dirty="0">
                          <a:solidFill>
                            <a:schemeClr val="tx1">
                              <a:lumMod val="75000"/>
                              <a:lumOff val="25000"/>
                            </a:schemeClr>
                          </a:solidFill>
                        </a:rPr>
                        <a:t>Close Second</a:t>
                      </a:r>
                    </a:p>
                  </a:txBody>
                  <a:tcPr marL="211945" marR="110211" marT="110211" marB="110211">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10748E"/>
                    </a:solidFill>
                  </a:tcPr>
                </a:tc>
                <a:extLst>
                  <a:ext uri="{0D108BD9-81ED-4DB2-BD59-A6C34878D82A}">
                    <a16:rowId xmlns:a16="http://schemas.microsoft.com/office/drawing/2014/main" val="588171677"/>
                  </a:ext>
                </a:extLst>
              </a:tr>
            </a:tbl>
          </a:graphicData>
        </a:graphic>
      </p:graphicFrame>
    </p:spTree>
    <p:extLst>
      <p:ext uri="{BB962C8B-B14F-4D97-AF65-F5344CB8AC3E}">
        <p14:creationId xmlns:p14="http://schemas.microsoft.com/office/powerpoint/2010/main" val="32769886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B0226B-8F38-67E5-712A-CF3C9C9AD2AC}"/>
              </a:ext>
            </a:extLst>
          </p:cNvPr>
          <p:cNvSpPr>
            <a:spLocks noGrp="1"/>
          </p:cNvSpPr>
          <p:nvPr>
            <p:ph type="title"/>
          </p:nvPr>
        </p:nvSpPr>
        <p:spPr/>
        <p:txBody>
          <a:bodyPr/>
          <a:lstStyle/>
          <a:p>
            <a:r>
              <a:rPr lang="en-US" dirty="0">
                <a:ea typeface="Meiryo"/>
              </a:rPr>
              <a:t>Model Deployment</a:t>
            </a:r>
            <a:endParaRPr lang="en-US" dirty="0"/>
          </a:p>
        </p:txBody>
      </p:sp>
      <p:graphicFrame>
        <p:nvGraphicFramePr>
          <p:cNvPr id="5" name="Content Placeholder 2">
            <a:extLst>
              <a:ext uri="{FF2B5EF4-FFF2-40B4-BE49-F238E27FC236}">
                <a16:creationId xmlns:a16="http://schemas.microsoft.com/office/drawing/2014/main" id="{F29C94D2-CAC5-0ADD-2DB1-ED300EF2D37F}"/>
              </a:ext>
            </a:extLst>
          </p:cNvPr>
          <p:cNvGraphicFramePr>
            <a:graphicFrameLocks noGrp="1"/>
          </p:cNvGraphicFramePr>
          <p:nvPr>
            <p:ph idx="1"/>
            <p:extLst>
              <p:ext uri="{D42A27DB-BD31-4B8C-83A1-F6EECF244321}">
                <p14:modId xmlns:p14="http://schemas.microsoft.com/office/powerpoint/2010/main" val="3933036443"/>
              </p:ext>
            </p:extLst>
          </p:nvPr>
        </p:nvGraphicFramePr>
        <p:xfrm>
          <a:off x="369504" y="1713371"/>
          <a:ext cx="11444254" cy="45739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0482076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AsOne/>
      </p:bldGraphic>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7FC6A8B-34F9-40FB-AA2D-E34168F528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3"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11" name="Freeform: Shape 10">
            <a:extLst>
              <a:ext uri="{FF2B5EF4-FFF2-40B4-BE49-F238E27FC236}">
                <a16:creationId xmlns:a16="http://schemas.microsoft.com/office/drawing/2014/main" id="{1EC86DB4-572A-4F71-AF8A-2395B4CA77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756583" y="0"/>
            <a:ext cx="11435265" cy="6858000"/>
          </a:xfrm>
          <a:custGeom>
            <a:avLst/>
            <a:gdLst>
              <a:gd name="connsiteX0" fmla="*/ 9925983 w 11435265"/>
              <a:gd name="connsiteY0" fmla="*/ 6858000 h 6858000"/>
              <a:gd name="connsiteX1" fmla="*/ 0 w 11435265"/>
              <a:gd name="connsiteY1" fmla="*/ 6858000 h 6858000"/>
              <a:gd name="connsiteX2" fmla="*/ 0 w 11435265"/>
              <a:gd name="connsiteY2" fmla="*/ 0 h 6858000"/>
              <a:gd name="connsiteX3" fmla="*/ 996904 w 11435265"/>
              <a:gd name="connsiteY3" fmla="*/ 0 h 6858000"/>
              <a:gd name="connsiteX4" fmla="*/ 2426875 w 11435265"/>
              <a:gd name="connsiteY4" fmla="*/ 0 h 6858000"/>
              <a:gd name="connsiteX5" fmla="*/ 4014127 w 11435265"/>
              <a:gd name="connsiteY5" fmla="*/ 0 h 6858000"/>
              <a:gd name="connsiteX6" fmla="*/ 4359595 w 11435265"/>
              <a:gd name="connsiteY6" fmla="*/ 0 h 6858000"/>
              <a:gd name="connsiteX7" fmla="*/ 4647960 w 11435265"/>
              <a:gd name="connsiteY7" fmla="*/ 0 h 6858000"/>
              <a:gd name="connsiteX8" fmla="*/ 4691093 w 11435265"/>
              <a:gd name="connsiteY8" fmla="*/ 0 h 6858000"/>
              <a:gd name="connsiteX9" fmla="*/ 5558544 w 11435265"/>
              <a:gd name="connsiteY9" fmla="*/ 0 h 6858000"/>
              <a:gd name="connsiteX10" fmla="*/ 5570664 w 11435265"/>
              <a:gd name="connsiteY10" fmla="*/ 0 h 6858000"/>
              <a:gd name="connsiteX11" fmla="*/ 5695183 w 11435265"/>
              <a:gd name="connsiteY11" fmla="*/ 0 h 6858000"/>
              <a:gd name="connsiteX12" fmla="*/ 7177357 w 11435265"/>
              <a:gd name="connsiteY12" fmla="*/ 0 h 6858000"/>
              <a:gd name="connsiteX13" fmla="*/ 9824163 w 11435265"/>
              <a:gd name="connsiteY13" fmla="*/ 0 h 6858000"/>
              <a:gd name="connsiteX14" fmla="*/ 9846125 w 11435265"/>
              <a:gd name="connsiteY14" fmla="*/ 16892 h 6858000"/>
              <a:gd name="connsiteX15" fmla="*/ 11435265 w 11435265"/>
              <a:gd name="connsiteY15" fmla="*/ 4079318 h 6858000"/>
              <a:gd name="connsiteX16" fmla="*/ 10261404 w 11435265"/>
              <a:gd name="connsiteY16" fmla="*/ 654244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435265" h="6858000">
                <a:moveTo>
                  <a:pt x="9925983" y="6858000"/>
                </a:moveTo>
                <a:lnTo>
                  <a:pt x="0" y="6858000"/>
                </a:lnTo>
                <a:lnTo>
                  <a:pt x="0" y="0"/>
                </a:lnTo>
                <a:lnTo>
                  <a:pt x="996904" y="0"/>
                </a:lnTo>
                <a:lnTo>
                  <a:pt x="2426875" y="0"/>
                </a:lnTo>
                <a:lnTo>
                  <a:pt x="4014127" y="0"/>
                </a:lnTo>
                <a:lnTo>
                  <a:pt x="4359595" y="0"/>
                </a:lnTo>
                <a:lnTo>
                  <a:pt x="4647960" y="0"/>
                </a:lnTo>
                <a:lnTo>
                  <a:pt x="4691093" y="0"/>
                </a:lnTo>
                <a:lnTo>
                  <a:pt x="5558544" y="0"/>
                </a:lnTo>
                <a:lnTo>
                  <a:pt x="5570664" y="0"/>
                </a:lnTo>
                <a:lnTo>
                  <a:pt x="5695183" y="0"/>
                </a:lnTo>
                <a:lnTo>
                  <a:pt x="7177357" y="0"/>
                </a:lnTo>
                <a:lnTo>
                  <a:pt x="9824163" y="0"/>
                </a:lnTo>
                <a:lnTo>
                  <a:pt x="9846125" y="16892"/>
                </a:lnTo>
                <a:cubicBezTo>
                  <a:pt x="10865743" y="850004"/>
                  <a:pt x="11435265" y="2357705"/>
                  <a:pt x="11435265" y="4079318"/>
                </a:cubicBezTo>
                <a:cubicBezTo>
                  <a:pt x="11435265" y="5217633"/>
                  <a:pt x="10916694" y="5903717"/>
                  <a:pt x="10261404" y="6542447"/>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Freeform: Shape 12">
            <a:extLst>
              <a:ext uri="{FF2B5EF4-FFF2-40B4-BE49-F238E27FC236}">
                <a16:creationId xmlns:a16="http://schemas.microsoft.com/office/drawing/2014/main" id="{71BA53A4-C4B7-4189-9FC1-6350B1AB5D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341199" y="0"/>
            <a:ext cx="1518348" cy="6858000"/>
          </a:xfrm>
          <a:custGeom>
            <a:avLst/>
            <a:gdLst>
              <a:gd name="connsiteX0" fmla="*/ 19178 w 1518348"/>
              <a:gd name="connsiteY0" fmla="*/ 6858000 h 6858000"/>
              <a:gd name="connsiteX1" fmla="*/ 0 w 1518348"/>
              <a:gd name="connsiteY1" fmla="*/ 6858000 h 6858000"/>
              <a:gd name="connsiteX2" fmla="*/ 241394 w 1518348"/>
              <a:gd name="connsiteY2" fmla="*/ 6638611 h 6858000"/>
              <a:gd name="connsiteX3" fmla="*/ 1493356 w 1518348"/>
              <a:gd name="connsiteY3" fmla="*/ 4142424 h 6858000"/>
              <a:gd name="connsiteX4" fmla="*/ 282053 w 1518348"/>
              <a:gd name="connsiteY4" fmla="*/ 26474 h 6858000"/>
              <a:gd name="connsiteX5" fmla="*/ 256233 w 1518348"/>
              <a:gd name="connsiteY5" fmla="*/ 0 h 6858000"/>
              <a:gd name="connsiteX6" fmla="*/ 273463 w 1518348"/>
              <a:gd name="connsiteY6" fmla="*/ 0 h 6858000"/>
              <a:gd name="connsiteX7" fmla="*/ 300199 w 1518348"/>
              <a:gd name="connsiteY7" fmla="*/ 27414 h 6858000"/>
              <a:gd name="connsiteX8" fmla="*/ 1511501 w 1518348"/>
              <a:gd name="connsiteY8" fmla="*/ 4143362 h 6858000"/>
              <a:gd name="connsiteX9" fmla="*/ 259539 w 1518348"/>
              <a:gd name="connsiteY9" fmla="*/ 663954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18348" h="6858000">
                <a:moveTo>
                  <a:pt x="19178" y="6858000"/>
                </a:moveTo>
                <a:lnTo>
                  <a:pt x="0" y="6858000"/>
                </a:lnTo>
                <a:lnTo>
                  <a:pt x="241394" y="6638611"/>
                </a:lnTo>
                <a:cubicBezTo>
                  <a:pt x="909582" y="6009084"/>
                  <a:pt x="1445892" y="5323498"/>
                  <a:pt x="1493356" y="4142424"/>
                </a:cubicBezTo>
                <a:cubicBezTo>
                  <a:pt x="1560655" y="2467784"/>
                  <a:pt x="1130049" y="962858"/>
                  <a:pt x="282053" y="26474"/>
                </a:cubicBezTo>
                <a:lnTo>
                  <a:pt x="256233" y="0"/>
                </a:lnTo>
                <a:lnTo>
                  <a:pt x="273463" y="0"/>
                </a:lnTo>
                <a:lnTo>
                  <a:pt x="300199" y="27414"/>
                </a:lnTo>
                <a:cubicBezTo>
                  <a:pt x="1148195" y="963796"/>
                  <a:pt x="1578800" y="2468723"/>
                  <a:pt x="1511501" y="4143362"/>
                </a:cubicBezTo>
                <a:cubicBezTo>
                  <a:pt x="1464037" y="5324436"/>
                  <a:pt x="927728" y="6010023"/>
                  <a:pt x="259539" y="6639549"/>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15" name="Freeform: Shape 14">
            <a:extLst>
              <a:ext uri="{FF2B5EF4-FFF2-40B4-BE49-F238E27FC236}">
                <a16:creationId xmlns:a16="http://schemas.microsoft.com/office/drawing/2014/main" id="{5558AD6E-B070-4640-AA07-87E208983E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552928" y="0"/>
            <a:ext cx="1644534" cy="6858000"/>
          </a:xfrm>
          <a:custGeom>
            <a:avLst/>
            <a:gdLst>
              <a:gd name="connsiteX0" fmla="*/ 135252 w 1644534"/>
              <a:gd name="connsiteY0" fmla="*/ 6858000 h 6858000"/>
              <a:gd name="connsiteX1" fmla="*/ 101819 w 1644534"/>
              <a:gd name="connsiteY1" fmla="*/ 6858000 h 6858000"/>
              <a:gd name="connsiteX2" fmla="*/ 437240 w 1644534"/>
              <a:gd name="connsiteY2" fmla="*/ 6542447 h 6858000"/>
              <a:gd name="connsiteX3" fmla="*/ 1611101 w 1644534"/>
              <a:gd name="connsiteY3" fmla="*/ 4079318 h 6858000"/>
              <a:gd name="connsiteX4" fmla="*/ 21961 w 1644534"/>
              <a:gd name="connsiteY4" fmla="*/ 16892 h 6858000"/>
              <a:gd name="connsiteX5" fmla="*/ 0 w 1644534"/>
              <a:gd name="connsiteY5" fmla="*/ 0 h 6858000"/>
              <a:gd name="connsiteX6" fmla="*/ 33433 w 1644534"/>
              <a:gd name="connsiteY6" fmla="*/ 0 h 6858000"/>
              <a:gd name="connsiteX7" fmla="*/ 55394 w 1644534"/>
              <a:gd name="connsiteY7" fmla="*/ 16892 h 6858000"/>
              <a:gd name="connsiteX8" fmla="*/ 1644534 w 1644534"/>
              <a:gd name="connsiteY8" fmla="*/ 4079318 h 6858000"/>
              <a:gd name="connsiteX9" fmla="*/ 470673 w 1644534"/>
              <a:gd name="connsiteY9" fmla="*/ 654244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44534" h="6858000">
                <a:moveTo>
                  <a:pt x="135252" y="6858000"/>
                </a:moveTo>
                <a:lnTo>
                  <a:pt x="101819" y="6858000"/>
                </a:lnTo>
                <a:lnTo>
                  <a:pt x="437240" y="6542447"/>
                </a:lnTo>
                <a:cubicBezTo>
                  <a:pt x="1092531" y="5903717"/>
                  <a:pt x="1611101" y="5217633"/>
                  <a:pt x="1611101" y="4079318"/>
                </a:cubicBezTo>
                <a:cubicBezTo>
                  <a:pt x="1611101" y="2357705"/>
                  <a:pt x="1041580" y="850004"/>
                  <a:pt x="21961" y="16892"/>
                </a:cubicBezTo>
                <a:lnTo>
                  <a:pt x="0" y="0"/>
                </a:lnTo>
                <a:lnTo>
                  <a:pt x="33433" y="0"/>
                </a:lnTo>
                <a:lnTo>
                  <a:pt x="55394" y="16892"/>
                </a:lnTo>
                <a:cubicBezTo>
                  <a:pt x="1075012" y="850004"/>
                  <a:pt x="1644534" y="2357705"/>
                  <a:pt x="1644534" y="4079318"/>
                </a:cubicBezTo>
                <a:cubicBezTo>
                  <a:pt x="1644534" y="5217633"/>
                  <a:pt x="1125963" y="5903717"/>
                  <a:pt x="470673" y="6542447"/>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17" name="Freeform: Shape 16">
            <a:extLst>
              <a:ext uri="{FF2B5EF4-FFF2-40B4-BE49-F238E27FC236}">
                <a16:creationId xmlns:a16="http://schemas.microsoft.com/office/drawing/2014/main" id="{36ACFB69-D148-449E-AC5A-C55AA20A7F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988858" y="0"/>
            <a:ext cx="1461546" cy="6858000"/>
          </a:xfrm>
          <a:custGeom>
            <a:avLst/>
            <a:gdLst>
              <a:gd name="connsiteX0" fmla="*/ 107940 w 1461546"/>
              <a:gd name="connsiteY0" fmla="*/ 6858000 h 6858000"/>
              <a:gd name="connsiteX1" fmla="*/ 91317 w 1461546"/>
              <a:gd name="connsiteY1" fmla="*/ 6858000 h 6858000"/>
              <a:gd name="connsiteX2" fmla="*/ 392141 w 1461546"/>
              <a:gd name="connsiteY2" fmla="*/ 6542447 h 6858000"/>
              <a:gd name="connsiteX3" fmla="*/ 1444924 w 1461546"/>
              <a:gd name="connsiteY3" fmla="*/ 4079318 h 6858000"/>
              <a:gd name="connsiteX4" fmla="*/ 19696 w 1461546"/>
              <a:gd name="connsiteY4" fmla="*/ 16892 h 6858000"/>
              <a:gd name="connsiteX5" fmla="*/ 0 w 1461546"/>
              <a:gd name="connsiteY5" fmla="*/ 0 h 6858000"/>
              <a:gd name="connsiteX6" fmla="*/ 16622 w 1461546"/>
              <a:gd name="connsiteY6" fmla="*/ 0 h 6858000"/>
              <a:gd name="connsiteX7" fmla="*/ 36319 w 1461546"/>
              <a:gd name="connsiteY7" fmla="*/ 16892 h 6858000"/>
              <a:gd name="connsiteX8" fmla="*/ 1461546 w 1461546"/>
              <a:gd name="connsiteY8" fmla="*/ 4079318 h 6858000"/>
              <a:gd name="connsiteX9" fmla="*/ 408763 w 1461546"/>
              <a:gd name="connsiteY9" fmla="*/ 654244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61546" h="6858000">
                <a:moveTo>
                  <a:pt x="107940" y="6858000"/>
                </a:moveTo>
                <a:lnTo>
                  <a:pt x="91317" y="6858000"/>
                </a:lnTo>
                <a:lnTo>
                  <a:pt x="392141" y="6542447"/>
                </a:lnTo>
                <a:cubicBezTo>
                  <a:pt x="979841" y="5903717"/>
                  <a:pt x="1444924" y="5217633"/>
                  <a:pt x="1444924" y="4079318"/>
                </a:cubicBezTo>
                <a:cubicBezTo>
                  <a:pt x="1444924" y="2357705"/>
                  <a:pt x="934146" y="850004"/>
                  <a:pt x="19696" y="16892"/>
                </a:cubicBezTo>
                <a:lnTo>
                  <a:pt x="0" y="0"/>
                </a:lnTo>
                <a:lnTo>
                  <a:pt x="16622" y="0"/>
                </a:lnTo>
                <a:lnTo>
                  <a:pt x="36319" y="16892"/>
                </a:lnTo>
                <a:cubicBezTo>
                  <a:pt x="950768" y="850004"/>
                  <a:pt x="1461546" y="2357705"/>
                  <a:pt x="1461546" y="4079318"/>
                </a:cubicBezTo>
                <a:cubicBezTo>
                  <a:pt x="1461546" y="5217633"/>
                  <a:pt x="996464" y="5903717"/>
                  <a:pt x="408763" y="6542447"/>
                </a:cubicBezTo>
                <a:close/>
              </a:path>
            </a:pathLst>
          </a:cu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2" name="Title 1">
            <a:extLst>
              <a:ext uri="{FF2B5EF4-FFF2-40B4-BE49-F238E27FC236}">
                <a16:creationId xmlns:a16="http://schemas.microsoft.com/office/drawing/2014/main" id="{8C3DC957-F9C0-5739-D635-2EA8A35965E6}"/>
              </a:ext>
            </a:extLst>
          </p:cNvPr>
          <p:cNvSpPr>
            <a:spLocks noGrp="1"/>
          </p:cNvSpPr>
          <p:nvPr>
            <p:ph type="title"/>
          </p:nvPr>
        </p:nvSpPr>
        <p:spPr>
          <a:xfrm>
            <a:off x="1848957" y="171833"/>
            <a:ext cx="9012503" cy="1345269"/>
          </a:xfrm>
        </p:spPr>
        <p:txBody>
          <a:bodyPr anchor="b">
            <a:normAutofit/>
          </a:bodyPr>
          <a:lstStyle/>
          <a:p>
            <a:pPr>
              <a:lnSpc>
                <a:spcPct val="120000"/>
              </a:lnSpc>
            </a:pPr>
            <a:r>
              <a:rPr lang="en-US" sz="3000" dirty="0">
                <a:ea typeface="Meiryo"/>
              </a:rPr>
              <a:t>Business Insights &amp; Recommendations</a:t>
            </a:r>
            <a:endParaRPr lang="en-US" sz="3000" dirty="0"/>
          </a:p>
        </p:txBody>
      </p:sp>
      <p:graphicFrame>
        <p:nvGraphicFramePr>
          <p:cNvPr id="5" name="Content Placeholder 2">
            <a:extLst>
              <a:ext uri="{FF2B5EF4-FFF2-40B4-BE49-F238E27FC236}">
                <a16:creationId xmlns:a16="http://schemas.microsoft.com/office/drawing/2014/main" id="{F37306DC-FB77-C367-559C-799DE62C7025}"/>
              </a:ext>
            </a:extLst>
          </p:cNvPr>
          <p:cNvGraphicFramePr>
            <a:graphicFrameLocks noGrp="1"/>
          </p:cNvGraphicFramePr>
          <p:nvPr>
            <p:ph idx="1"/>
            <p:extLst>
              <p:ext uri="{D42A27DB-BD31-4B8C-83A1-F6EECF244321}">
                <p14:modId xmlns:p14="http://schemas.microsoft.com/office/powerpoint/2010/main" val="44407390"/>
              </p:ext>
            </p:extLst>
          </p:nvPr>
        </p:nvGraphicFramePr>
        <p:xfrm>
          <a:off x="1376461" y="2165504"/>
          <a:ext cx="10458127" cy="414895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32344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74" name="Rectangle 73">
            <a:extLst>
              <a:ext uri="{FF2B5EF4-FFF2-40B4-BE49-F238E27FC236}">
                <a16:creationId xmlns:a16="http://schemas.microsoft.com/office/drawing/2014/main" id="{AC14302F-E955-47D0-A56B-D1D1A6953B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73" y="-9274"/>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grpSp>
        <p:nvGrpSpPr>
          <p:cNvPr id="76" name="Group 75">
            <a:extLst>
              <a:ext uri="{FF2B5EF4-FFF2-40B4-BE49-F238E27FC236}">
                <a16:creationId xmlns:a16="http://schemas.microsoft.com/office/drawing/2014/main" id="{DC310F6C-D8CB-4984-9F9B-BA18C171928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12079" y="1033741"/>
            <a:ext cx="4908132" cy="4613915"/>
            <a:chOff x="659679" y="950330"/>
            <a:chExt cx="4908132" cy="4613915"/>
          </a:xfrm>
        </p:grpSpPr>
        <p:sp>
          <p:nvSpPr>
            <p:cNvPr id="77" name="Freeform: Shape 76">
              <a:extLst>
                <a:ext uri="{FF2B5EF4-FFF2-40B4-BE49-F238E27FC236}">
                  <a16:creationId xmlns:a16="http://schemas.microsoft.com/office/drawing/2014/main" id="{6750E550-BE93-4743-8659-1531F86CB6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816216" y="1107426"/>
              <a:ext cx="4619072" cy="4342182"/>
            </a:xfrm>
            <a:custGeom>
              <a:avLst/>
              <a:gdLst>
                <a:gd name="connsiteX0" fmla="*/ 2180840 w 3810827"/>
                <a:gd name="connsiteY0" fmla="*/ 0 h 3634591"/>
                <a:gd name="connsiteX1" fmla="*/ 2866380 w 3810827"/>
                <a:gd name="connsiteY1" fmla="*/ 145165 h 3634591"/>
                <a:gd name="connsiteX2" fmla="*/ 3366366 w 3810827"/>
                <a:gd name="connsiteY2" fmla="*/ 536835 h 3634591"/>
                <a:gd name="connsiteX3" fmla="*/ 3810827 w 3810827"/>
                <a:gd name="connsiteY3" fmla="*/ 1924156 h 3634591"/>
                <a:gd name="connsiteX4" fmla="*/ 3612844 w 3810827"/>
                <a:gd name="connsiteY4" fmla="*/ 2493111 h 3634591"/>
                <a:gd name="connsiteX5" fmla="*/ 3026664 w 3810827"/>
                <a:gd name="connsiteY5" fmla="*/ 3022891 h 3634591"/>
                <a:gd name="connsiteX6" fmla="*/ 2897783 w 3810827"/>
                <a:gd name="connsiteY6" fmla="*/ 3124233 h 3634591"/>
                <a:gd name="connsiteX7" fmla="*/ 1838765 w 3810827"/>
                <a:gd name="connsiteY7" fmla="*/ 3634591 h 3634591"/>
                <a:gd name="connsiteX8" fmla="*/ 443724 w 3810827"/>
                <a:gd name="connsiteY8" fmla="*/ 2805020 h 3634591"/>
                <a:gd name="connsiteX9" fmla="*/ 295053 w 3810827"/>
                <a:gd name="connsiteY9" fmla="*/ 2592792 h 3634591"/>
                <a:gd name="connsiteX10" fmla="*/ 0 w 3810827"/>
                <a:gd name="connsiteY10" fmla="*/ 1924156 h 3634591"/>
                <a:gd name="connsiteX11" fmla="*/ 178275 w 3810827"/>
                <a:gd name="connsiteY11" fmla="*/ 1204061 h 3634591"/>
                <a:gd name="connsiteX12" fmla="*/ 669921 w 3810827"/>
                <a:gd name="connsiteY12" fmla="*/ 585306 h 3634591"/>
                <a:gd name="connsiteX13" fmla="*/ 1380730 w 3810827"/>
                <a:gd name="connsiteY13" fmla="*/ 156203 h 3634591"/>
                <a:gd name="connsiteX14" fmla="*/ 2180840 w 3810827"/>
                <a:gd name="connsiteY14" fmla="*/ 0 h 3634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810827" h="3634591">
                  <a:moveTo>
                    <a:pt x="2180840" y="0"/>
                  </a:moveTo>
                  <a:cubicBezTo>
                    <a:pt x="2431406" y="0"/>
                    <a:pt x="2662018" y="48886"/>
                    <a:pt x="2866380" y="145165"/>
                  </a:cubicBezTo>
                  <a:cubicBezTo>
                    <a:pt x="3057903" y="235467"/>
                    <a:pt x="3226119" y="367269"/>
                    <a:pt x="3366366" y="536835"/>
                  </a:cubicBezTo>
                  <a:cubicBezTo>
                    <a:pt x="3652997" y="883519"/>
                    <a:pt x="3810827" y="1376199"/>
                    <a:pt x="3810827" y="1924156"/>
                  </a:cubicBezTo>
                  <a:cubicBezTo>
                    <a:pt x="3810827" y="2142775"/>
                    <a:pt x="3749739" y="2318234"/>
                    <a:pt x="3612844" y="2493111"/>
                  </a:cubicBezTo>
                  <a:cubicBezTo>
                    <a:pt x="3469652" y="2676041"/>
                    <a:pt x="3254495" y="2844528"/>
                    <a:pt x="3026664" y="3022891"/>
                  </a:cubicBezTo>
                  <a:cubicBezTo>
                    <a:pt x="2984630" y="3055759"/>
                    <a:pt x="2941206" y="3089789"/>
                    <a:pt x="2897783" y="3124233"/>
                  </a:cubicBezTo>
                  <a:cubicBezTo>
                    <a:pt x="2509094" y="3432490"/>
                    <a:pt x="2225408" y="3634591"/>
                    <a:pt x="1838765" y="3634591"/>
                  </a:cubicBezTo>
                  <a:cubicBezTo>
                    <a:pt x="1249640" y="3634591"/>
                    <a:pt x="832413" y="3386508"/>
                    <a:pt x="443724" y="2805020"/>
                  </a:cubicBezTo>
                  <a:cubicBezTo>
                    <a:pt x="392859" y="2728910"/>
                    <a:pt x="343138" y="2659690"/>
                    <a:pt x="295053" y="2592792"/>
                  </a:cubicBezTo>
                  <a:cubicBezTo>
                    <a:pt x="95761" y="2315411"/>
                    <a:pt x="0" y="2171160"/>
                    <a:pt x="0" y="1924156"/>
                  </a:cubicBezTo>
                  <a:cubicBezTo>
                    <a:pt x="0" y="1678896"/>
                    <a:pt x="60024" y="1436622"/>
                    <a:pt x="178275" y="1204061"/>
                  </a:cubicBezTo>
                  <a:cubicBezTo>
                    <a:pt x="293990" y="976561"/>
                    <a:pt x="459425" y="768319"/>
                    <a:pt x="669921" y="585306"/>
                  </a:cubicBezTo>
                  <a:cubicBezTo>
                    <a:pt x="876818" y="405365"/>
                    <a:pt x="1122558" y="256964"/>
                    <a:pt x="1380730" y="156203"/>
                  </a:cubicBezTo>
                  <a:cubicBezTo>
                    <a:pt x="1645852" y="52539"/>
                    <a:pt x="1915145" y="0"/>
                    <a:pt x="2180840" y="0"/>
                  </a:cubicBezTo>
                  <a:close/>
                </a:path>
              </a:pathLst>
            </a:custGeom>
            <a:solidFill>
              <a:schemeClr val="bg1">
                <a:alpha val="6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8" name="Freeform: Shape 77">
              <a:extLst>
                <a:ext uri="{FF2B5EF4-FFF2-40B4-BE49-F238E27FC236}">
                  <a16:creationId xmlns:a16="http://schemas.microsoft.com/office/drawing/2014/main" id="{BE626DC7-F0FE-49A7-AA4C-A8DB1F7EBA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864593" y="1253260"/>
              <a:ext cx="4488025" cy="4074679"/>
            </a:xfrm>
            <a:custGeom>
              <a:avLst/>
              <a:gdLst>
                <a:gd name="connsiteX0" fmla="*/ 2180840 w 3810827"/>
                <a:gd name="connsiteY0" fmla="*/ 0 h 3634591"/>
                <a:gd name="connsiteX1" fmla="*/ 2866380 w 3810827"/>
                <a:gd name="connsiteY1" fmla="*/ 145165 h 3634591"/>
                <a:gd name="connsiteX2" fmla="*/ 3366366 w 3810827"/>
                <a:gd name="connsiteY2" fmla="*/ 536835 h 3634591"/>
                <a:gd name="connsiteX3" fmla="*/ 3810827 w 3810827"/>
                <a:gd name="connsiteY3" fmla="*/ 1924156 h 3634591"/>
                <a:gd name="connsiteX4" fmla="*/ 3612844 w 3810827"/>
                <a:gd name="connsiteY4" fmla="*/ 2493111 h 3634591"/>
                <a:gd name="connsiteX5" fmla="*/ 3026664 w 3810827"/>
                <a:gd name="connsiteY5" fmla="*/ 3022891 h 3634591"/>
                <a:gd name="connsiteX6" fmla="*/ 2897783 w 3810827"/>
                <a:gd name="connsiteY6" fmla="*/ 3124233 h 3634591"/>
                <a:gd name="connsiteX7" fmla="*/ 1838765 w 3810827"/>
                <a:gd name="connsiteY7" fmla="*/ 3634591 h 3634591"/>
                <a:gd name="connsiteX8" fmla="*/ 443724 w 3810827"/>
                <a:gd name="connsiteY8" fmla="*/ 2805020 h 3634591"/>
                <a:gd name="connsiteX9" fmla="*/ 295053 w 3810827"/>
                <a:gd name="connsiteY9" fmla="*/ 2592792 h 3634591"/>
                <a:gd name="connsiteX10" fmla="*/ 0 w 3810827"/>
                <a:gd name="connsiteY10" fmla="*/ 1924156 h 3634591"/>
                <a:gd name="connsiteX11" fmla="*/ 178275 w 3810827"/>
                <a:gd name="connsiteY11" fmla="*/ 1204061 h 3634591"/>
                <a:gd name="connsiteX12" fmla="*/ 669921 w 3810827"/>
                <a:gd name="connsiteY12" fmla="*/ 585306 h 3634591"/>
                <a:gd name="connsiteX13" fmla="*/ 1380730 w 3810827"/>
                <a:gd name="connsiteY13" fmla="*/ 156203 h 3634591"/>
                <a:gd name="connsiteX14" fmla="*/ 2180840 w 3810827"/>
                <a:gd name="connsiteY14" fmla="*/ 0 h 3634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810827" h="3634591">
                  <a:moveTo>
                    <a:pt x="2180840" y="0"/>
                  </a:moveTo>
                  <a:cubicBezTo>
                    <a:pt x="2431406" y="0"/>
                    <a:pt x="2662018" y="48886"/>
                    <a:pt x="2866380" y="145165"/>
                  </a:cubicBezTo>
                  <a:cubicBezTo>
                    <a:pt x="3057903" y="235467"/>
                    <a:pt x="3226119" y="367269"/>
                    <a:pt x="3366366" y="536835"/>
                  </a:cubicBezTo>
                  <a:cubicBezTo>
                    <a:pt x="3652997" y="883519"/>
                    <a:pt x="3810827" y="1376199"/>
                    <a:pt x="3810827" y="1924156"/>
                  </a:cubicBezTo>
                  <a:cubicBezTo>
                    <a:pt x="3810827" y="2142775"/>
                    <a:pt x="3749739" y="2318234"/>
                    <a:pt x="3612844" y="2493111"/>
                  </a:cubicBezTo>
                  <a:cubicBezTo>
                    <a:pt x="3469652" y="2676041"/>
                    <a:pt x="3254495" y="2844528"/>
                    <a:pt x="3026664" y="3022891"/>
                  </a:cubicBezTo>
                  <a:cubicBezTo>
                    <a:pt x="2984630" y="3055759"/>
                    <a:pt x="2941206" y="3089789"/>
                    <a:pt x="2897783" y="3124233"/>
                  </a:cubicBezTo>
                  <a:cubicBezTo>
                    <a:pt x="2509094" y="3432490"/>
                    <a:pt x="2225408" y="3634591"/>
                    <a:pt x="1838765" y="3634591"/>
                  </a:cubicBezTo>
                  <a:cubicBezTo>
                    <a:pt x="1249640" y="3634591"/>
                    <a:pt x="832413" y="3386508"/>
                    <a:pt x="443724" y="2805020"/>
                  </a:cubicBezTo>
                  <a:cubicBezTo>
                    <a:pt x="392859" y="2728910"/>
                    <a:pt x="343138" y="2659690"/>
                    <a:pt x="295053" y="2592792"/>
                  </a:cubicBezTo>
                  <a:cubicBezTo>
                    <a:pt x="95761" y="2315411"/>
                    <a:pt x="0" y="2171160"/>
                    <a:pt x="0" y="1924156"/>
                  </a:cubicBezTo>
                  <a:cubicBezTo>
                    <a:pt x="0" y="1678896"/>
                    <a:pt x="60024" y="1436622"/>
                    <a:pt x="178275" y="1204061"/>
                  </a:cubicBezTo>
                  <a:cubicBezTo>
                    <a:pt x="293990" y="976561"/>
                    <a:pt x="459425" y="768319"/>
                    <a:pt x="669921" y="585306"/>
                  </a:cubicBezTo>
                  <a:cubicBezTo>
                    <a:pt x="876818" y="405365"/>
                    <a:pt x="1122558" y="256964"/>
                    <a:pt x="1380730" y="156203"/>
                  </a:cubicBezTo>
                  <a:cubicBezTo>
                    <a:pt x="1645852" y="52539"/>
                    <a:pt x="1915145" y="0"/>
                    <a:pt x="2180840" y="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9" name="Freeform: Shape 78">
              <a:extLst>
                <a:ext uri="{FF2B5EF4-FFF2-40B4-BE49-F238E27FC236}">
                  <a16:creationId xmlns:a16="http://schemas.microsoft.com/office/drawing/2014/main" id="{1EBB781F-78E5-4C66-811C-9FF8B5D501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1300000" flipH="1">
              <a:off x="659679" y="950330"/>
              <a:ext cx="4908132" cy="4613915"/>
            </a:xfrm>
            <a:custGeom>
              <a:avLst/>
              <a:gdLst>
                <a:gd name="connsiteX0" fmla="*/ 2180840 w 3810827"/>
                <a:gd name="connsiteY0" fmla="*/ 0 h 3634591"/>
                <a:gd name="connsiteX1" fmla="*/ 2866380 w 3810827"/>
                <a:gd name="connsiteY1" fmla="*/ 145165 h 3634591"/>
                <a:gd name="connsiteX2" fmla="*/ 3366366 w 3810827"/>
                <a:gd name="connsiteY2" fmla="*/ 536835 h 3634591"/>
                <a:gd name="connsiteX3" fmla="*/ 3810827 w 3810827"/>
                <a:gd name="connsiteY3" fmla="*/ 1924156 h 3634591"/>
                <a:gd name="connsiteX4" fmla="*/ 3612844 w 3810827"/>
                <a:gd name="connsiteY4" fmla="*/ 2493111 h 3634591"/>
                <a:gd name="connsiteX5" fmla="*/ 3026664 w 3810827"/>
                <a:gd name="connsiteY5" fmla="*/ 3022891 h 3634591"/>
                <a:gd name="connsiteX6" fmla="*/ 2897783 w 3810827"/>
                <a:gd name="connsiteY6" fmla="*/ 3124233 h 3634591"/>
                <a:gd name="connsiteX7" fmla="*/ 1838765 w 3810827"/>
                <a:gd name="connsiteY7" fmla="*/ 3634591 h 3634591"/>
                <a:gd name="connsiteX8" fmla="*/ 443724 w 3810827"/>
                <a:gd name="connsiteY8" fmla="*/ 2805020 h 3634591"/>
                <a:gd name="connsiteX9" fmla="*/ 295053 w 3810827"/>
                <a:gd name="connsiteY9" fmla="*/ 2592792 h 3634591"/>
                <a:gd name="connsiteX10" fmla="*/ 0 w 3810827"/>
                <a:gd name="connsiteY10" fmla="*/ 1924156 h 3634591"/>
                <a:gd name="connsiteX11" fmla="*/ 178275 w 3810827"/>
                <a:gd name="connsiteY11" fmla="*/ 1204061 h 3634591"/>
                <a:gd name="connsiteX12" fmla="*/ 669921 w 3810827"/>
                <a:gd name="connsiteY12" fmla="*/ 585306 h 3634591"/>
                <a:gd name="connsiteX13" fmla="*/ 1380730 w 3810827"/>
                <a:gd name="connsiteY13" fmla="*/ 156203 h 3634591"/>
                <a:gd name="connsiteX14" fmla="*/ 2180840 w 3810827"/>
                <a:gd name="connsiteY14" fmla="*/ 0 h 3634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810827" h="3634591">
                  <a:moveTo>
                    <a:pt x="2180840" y="0"/>
                  </a:moveTo>
                  <a:cubicBezTo>
                    <a:pt x="2431406" y="0"/>
                    <a:pt x="2662018" y="48886"/>
                    <a:pt x="2866380" y="145165"/>
                  </a:cubicBezTo>
                  <a:cubicBezTo>
                    <a:pt x="3057903" y="235467"/>
                    <a:pt x="3226119" y="367269"/>
                    <a:pt x="3366366" y="536835"/>
                  </a:cubicBezTo>
                  <a:cubicBezTo>
                    <a:pt x="3652997" y="883519"/>
                    <a:pt x="3810827" y="1376199"/>
                    <a:pt x="3810827" y="1924156"/>
                  </a:cubicBezTo>
                  <a:cubicBezTo>
                    <a:pt x="3810827" y="2142775"/>
                    <a:pt x="3749739" y="2318234"/>
                    <a:pt x="3612844" y="2493111"/>
                  </a:cubicBezTo>
                  <a:cubicBezTo>
                    <a:pt x="3469652" y="2676041"/>
                    <a:pt x="3254495" y="2844528"/>
                    <a:pt x="3026664" y="3022891"/>
                  </a:cubicBezTo>
                  <a:cubicBezTo>
                    <a:pt x="2984630" y="3055759"/>
                    <a:pt x="2941206" y="3089789"/>
                    <a:pt x="2897783" y="3124233"/>
                  </a:cubicBezTo>
                  <a:cubicBezTo>
                    <a:pt x="2509094" y="3432490"/>
                    <a:pt x="2225408" y="3634591"/>
                    <a:pt x="1838765" y="3634591"/>
                  </a:cubicBezTo>
                  <a:cubicBezTo>
                    <a:pt x="1249640" y="3634591"/>
                    <a:pt x="832413" y="3386508"/>
                    <a:pt x="443724" y="2805020"/>
                  </a:cubicBezTo>
                  <a:cubicBezTo>
                    <a:pt x="392859" y="2728910"/>
                    <a:pt x="343138" y="2659690"/>
                    <a:pt x="295053" y="2592792"/>
                  </a:cubicBezTo>
                  <a:cubicBezTo>
                    <a:pt x="95761" y="2315411"/>
                    <a:pt x="0" y="2171160"/>
                    <a:pt x="0" y="1924156"/>
                  </a:cubicBezTo>
                  <a:cubicBezTo>
                    <a:pt x="0" y="1678896"/>
                    <a:pt x="60024" y="1436622"/>
                    <a:pt x="178275" y="1204061"/>
                  </a:cubicBezTo>
                  <a:cubicBezTo>
                    <a:pt x="293990" y="976561"/>
                    <a:pt x="459425" y="768319"/>
                    <a:pt x="669921" y="585306"/>
                  </a:cubicBezTo>
                  <a:cubicBezTo>
                    <a:pt x="876818" y="405365"/>
                    <a:pt x="1122558" y="256964"/>
                    <a:pt x="1380730" y="156203"/>
                  </a:cubicBezTo>
                  <a:cubicBezTo>
                    <a:pt x="1645852" y="52539"/>
                    <a:pt x="1915145" y="0"/>
                    <a:pt x="2180840" y="0"/>
                  </a:cubicBezTo>
                  <a:close/>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1AE0468E-1B9F-E51A-AB1B-3EDAAEA25326}"/>
              </a:ext>
            </a:extLst>
          </p:cNvPr>
          <p:cNvSpPr>
            <a:spLocks noGrp="1"/>
          </p:cNvSpPr>
          <p:nvPr>
            <p:ph type="title"/>
          </p:nvPr>
        </p:nvSpPr>
        <p:spPr>
          <a:xfrm>
            <a:off x="1829849" y="1899904"/>
            <a:ext cx="3312116" cy="2934031"/>
          </a:xfrm>
        </p:spPr>
        <p:txBody>
          <a:bodyPr anchor="ctr">
            <a:normAutofit/>
          </a:bodyPr>
          <a:lstStyle/>
          <a:p>
            <a:r>
              <a:rPr lang="en-US" dirty="0">
                <a:ea typeface="Meiryo"/>
              </a:rPr>
              <a:t>Key Learning</a:t>
            </a:r>
            <a:endParaRPr lang="en-US"/>
          </a:p>
        </p:txBody>
      </p:sp>
      <p:graphicFrame>
        <p:nvGraphicFramePr>
          <p:cNvPr id="59" name="Content Placeholder 56">
            <a:extLst>
              <a:ext uri="{FF2B5EF4-FFF2-40B4-BE49-F238E27FC236}">
                <a16:creationId xmlns:a16="http://schemas.microsoft.com/office/drawing/2014/main" id="{F4741D53-F500-8A72-B3C5-A87283942D98}"/>
              </a:ext>
            </a:extLst>
          </p:cNvPr>
          <p:cNvGraphicFramePr>
            <a:graphicFrameLocks noGrp="1"/>
          </p:cNvGraphicFramePr>
          <p:nvPr>
            <p:ph idx="1"/>
            <p:extLst>
              <p:ext uri="{D42A27DB-BD31-4B8C-83A1-F6EECF244321}">
                <p14:modId xmlns:p14="http://schemas.microsoft.com/office/powerpoint/2010/main" val="3664422393"/>
              </p:ext>
            </p:extLst>
          </p:nvPr>
        </p:nvGraphicFramePr>
        <p:xfrm>
          <a:off x="5579806" y="460784"/>
          <a:ext cx="6146083" cy="583529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614348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93B4D24-F4A8-4141-A20A-E0575D1996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grpSp>
        <p:nvGrpSpPr>
          <p:cNvPr id="10" name="Group 9">
            <a:extLst>
              <a:ext uri="{FF2B5EF4-FFF2-40B4-BE49-F238E27FC236}">
                <a16:creationId xmlns:a16="http://schemas.microsoft.com/office/drawing/2014/main" id="{6CCEEF8A-4A3A-4B35-AA57-D804767F5AD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0"/>
            <a:ext cx="12191696" cy="6170490"/>
            <a:chOff x="-2" y="0"/>
            <a:chExt cx="12191696" cy="6170490"/>
          </a:xfrm>
        </p:grpSpPr>
        <p:sp>
          <p:nvSpPr>
            <p:cNvPr id="11" name="Freeform: Shape 10">
              <a:extLst>
                <a:ext uri="{FF2B5EF4-FFF2-40B4-BE49-F238E27FC236}">
                  <a16:creationId xmlns:a16="http://schemas.microsoft.com/office/drawing/2014/main" id="{55A741C2-AB82-4BF5-9324-5D0B56A3D0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3167675" y="-3167677"/>
              <a:ext cx="5856341" cy="12191695"/>
            </a:xfrm>
            <a:custGeom>
              <a:avLst/>
              <a:gdLst>
                <a:gd name="connsiteX0" fmla="*/ 0 w 5856341"/>
                <a:gd name="connsiteY0" fmla="*/ 12191695 h 12191695"/>
                <a:gd name="connsiteX1" fmla="*/ 0 w 5856341"/>
                <a:gd name="connsiteY1" fmla="*/ 0 h 12191695"/>
                <a:gd name="connsiteX2" fmla="*/ 243849 w 5856341"/>
                <a:gd name="connsiteY2" fmla="*/ 0 h 12191695"/>
                <a:gd name="connsiteX3" fmla="*/ 505121 w 5856341"/>
                <a:gd name="connsiteY3" fmla="*/ 0 h 12191695"/>
                <a:gd name="connsiteX4" fmla="*/ 723207 w 5856341"/>
                <a:gd name="connsiteY4" fmla="*/ 0 h 12191695"/>
                <a:gd name="connsiteX5" fmla="*/ 755828 w 5856341"/>
                <a:gd name="connsiteY5" fmla="*/ 0 h 12191695"/>
                <a:gd name="connsiteX6" fmla="*/ 1411868 w 5856341"/>
                <a:gd name="connsiteY6" fmla="*/ 0 h 12191695"/>
                <a:gd name="connsiteX7" fmla="*/ 1421034 w 5856341"/>
                <a:gd name="connsiteY7" fmla="*/ 0 h 12191695"/>
                <a:gd name="connsiteX8" fmla="*/ 1515206 w 5856341"/>
                <a:gd name="connsiteY8" fmla="*/ 0 h 12191695"/>
                <a:gd name="connsiteX9" fmla="*/ 2636151 w 5856341"/>
                <a:gd name="connsiteY9" fmla="*/ 0 h 12191695"/>
                <a:gd name="connsiteX10" fmla="*/ 4637890 w 5856341"/>
                <a:gd name="connsiteY10" fmla="*/ 0 h 12191695"/>
                <a:gd name="connsiteX11" fmla="*/ 4654499 w 5856341"/>
                <a:gd name="connsiteY11" fmla="*/ 26661 h 12191695"/>
                <a:gd name="connsiteX12" fmla="*/ 5856341 w 5856341"/>
                <a:gd name="connsiteY12" fmla="*/ 6438338 h 12191695"/>
                <a:gd name="connsiteX13" fmla="*/ 4449211 w 5856341"/>
                <a:gd name="connsiteY13" fmla="*/ 11332719 h 12191695"/>
                <a:gd name="connsiteX14" fmla="*/ 4061349 w 5856341"/>
                <a:gd name="connsiteY14" fmla="*/ 12054097 h 12191695"/>
                <a:gd name="connsiteX15" fmla="*/ 3977450 w 5856341"/>
                <a:gd name="connsiteY15" fmla="*/ 12191695 h 12191695"/>
                <a:gd name="connsiteX16" fmla="*/ 2636151 w 5856341"/>
                <a:gd name="connsiteY16" fmla="*/ 12191695 h 12191695"/>
                <a:gd name="connsiteX17" fmla="*/ 1421034 w 5856341"/>
                <a:gd name="connsiteY17" fmla="*/ 12191695 h 12191695"/>
                <a:gd name="connsiteX18" fmla="*/ 1411868 w 5856341"/>
                <a:gd name="connsiteY18" fmla="*/ 12191695 h 12191695"/>
                <a:gd name="connsiteX19" fmla="*/ 1283685 w 5856341"/>
                <a:gd name="connsiteY19" fmla="*/ 12191695 h 12191695"/>
                <a:gd name="connsiteX20" fmla="*/ 755828 w 5856341"/>
                <a:gd name="connsiteY20" fmla="*/ 12191695 h 12191695"/>
                <a:gd name="connsiteX21" fmla="*/ 723207 w 5856341"/>
                <a:gd name="connsiteY21" fmla="*/ 12191695 h 12191695"/>
                <a:gd name="connsiteX22" fmla="*/ 505121 w 5856341"/>
                <a:gd name="connsiteY22" fmla="*/ 12191695 h 12191695"/>
                <a:gd name="connsiteX23" fmla="*/ 243849 w 5856341"/>
                <a:gd name="connsiteY23" fmla="*/ 12191695 h 12191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5856341" h="12191695">
                  <a:moveTo>
                    <a:pt x="0" y="12191695"/>
                  </a:moveTo>
                  <a:lnTo>
                    <a:pt x="0" y="0"/>
                  </a:lnTo>
                  <a:lnTo>
                    <a:pt x="243849" y="0"/>
                  </a:lnTo>
                  <a:lnTo>
                    <a:pt x="505121" y="0"/>
                  </a:lnTo>
                  <a:lnTo>
                    <a:pt x="723207" y="0"/>
                  </a:lnTo>
                  <a:lnTo>
                    <a:pt x="755828" y="0"/>
                  </a:lnTo>
                  <a:lnTo>
                    <a:pt x="1411868" y="0"/>
                  </a:lnTo>
                  <a:lnTo>
                    <a:pt x="1421034" y="0"/>
                  </a:lnTo>
                  <a:lnTo>
                    <a:pt x="1515206" y="0"/>
                  </a:lnTo>
                  <a:lnTo>
                    <a:pt x="2636151" y="0"/>
                  </a:lnTo>
                  <a:lnTo>
                    <a:pt x="4637890" y="0"/>
                  </a:lnTo>
                  <a:lnTo>
                    <a:pt x="4654499" y="26661"/>
                  </a:lnTo>
                  <a:cubicBezTo>
                    <a:pt x="5425621" y="1341551"/>
                    <a:pt x="5856341" y="3721137"/>
                    <a:pt x="5856341" y="6438338"/>
                  </a:cubicBezTo>
                  <a:cubicBezTo>
                    <a:pt x="5856341" y="8833790"/>
                    <a:pt x="5159120" y="9960353"/>
                    <a:pt x="4449211" y="11332719"/>
                  </a:cubicBezTo>
                  <a:cubicBezTo>
                    <a:pt x="4319934" y="11582638"/>
                    <a:pt x="4191839" y="11827452"/>
                    <a:pt x="4061349" y="12054097"/>
                  </a:cubicBezTo>
                  <a:lnTo>
                    <a:pt x="3977450" y="12191695"/>
                  </a:lnTo>
                  <a:lnTo>
                    <a:pt x="2636151" y="12191695"/>
                  </a:lnTo>
                  <a:lnTo>
                    <a:pt x="1421034" y="12191695"/>
                  </a:lnTo>
                  <a:lnTo>
                    <a:pt x="1411868" y="12191695"/>
                  </a:lnTo>
                  <a:lnTo>
                    <a:pt x="1283685" y="12191695"/>
                  </a:lnTo>
                  <a:lnTo>
                    <a:pt x="755828" y="12191695"/>
                  </a:lnTo>
                  <a:lnTo>
                    <a:pt x="723207" y="12191695"/>
                  </a:lnTo>
                  <a:lnTo>
                    <a:pt x="505121" y="12191695"/>
                  </a:lnTo>
                  <a:lnTo>
                    <a:pt x="243849" y="12191695"/>
                  </a:ln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11">
              <a:extLst>
                <a:ext uri="{FF2B5EF4-FFF2-40B4-BE49-F238E27FC236}">
                  <a16:creationId xmlns:a16="http://schemas.microsoft.com/office/drawing/2014/main" id="{DCD46807-BF17-4E5D-90A8-A062604C00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5146277" y="-874927"/>
              <a:ext cx="1899138" cy="12191695"/>
            </a:xfrm>
            <a:custGeom>
              <a:avLst/>
              <a:gdLst>
                <a:gd name="connsiteX0" fmla="*/ 1258269 w 2529723"/>
                <a:gd name="connsiteY0" fmla="*/ 0 h 6858000"/>
                <a:gd name="connsiteX1" fmla="*/ 1275627 w 2529723"/>
                <a:gd name="connsiteY1" fmla="*/ 0 h 6858000"/>
                <a:gd name="connsiteX2" fmla="*/ 1302560 w 2529723"/>
                <a:gd name="connsiteY2" fmla="*/ 24338 h 6858000"/>
                <a:gd name="connsiteX3" fmla="*/ 2522825 w 2529723"/>
                <a:gd name="connsiteY3" fmla="*/ 3678515 h 6858000"/>
                <a:gd name="connsiteX4" fmla="*/ 557500 w 2529723"/>
                <a:gd name="connsiteY4" fmla="*/ 6451411 h 6858000"/>
                <a:gd name="connsiteX5" fmla="*/ 32482 w 2529723"/>
                <a:gd name="connsiteY5" fmla="*/ 6849373 h 6858000"/>
                <a:gd name="connsiteX6" fmla="*/ 19531 w 2529723"/>
                <a:gd name="connsiteY6" fmla="*/ 6858000 h 6858000"/>
                <a:gd name="connsiteX7" fmla="*/ 0 w 2529723"/>
                <a:gd name="connsiteY7" fmla="*/ 6858000 h 6858000"/>
                <a:gd name="connsiteX8" fmla="*/ 14202 w 2529723"/>
                <a:gd name="connsiteY8" fmla="*/ 6848540 h 6858000"/>
                <a:gd name="connsiteX9" fmla="*/ 539221 w 2529723"/>
                <a:gd name="connsiteY9" fmla="*/ 6450578 h 6858000"/>
                <a:gd name="connsiteX10" fmla="*/ 2504546 w 2529723"/>
                <a:gd name="connsiteY10" fmla="*/ 3677682 h 6858000"/>
                <a:gd name="connsiteX11" fmla="*/ 1284280 w 2529723"/>
                <a:gd name="connsiteY11" fmla="*/ 235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9723" h="685800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13" name="Freeform: Shape 12">
              <a:extLst>
                <a:ext uri="{FF2B5EF4-FFF2-40B4-BE49-F238E27FC236}">
                  <a16:creationId xmlns:a16="http://schemas.microsoft.com/office/drawing/2014/main" id="{823926DB-76C8-474A-B5FB-F43C59E33F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5143758" y="-1037574"/>
              <a:ext cx="1904176" cy="12191695"/>
            </a:xfrm>
            <a:custGeom>
              <a:avLst/>
              <a:gdLst>
                <a:gd name="connsiteX0" fmla="*/ 879731 w 2536434"/>
                <a:gd name="connsiteY0" fmla="*/ 0 h 6858000"/>
                <a:gd name="connsiteX1" fmla="*/ 913411 w 2536434"/>
                <a:gd name="connsiteY1" fmla="*/ 0 h 6858000"/>
                <a:gd name="connsiteX2" fmla="*/ 935535 w 2536434"/>
                <a:gd name="connsiteY2" fmla="*/ 14997 h 6858000"/>
                <a:gd name="connsiteX3" fmla="*/ 2536434 w 2536434"/>
                <a:gd name="connsiteY3" fmla="*/ 3621656 h 6858000"/>
                <a:gd name="connsiteX4" fmla="*/ 662084 w 2536434"/>
                <a:gd name="connsiteY4" fmla="*/ 6374814 h 6858000"/>
                <a:gd name="connsiteX5" fmla="*/ 145436 w 2536434"/>
                <a:gd name="connsiteY5" fmla="*/ 6780599 h 6858000"/>
                <a:gd name="connsiteX6" fmla="*/ 33680 w 2536434"/>
                <a:gd name="connsiteY6" fmla="*/ 6858000 h 6858000"/>
                <a:gd name="connsiteX7" fmla="*/ 0 w 2536434"/>
                <a:gd name="connsiteY7" fmla="*/ 6858000 h 6858000"/>
                <a:gd name="connsiteX8" fmla="*/ 111756 w 2536434"/>
                <a:gd name="connsiteY8" fmla="*/ 6780599 h 6858000"/>
                <a:gd name="connsiteX9" fmla="*/ 628404 w 2536434"/>
                <a:gd name="connsiteY9" fmla="*/ 6374814 h 6858000"/>
                <a:gd name="connsiteX10" fmla="*/ 2502754 w 2536434"/>
                <a:gd name="connsiteY10" fmla="*/ 3621656 h 6858000"/>
                <a:gd name="connsiteX11" fmla="*/ 901855 w 2536434"/>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14" name="Freeform: Shape 13">
              <a:extLst>
                <a:ext uri="{FF2B5EF4-FFF2-40B4-BE49-F238E27FC236}">
                  <a16:creationId xmlns:a16="http://schemas.microsoft.com/office/drawing/2014/main" id="{3C1F5347-E00A-4E12-AC11-18E0B1AF2D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5247015" y="-1314429"/>
              <a:ext cx="1697663" cy="12191695"/>
            </a:xfrm>
            <a:custGeom>
              <a:avLst/>
              <a:gdLst>
                <a:gd name="connsiteX0" fmla="*/ 879731 w 2521425"/>
                <a:gd name="connsiteY0" fmla="*/ 0 h 6858000"/>
                <a:gd name="connsiteX1" fmla="*/ 898402 w 2521425"/>
                <a:gd name="connsiteY1" fmla="*/ 0 h 6858000"/>
                <a:gd name="connsiteX2" fmla="*/ 920526 w 2521425"/>
                <a:gd name="connsiteY2" fmla="*/ 14997 h 6858000"/>
                <a:gd name="connsiteX3" fmla="*/ 2521425 w 2521425"/>
                <a:gd name="connsiteY3" fmla="*/ 3621656 h 6858000"/>
                <a:gd name="connsiteX4" fmla="*/ 647075 w 2521425"/>
                <a:gd name="connsiteY4" fmla="*/ 6374814 h 6858000"/>
                <a:gd name="connsiteX5" fmla="*/ 130427 w 2521425"/>
                <a:gd name="connsiteY5" fmla="*/ 6780599 h 6858000"/>
                <a:gd name="connsiteX6" fmla="*/ 18671 w 2521425"/>
                <a:gd name="connsiteY6" fmla="*/ 6858000 h 6858000"/>
                <a:gd name="connsiteX7" fmla="*/ 0 w 2521425"/>
                <a:gd name="connsiteY7" fmla="*/ 6858000 h 6858000"/>
                <a:gd name="connsiteX8" fmla="*/ 111756 w 2521425"/>
                <a:gd name="connsiteY8" fmla="*/ 6780599 h 6858000"/>
                <a:gd name="connsiteX9" fmla="*/ 628404 w 2521425"/>
                <a:gd name="connsiteY9" fmla="*/ 6374814 h 6858000"/>
                <a:gd name="connsiteX10" fmla="*/ 2502754 w 2521425"/>
                <a:gd name="connsiteY10" fmla="*/ 3621656 h 6858000"/>
                <a:gd name="connsiteX11" fmla="*/ 901855 w 2521425"/>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1425" h="6858000">
                  <a:moveTo>
                    <a:pt x="879731" y="0"/>
                  </a:moveTo>
                  <a:lnTo>
                    <a:pt x="898402" y="0"/>
                  </a:lnTo>
                  <a:lnTo>
                    <a:pt x="920526" y="14997"/>
                  </a:lnTo>
                  <a:cubicBezTo>
                    <a:pt x="1947689" y="754641"/>
                    <a:pt x="2521425" y="2093192"/>
                    <a:pt x="2521425" y="3621656"/>
                  </a:cubicBezTo>
                  <a:cubicBezTo>
                    <a:pt x="2521425" y="4969131"/>
                    <a:pt x="1592700" y="5602839"/>
                    <a:pt x="647075" y="6374814"/>
                  </a:cubicBezTo>
                  <a:cubicBezTo>
                    <a:pt x="474872" y="6515397"/>
                    <a:pt x="304245" y="6653108"/>
                    <a:pt x="130427" y="6780599"/>
                  </a:cubicBezTo>
                  <a:lnTo>
                    <a:pt x="18671"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grpSp>
      <p:sp>
        <p:nvSpPr>
          <p:cNvPr id="2" name="Title 1">
            <a:extLst>
              <a:ext uri="{FF2B5EF4-FFF2-40B4-BE49-F238E27FC236}">
                <a16:creationId xmlns:a16="http://schemas.microsoft.com/office/drawing/2014/main" id="{F1772BCF-FEF5-E19F-D969-C3B60BE94FA6}"/>
              </a:ext>
            </a:extLst>
          </p:cNvPr>
          <p:cNvSpPr>
            <a:spLocks noGrp="1"/>
          </p:cNvSpPr>
          <p:nvPr>
            <p:ph type="title"/>
          </p:nvPr>
        </p:nvSpPr>
        <p:spPr>
          <a:xfrm>
            <a:off x="1920875" y="442913"/>
            <a:ext cx="6857365" cy="1344612"/>
          </a:xfrm>
        </p:spPr>
        <p:txBody>
          <a:bodyPr anchor="b">
            <a:normAutofit/>
          </a:bodyPr>
          <a:lstStyle/>
          <a:p>
            <a:r>
              <a:rPr lang="en-US" dirty="0">
                <a:ea typeface="Meiryo"/>
              </a:rPr>
              <a:t>Future Work</a:t>
            </a:r>
            <a:endParaRPr lang="en-US" dirty="0"/>
          </a:p>
        </p:txBody>
      </p:sp>
      <p:sp>
        <p:nvSpPr>
          <p:cNvPr id="3" name="Content Placeholder 2">
            <a:extLst>
              <a:ext uri="{FF2B5EF4-FFF2-40B4-BE49-F238E27FC236}">
                <a16:creationId xmlns:a16="http://schemas.microsoft.com/office/drawing/2014/main" id="{010FE067-05F9-CFCE-2E73-51E620FEB9F0}"/>
              </a:ext>
            </a:extLst>
          </p:cNvPr>
          <p:cNvSpPr>
            <a:spLocks noGrp="1"/>
          </p:cNvSpPr>
          <p:nvPr>
            <p:ph idx="1"/>
          </p:nvPr>
        </p:nvSpPr>
        <p:spPr>
          <a:xfrm>
            <a:off x="1920875" y="2107096"/>
            <a:ext cx="8391967" cy="2846567"/>
          </a:xfrm>
        </p:spPr>
        <p:txBody>
          <a:bodyPr vert="horz" lIns="109728" tIns="109728" rIns="109728" bIns="91440" rtlCol="0">
            <a:normAutofit/>
          </a:bodyPr>
          <a:lstStyle/>
          <a:p>
            <a:pPr>
              <a:lnSpc>
                <a:spcPct val="130000"/>
              </a:lnSpc>
            </a:pPr>
            <a:r>
              <a:rPr lang="en-US" sz="1500">
                <a:ea typeface="+mn-lt"/>
                <a:cs typeface="+mn-lt"/>
              </a:rPr>
              <a:t>Future enhancements for this project could include implementing deep learning models like Artificial Neural Networks (ANN) to capture more complex patterns. SHAP and LIME frameworks can be used to improve model explainability.</a:t>
            </a:r>
            <a:br>
              <a:rPr lang="en-US" sz="1500">
                <a:ea typeface="+mn-lt"/>
                <a:cs typeface="+mn-lt"/>
              </a:rPr>
            </a:br>
            <a:r>
              <a:rPr lang="en-US" sz="1500">
                <a:ea typeface="+mn-lt"/>
                <a:cs typeface="+mn-lt"/>
              </a:rPr>
              <a:t> Additionally, developing a live dashboard using Power BI or </a:t>
            </a:r>
            <a:r>
              <a:rPr lang="en-US" sz="1500" err="1">
                <a:ea typeface="+mn-lt"/>
                <a:cs typeface="+mn-lt"/>
              </a:rPr>
              <a:t>Streamlit</a:t>
            </a:r>
            <a:r>
              <a:rPr lang="en-US" sz="1500">
                <a:ea typeface="+mn-lt"/>
                <a:cs typeface="+mn-lt"/>
              </a:rPr>
              <a:t> would allow managers to visualize churn trends in real time. Experimenting with advanced ensemble methods like </a:t>
            </a:r>
            <a:r>
              <a:rPr lang="en-US" sz="1500" err="1">
                <a:ea typeface="+mn-lt"/>
                <a:cs typeface="+mn-lt"/>
              </a:rPr>
              <a:t>XGBoost</a:t>
            </a:r>
            <a:r>
              <a:rPr lang="en-US" sz="1500">
                <a:ea typeface="+mn-lt"/>
                <a:cs typeface="+mn-lt"/>
              </a:rPr>
              <a:t> or </a:t>
            </a:r>
            <a:r>
              <a:rPr lang="en-US" sz="1500" err="1">
                <a:ea typeface="+mn-lt"/>
                <a:cs typeface="+mn-lt"/>
              </a:rPr>
              <a:t>LightGBM</a:t>
            </a:r>
            <a:r>
              <a:rPr lang="en-US" sz="1500">
                <a:ea typeface="+mn-lt"/>
                <a:cs typeface="+mn-lt"/>
              </a:rPr>
              <a:t> could further improve predictive accuracy.</a:t>
            </a:r>
            <a:endParaRPr lang="en-US" sz="1500"/>
          </a:p>
        </p:txBody>
      </p:sp>
    </p:spTree>
    <p:extLst>
      <p:ext uri="{BB962C8B-B14F-4D97-AF65-F5344CB8AC3E}">
        <p14:creationId xmlns:p14="http://schemas.microsoft.com/office/powerpoint/2010/main" val="7912859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9B0F7D69-D93C-4C38-A23D-76E000D691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496422" cy="6858000"/>
          </a:xfrm>
          <a:custGeom>
            <a:avLst/>
            <a:gdLst/>
            <a:ahLst/>
            <a:cxnLst/>
            <a:rect l="l" t="t" r="r" b="b"/>
            <a:pathLst>
              <a:path w="3496422" h="6858000">
                <a:moveTo>
                  <a:pt x="0" y="0"/>
                </a:moveTo>
                <a:lnTo>
                  <a:pt x="1873399" y="0"/>
                </a:lnTo>
                <a:lnTo>
                  <a:pt x="1895523" y="14997"/>
                </a:lnTo>
                <a:cubicBezTo>
                  <a:pt x="2922686" y="754641"/>
                  <a:pt x="3496422" y="2093192"/>
                  <a:pt x="3496422" y="3621656"/>
                </a:cubicBezTo>
                <a:cubicBezTo>
                  <a:pt x="3496422" y="4969131"/>
                  <a:pt x="2567697" y="5602839"/>
                  <a:pt x="1622072" y="6374814"/>
                </a:cubicBezTo>
                <a:cubicBezTo>
                  <a:pt x="1449869" y="6515397"/>
                  <a:pt x="1279242" y="6653108"/>
                  <a:pt x="1105424" y="6780599"/>
                </a:cubicBezTo>
                <a:lnTo>
                  <a:pt x="993668" y="6858000"/>
                </a:lnTo>
                <a:lnTo>
                  <a:pt x="0" y="6858000"/>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 name="Freeform: Shape 9">
            <a:extLst>
              <a:ext uri="{FF2B5EF4-FFF2-40B4-BE49-F238E27FC236}">
                <a16:creationId xmlns:a16="http://schemas.microsoft.com/office/drawing/2014/main" id="{8CD419D4-EA9D-42D9-BF62-B07F0B7B67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75409" y="0"/>
            <a:ext cx="2529723" cy="6858000"/>
          </a:xfrm>
          <a:custGeom>
            <a:avLst/>
            <a:gdLst/>
            <a:ahLst/>
            <a:cxnLst/>
            <a:rect l="l" t="t" r="r" b="b"/>
            <a:pathLst>
              <a:path w="2529723" h="685800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12" name="Freeform: Shape 11">
            <a:extLst>
              <a:ext uri="{FF2B5EF4-FFF2-40B4-BE49-F238E27FC236}">
                <a16:creationId xmlns:a16="http://schemas.microsoft.com/office/drawing/2014/main" id="{1C6FEC9B-9608-4181-A9E5-A1B80E7202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5402" y="0"/>
            <a:ext cx="2536434" cy="6858000"/>
          </a:xfrm>
          <a:custGeom>
            <a:avLst/>
            <a:gdLst/>
            <a:ahLst/>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14" name="Freeform: Shape 13">
            <a:extLst>
              <a:ext uri="{FF2B5EF4-FFF2-40B4-BE49-F238E27FC236}">
                <a16:creationId xmlns:a16="http://schemas.microsoft.com/office/drawing/2014/main" id="{AB1564ED-F26F-451D-97D6-A6EC3E83FD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4161" y="0"/>
            <a:ext cx="2261351" cy="6858000"/>
          </a:xfrm>
          <a:custGeom>
            <a:avLst/>
            <a:gdLst/>
            <a:ahLst/>
            <a:cxnLst/>
            <a:rect l="l" t="t" r="r" b="b"/>
            <a:pathLst>
              <a:path w="2521425" h="6858000">
                <a:moveTo>
                  <a:pt x="879731" y="0"/>
                </a:moveTo>
                <a:lnTo>
                  <a:pt x="898402" y="0"/>
                </a:lnTo>
                <a:lnTo>
                  <a:pt x="920526" y="14997"/>
                </a:lnTo>
                <a:cubicBezTo>
                  <a:pt x="1947689" y="754641"/>
                  <a:pt x="2521425" y="2093192"/>
                  <a:pt x="2521425" y="3621656"/>
                </a:cubicBezTo>
                <a:cubicBezTo>
                  <a:pt x="2521425" y="4969131"/>
                  <a:pt x="1592700" y="5602839"/>
                  <a:pt x="647075" y="6374814"/>
                </a:cubicBezTo>
                <a:cubicBezTo>
                  <a:pt x="474872" y="6515397"/>
                  <a:pt x="304245" y="6653108"/>
                  <a:pt x="130427" y="6780599"/>
                </a:cubicBezTo>
                <a:lnTo>
                  <a:pt x="18671"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16" name="Freeform: Shape 15">
            <a:extLst>
              <a:ext uri="{FF2B5EF4-FFF2-40B4-BE49-F238E27FC236}">
                <a16:creationId xmlns:a16="http://schemas.microsoft.com/office/drawing/2014/main" id="{AF50A80E-5DCB-4320-9947-73BF2D6F05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userDrawn="1">
            <p:extLst>
              <p:ext uri="{386F3935-93C4-4BCD-93E2-E3B085C9AB24}">
                <p16:designElem xmlns:p16="http://schemas.microsoft.com/office/powerpoint/2015/main" val="1"/>
              </p:ext>
            </p:extLst>
          </p:nvPr>
        </p:nvSpPr>
        <p:spPr>
          <a:xfrm>
            <a:off x="0" y="0"/>
            <a:ext cx="3496422" cy="6858000"/>
          </a:xfrm>
          <a:custGeom>
            <a:avLst/>
            <a:gdLst/>
            <a:ahLst/>
            <a:cxnLst/>
            <a:rect l="l" t="t" r="r" b="b"/>
            <a:pathLst>
              <a:path w="3496422" h="6858000">
                <a:moveTo>
                  <a:pt x="0" y="0"/>
                </a:moveTo>
                <a:lnTo>
                  <a:pt x="1873399" y="0"/>
                </a:lnTo>
                <a:lnTo>
                  <a:pt x="1895523" y="14997"/>
                </a:lnTo>
                <a:cubicBezTo>
                  <a:pt x="2922686" y="754641"/>
                  <a:pt x="3496422" y="2093192"/>
                  <a:pt x="3496422" y="3621656"/>
                </a:cubicBezTo>
                <a:cubicBezTo>
                  <a:pt x="3496422" y="4969131"/>
                  <a:pt x="2567697" y="5602839"/>
                  <a:pt x="1622072" y="6374814"/>
                </a:cubicBezTo>
                <a:cubicBezTo>
                  <a:pt x="1449869" y="6515397"/>
                  <a:pt x="1279242" y="6653108"/>
                  <a:pt x="1105424" y="6780599"/>
                </a:cubicBezTo>
                <a:lnTo>
                  <a:pt x="993668" y="6858000"/>
                </a:lnTo>
                <a:lnTo>
                  <a:pt x="0" y="6858000"/>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4E9C9717-43F9-44EA-9215-3F2D15B1C7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userDrawn="1">
            <p:extLst>
              <p:ext uri="{386F3935-93C4-4BCD-93E2-E3B085C9AB24}">
                <p16:designElem xmlns:p16="http://schemas.microsoft.com/office/powerpoint/2015/main" val="1"/>
              </p:ext>
            </p:extLst>
          </p:nvPr>
        </p:nvSpPr>
        <p:spPr>
          <a:xfrm>
            <a:off x="1375409" y="0"/>
            <a:ext cx="2529723" cy="6858000"/>
          </a:xfrm>
          <a:custGeom>
            <a:avLst/>
            <a:gdLst/>
            <a:ahLst/>
            <a:cxnLst/>
            <a:rect l="l" t="t" r="r" b="b"/>
            <a:pathLst>
              <a:path w="2529723" h="685800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0" name="Freeform: Shape 19">
            <a:extLst>
              <a:ext uri="{FF2B5EF4-FFF2-40B4-BE49-F238E27FC236}">
                <a16:creationId xmlns:a16="http://schemas.microsoft.com/office/drawing/2014/main" id="{E66004D1-3DCE-405F-9046-6DE912409E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userDrawn="1">
            <p:extLst>
              <p:ext uri="{386F3935-93C4-4BCD-93E2-E3B085C9AB24}">
                <p16:designElem xmlns:p16="http://schemas.microsoft.com/office/powerpoint/2015/main" val="1"/>
              </p:ext>
            </p:extLst>
          </p:nvPr>
        </p:nvSpPr>
        <p:spPr>
          <a:xfrm>
            <a:off x="1155402" y="0"/>
            <a:ext cx="2536434" cy="6858000"/>
          </a:xfrm>
          <a:custGeom>
            <a:avLst/>
            <a:gdLst/>
            <a:ahLst/>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2" name="Freeform: Shape 21">
            <a:extLst>
              <a:ext uri="{FF2B5EF4-FFF2-40B4-BE49-F238E27FC236}">
                <a16:creationId xmlns:a16="http://schemas.microsoft.com/office/drawing/2014/main" id="{D1319957-918B-4BBC-B357-957813808C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userDrawn="1">
            <p:extLst>
              <p:ext uri="{386F3935-93C4-4BCD-93E2-E3B085C9AB24}">
                <p16:designElem xmlns:p16="http://schemas.microsoft.com/office/powerpoint/2015/main" val="1"/>
              </p:ext>
            </p:extLst>
          </p:nvPr>
        </p:nvSpPr>
        <p:spPr>
          <a:xfrm>
            <a:off x="924161" y="0"/>
            <a:ext cx="2261351" cy="6858000"/>
          </a:xfrm>
          <a:custGeom>
            <a:avLst/>
            <a:gdLst/>
            <a:ahLst/>
            <a:cxnLst/>
            <a:rect l="l" t="t" r="r" b="b"/>
            <a:pathLst>
              <a:path w="2521425" h="6858000">
                <a:moveTo>
                  <a:pt x="879731" y="0"/>
                </a:moveTo>
                <a:lnTo>
                  <a:pt x="898402" y="0"/>
                </a:lnTo>
                <a:lnTo>
                  <a:pt x="920526" y="14997"/>
                </a:lnTo>
                <a:cubicBezTo>
                  <a:pt x="1947689" y="754641"/>
                  <a:pt x="2521425" y="2093192"/>
                  <a:pt x="2521425" y="3621656"/>
                </a:cubicBezTo>
                <a:cubicBezTo>
                  <a:pt x="2521425" y="4969131"/>
                  <a:pt x="1592700" y="5602839"/>
                  <a:pt x="647075" y="6374814"/>
                </a:cubicBezTo>
                <a:cubicBezTo>
                  <a:pt x="474872" y="6515397"/>
                  <a:pt x="304245" y="6653108"/>
                  <a:pt x="130427" y="6780599"/>
                </a:cubicBezTo>
                <a:lnTo>
                  <a:pt x="18671"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useBgFill="1">
        <p:nvSpPr>
          <p:cNvPr id="24" name="Rectangle 23">
            <a:extLst>
              <a:ext uri="{FF2B5EF4-FFF2-40B4-BE49-F238E27FC236}">
                <a16:creationId xmlns:a16="http://schemas.microsoft.com/office/drawing/2014/main" id="{0DBF1ABE-8590-450D-BB49-BDDCCF3EEA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grpSp>
        <p:nvGrpSpPr>
          <p:cNvPr id="26" name="Group 25">
            <a:extLst>
              <a:ext uri="{FF2B5EF4-FFF2-40B4-BE49-F238E27FC236}">
                <a16:creationId xmlns:a16="http://schemas.microsoft.com/office/drawing/2014/main" id="{54E5F18F-9D70-4BE5-8A38-603463EE84A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47626" y="0"/>
            <a:ext cx="10678291" cy="6858000"/>
            <a:chOff x="547626" y="0"/>
            <a:chExt cx="10678291" cy="6858000"/>
          </a:xfrm>
        </p:grpSpPr>
        <p:sp>
          <p:nvSpPr>
            <p:cNvPr id="27" name="Freeform: Shape 26">
              <a:extLst>
                <a:ext uri="{FF2B5EF4-FFF2-40B4-BE49-F238E27FC236}">
                  <a16:creationId xmlns:a16="http://schemas.microsoft.com/office/drawing/2014/main" id="{391F8D69-709A-4575-A393-B4C26481AF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966083" y="0"/>
              <a:ext cx="9841377" cy="6858000"/>
            </a:xfrm>
            <a:custGeom>
              <a:avLst/>
              <a:gdLst>
                <a:gd name="connsiteX0" fmla="*/ 8218354 w 9841377"/>
                <a:gd name="connsiteY0" fmla="*/ 0 h 6858000"/>
                <a:gd name="connsiteX1" fmla="*/ 5551962 w 9841377"/>
                <a:gd name="connsiteY1" fmla="*/ 0 h 6858000"/>
                <a:gd name="connsiteX2" fmla="*/ 5482342 w 9841377"/>
                <a:gd name="connsiteY2" fmla="*/ 0 h 6858000"/>
                <a:gd name="connsiteX3" fmla="*/ 4359035 w 9841377"/>
                <a:gd name="connsiteY3" fmla="*/ 0 h 6858000"/>
                <a:gd name="connsiteX4" fmla="*/ 4289415 w 9841377"/>
                <a:gd name="connsiteY4" fmla="*/ 0 h 6858000"/>
                <a:gd name="connsiteX5" fmla="*/ 1623023 w 9841377"/>
                <a:gd name="connsiteY5" fmla="*/ 0 h 6858000"/>
                <a:gd name="connsiteX6" fmla="*/ 1600899 w 9841377"/>
                <a:gd name="connsiteY6" fmla="*/ 14997 h 6858000"/>
                <a:gd name="connsiteX7" fmla="*/ 0 w 9841377"/>
                <a:gd name="connsiteY7" fmla="*/ 3621656 h 6858000"/>
                <a:gd name="connsiteX8" fmla="*/ 1874350 w 9841377"/>
                <a:gd name="connsiteY8" fmla="*/ 6374814 h 6858000"/>
                <a:gd name="connsiteX9" fmla="*/ 2390998 w 9841377"/>
                <a:gd name="connsiteY9" fmla="*/ 6780599 h 6858000"/>
                <a:gd name="connsiteX10" fmla="*/ 2502754 w 9841377"/>
                <a:gd name="connsiteY10" fmla="*/ 6858000 h 6858000"/>
                <a:gd name="connsiteX11" fmla="*/ 4289415 w 9841377"/>
                <a:gd name="connsiteY11" fmla="*/ 6858000 h 6858000"/>
                <a:gd name="connsiteX12" fmla="*/ 4359035 w 9841377"/>
                <a:gd name="connsiteY12" fmla="*/ 6858000 h 6858000"/>
                <a:gd name="connsiteX13" fmla="*/ 5482342 w 9841377"/>
                <a:gd name="connsiteY13" fmla="*/ 6858000 h 6858000"/>
                <a:gd name="connsiteX14" fmla="*/ 5551962 w 9841377"/>
                <a:gd name="connsiteY14" fmla="*/ 6858000 h 6858000"/>
                <a:gd name="connsiteX15" fmla="*/ 7338623 w 9841377"/>
                <a:gd name="connsiteY15" fmla="*/ 6858000 h 6858000"/>
                <a:gd name="connsiteX16" fmla="*/ 7450379 w 9841377"/>
                <a:gd name="connsiteY16" fmla="*/ 6780599 h 6858000"/>
                <a:gd name="connsiteX17" fmla="*/ 7967027 w 9841377"/>
                <a:gd name="connsiteY17" fmla="*/ 6374814 h 6858000"/>
                <a:gd name="connsiteX18" fmla="*/ 9841377 w 9841377"/>
                <a:gd name="connsiteY18" fmla="*/ 3621656 h 6858000"/>
                <a:gd name="connsiteX19" fmla="*/ 8240478 w 9841377"/>
                <a:gd name="connsiteY19"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9841377" h="6858000">
                  <a:moveTo>
                    <a:pt x="8218354" y="0"/>
                  </a:moveTo>
                  <a:lnTo>
                    <a:pt x="5551962" y="0"/>
                  </a:lnTo>
                  <a:lnTo>
                    <a:pt x="5482342" y="0"/>
                  </a:lnTo>
                  <a:lnTo>
                    <a:pt x="4359035" y="0"/>
                  </a:lnTo>
                  <a:lnTo>
                    <a:pt x="4289415" y="0"/>
                  </a:lnTo>
                  <a:lnTo>
                    <a:pt x="1623023" y="0"/>
                  </a:lnTo>
                  <a:lnTo>
                    <a:pt x="1600899" y="14997"/>
                  </a:lnTo>
                  <a:cubicBezTo>
                    <a:pt x="573736" y="754641"/>
                    <a:pt x="0" y="2093192"/>
                    <a:pt x="0" y="3621656"/>
                  </a:cubicBezTo>
                  <a:cubicBezTo>
                    <a:pt x="0" y="4969131"/>
                    <a:pt x="928725" y="5602839"/>
                    <a:pt x="1874350" y="6374814"/>
                  </a:cubicBezTo>
                  <a:cubicBezTo>
                    <a:pt x="2046553" y="6515397"/>
                    <a:pt x="2217180" y="6653108"/>
                    <a:pt x="2390998" y="6780599"/>
                  </a:cubicBezTo>
                  <a:lnTo>
                    <a:pt x="2502754" y="6858000"/>
                  </a:lnTo>
                  <a:lnTo>
                    <a:pt x="4289415" y="6858000"/>
                  </a:lnTo>
                  <a:lnTo>
                    <a:pt x="4359035" y="6858000"/>
                  </a:lnTo>
                  <a:lnTo>
                    <a:pt x="5482342" y="6858000"/>
                  </a:lnTo>
                  <a:lnTo>
                    <a:pt x="5551962" y="6858000"/>
                  </a:lnTo>
                  <a:lnTo>
                    <a:pt x="7338623" y="6858000"/>
                  </a:lnTo>
                  <a:lnTo>
                    <a:pt x="7450379" y="6780599"/>
                  </a:lnTo>
                  <a:cubicBezTo>
                    <a:pt x="7624197" y="6653108"/>
                    <a:pt x="7794824" y="6515397"/>
                    <a:pt x="7967027" y="6374814"/>
                  </a:cubicBezTo>
                  <a:cubicBezTo>
                    <a:pt x="8912652" y="5602839"/>
                    <a:pt x="9841377" y="4969131"/>
                    <a:pt x="9841377" y="3621656"/>
                  </a:cubicBezTo>
                  <a:cubicBezTo>
                    <a:pt x="9841377" y="2093192"/>
                    <a:pt x="9267641" y="754641"/>
                    <a:pt x="8240478" y="14997"/>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8" name="Freeform: Shape 27">
              <a:extLst>
                <a:ext uri="{FF2B5EF4-FFF2-40B4-BE49-F238E27FC236}">
                  <a16:creationId xmlns:a16="http://schemas.microsoft.com/office/drawing/2014/main" id="{00981015-32A2-4B76-9F2E-0A8D6EC8EC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547626" y="0"/>
              <a:ext cx="2529723" cy="6858000"/>
            </a:xfrm>
            <a:custGeom>
              <a:avLst/>
              <a:gdLst>
                <a:gd name="connsiteX0" fmla="*/ 1258269 w 2529723"/>
                <a:gd name="connsiteY0" fmla="*/ 0 h 6858000"/>
                <a:gd name="connsiteX1" fmla="*/ 1275627 w 2529723"/>
                <a:gd name="connsiteY1" fmla="*/ 0 h 6858000"/>
                <a:gd name="connsiteX2" fmla="*/ 1302560 w 2529723"/>
                <a:gd name="connsiteY2" fmla="*/ 24338 h 6858000"/>
                <a:gd name="connsiteX3" fmla="*/ 2522825 w 2529723"/>
                <a:gd name="connsiteY3" fmla="*/ 3678515 h 6858000"/>
                <a:gd name="connsiteX4" fmla="*/ 557500 w 2529723"/>
                <a:gd name="connsiteY4" fmla="*/ 6451411 h 6858000"/>
                <a:gd name="connsiteX5" fmla="*/ 32482 w 2529723"/>
                <a:gd name="connsiteY5" fmla="*/ 6849373 h 6858000"/>
                <a:gd name="connsiteX6" fmla="*/ 19531 w 2529723"/>
                <a:gd name="connsiteY6" fmla="*/ 6858000 h 6858000"/>
                <a:gd name="connsiteX7" fmla="*/ 0 w 2529723"/>
                <a:gd name="connsiteY7" fmla="*/ 6858000 h 6858000"/>
                <a:gd name="connsiteX8" fmla="*/ 14202 w 2529723"/>
                <a:gd name="connsiteY8" fmla="*/ 6848540 h 6858000"/>
                <a:gd name="connsiteX9" fmla="*/ 539221 w 2529723"/>
                <a:gd name="connsiteY9" fmla="*/ 6450578 h 6858000"/>
                <a:gd name="connsiteX10" fmla="*/ 2504546 w 2529723"/>
                <a:gd name="connsiteY10" fmla="*/ 3677682 h 6858000"/>
                <a:gd name="connsiteX11" fmla="*/ 1284280 w 2529723"/>
                <a:gd name="connsiteY11" fmla="*/ 235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9723" h="685800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9" name="Freeform: Shape 28">
              <a:extLst>
                <a:ext uri="{FF2B5EF4-FFF2-40B4-BE49-F238E27FC236}">
                  <a16:creationId xmlns:a16="http://schemas.microsoft.com/office/drawing/2014/main" id="{D38532F4-8B67-47B7-B58A-5DD3E1BE52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760922" y="0"/>
              <a:ext cx="2536434" cy="6858000"/>
            </a:xfrm>
            <a:custGeom>
              <a:avLst/>
              <a:gdLst>
                <a:gd name="connsiteX0" fmla="*/ 879731 w 2536434"/>
                <a:gd name="connsiteY0" fmla="*/ 0 h 6858000"/>
                <a:gd name="connsiteX1" fmla="*/ 913411 w 2536434"/>
                <a:gd name="connsiteY1" fmla="*/ 0 h 6858000"/>
                <a:gd name="connsiteX2" fmla="*/ 935535 w 2536434"/>
                <a:gd name="connsiteY2" fmla="*/ 14997 h 6858000"/>
                <a:gd name="connsiteX3" fmla="*/ 2536434 w 2536434"/>
                <a:gd name="connsiteY3" fmla="*/ 3621656 h 6858000"/>
                <a:gd name="connsiteX4" fmla="*/ 662084 w 2536434"/>
                <a:gd name="connsiteY4" fmla="*/ 6374814 h 6858000"/>
                <a:gd name="connsiteX5" fmla="*/ 145436 w 2536434"/>
                <a:gd name="connsiteY5" fmla="*/ 6780599 h 6858000"/>
                <a:gd name="connsiteX6" fmla="*/ 33680 w 2536434"/>
                <a:gd name="connsiteY6" fmla="*/ 6858000 h 6858000"/>
                <a:gd name="connsiteX7" fmla="*/ 0 w 2536434"/>
                <a:gd name="connsiteY7" fmla="*/ 6858000 h 6858000"/>
                <a:gd name="connsiteX8" fmla="*/ 111756 w 2536434"/>
                <a:gd name="connsiteY8" fmla="*/ 6780599 h 6858000"/>
                <a:gd name="connsiteX9" fmla="*/ 628404 w 2536434"/>
                <a:gd name="connsiteY9" fmla="*/ 6374814 h 6858000"/>
                <a:gd name="connsiteX10" fmla="*/ 2502754 w 2536434"/>
                <a:gd name="connsiteY10" fmla="*/ 3621656 h 6858000"/>
                <a:gd name="connsiteX11" fmla="*/ 901855 w 2536434"/>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30" name="Freeform: Shape 29">
              <a:extLst>
                <a:ext uri="{FF2B5EF4-FFF2-40B4-BE49-F238E27FC236}">
                  <a16:creationId xmlns:a16="http://schemas.microsoft.com/office/drawing/2014/main" id="{BC87DA9F-8DB2-4D48-8716-A928FBB8A5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1267246" y="0"/>
              <a:ext cx="2261351" cy="6858000"/>
            </a:xfrm>
            <a:custGeom>
              <a:avLst/>
              <a:gdLst>
                <a:gd name="connsiteX0" fmla="*/ 879731 w 2521425"/>
                <a:gd name="connsiteY0" fmla="*/ 0 h 6858000"/>
                <a:gd name="connsiteX1" fmla="*/ 898402 w 2521425"/>
                <a:gd name="connsiteY1" fmla="*/ 0 h 6858000"/>
                <a:gd name="connsiteX2" fmla="*/ 920526 w 2521425"/>
                <a:gd name="connsiteY2" fmla="*/ 14997 h 6858000"/>
                <a:gd name="connsiteX3" fmla="*/ 2521425 w 2521425"/>
                <a:gd name="connsiteY3" fmla="*/ 3621656 h 6858000"/>
                <a:gd name="connsiteX4" fmla="*/ 647075 w 2521425"/>
                <a:gd name="connsiteY4" fmla="*/ 6374814 h 6858000"/>
                <a:gd name="connsiteX5" fmla="*/ 130427 w 2521425"/>
                <a:gd name="connsiteY5" fmla="*/ 6780599 h 6858000"/>
                <a:gd name="connsiteX6" fmla="*/ 18671 w 2521425"/>
                <a:gd name="connsiteY6" fmla="*/ 6858000 h 6858000"/>
                <a:gd name="connsiteX7" fmla="*/ 0 w 2521425"/>
                <a:gd name="connsiteY7" fmla="*/ 6858000 h 6858000"/>
                <a:gd name="connsiteX8" fmla="*/ 111756 w 2521425"/>
                <a:gd name="connsiteY8" fmla="*/ 6780599 h 6858000"/>
                <a:gd name="connsiteX9" fmla="*/ 628404 w 2521425"/>
                <a:gd name="connsiteY9" fmla="*/ 6374814 h 6858000"/>
                <a:gd name="connsiteX10" fmla="*/ 2502754 w 2521425"/>
                <a:gd name="connsiteY10" fmla="*/ 3621656 h 6858000"/>
                <a:gd name="connsiteX11" fmla="*/ 901855 w 2521425"/>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1425" h="6858000">
                  <a:moveTo>
                    <a:pt x="879731" y="0"/>
                  </a:moveTo>
                  <a:lnTo>
                    <a:pt x="898402" y="0"/>
                  </a:lnTo>
                  <a:lnTo>
                    <a:pt x="920526" y="14997"/>
                  </a:lnTo>
                  <a:cubicBezTo>
                    <a:pt x="1947689" y="754641"/>
                    <a:pt x="2521425" y="2093192"/>
                    <a:pt x="2521425" y="3621656"/>
                  </a:cubicBezTo>
                  <a:cubicBezTo>
                    <a:pt x="2521425" y="4969131"/>
                    <a:pt x="1592700" y="5602839"/>
                    <a:pt x="647075" y="6374814"/>
                  </a:cubicBezTo>
                  <a:cubicBezTo>
                    <a:pt x="474872" y="6515397"/>
                    <a:pt x="304245" y="6653108"/>
                    <a:pt x="130427" y="6780599"/>
                  </a:cubicBezTo>
                  <a:lnTo>
                    <a:pt x="18671"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31" name="Freeform: Shape 30">
              <a:extLst>
                <a:ext uri="{FF2B5EF4-FFF2-40B4-BE49-F238E27FC236}">
                  <a16:creationId xmlns:a16="http://schemas.microsoft.com/office/drawing/2014/main" id="{195EA065-AC5D-431D-927E-87FF058848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96194" y="0"/>
              <a:ext cx="2529723" cy="6858000"/>
            </a:xfrm>
            <a:custGeom>
              <a:avLst/>
              <a:gdLst>
                <a:gd name="connsiteX0" fmla="*/ 1258269 w 2529723"/>
                <a:gd name="connsiteY0" fmla="*/ 0 h 6858000"/>
                <a:gd name="connsiteX1" fmla="*/ 1275627 w 2529723"/>
                <a:gd name="connsiteY1" fmla="*/ 0 h 6858000"/>
                <a:gd name="connsiteX2" fmla="*/ 1302560 w 2529723"/>
                <a:gd name="connsiteY2" fmla="*/ 24338 h 6858000"/>
                <a:gd name="connsiteX3" fmla="*/ 2522825 w 2529723"/>
                <a:gd name="connsiteY3" fmla="*/ 3678515 h 6858000"/>
                <a:gd name="connsiteX4" fmla="*/ 557500 w 2529723"/>
                <a:gd name="connsiteY4" fmla="*/ 6451411 h 6858000"/>
                <a:gd name="connsiteX5" fmla="*/ 32482 w 2529723"/>
                <a:gd name="connsiteY5" fmla="*/ 6849373 h 6858000"/>
                <a:gd name="connsiteX6" fmla="*/ 19531 w 2529723"/>
                <a:gd name="connsiteY6" fmla="*/ 6858000 h 6858000"/>
                <a:gd name="connsiteX7" fmla="*/ 0 w 2529723"/>
                <a:gd name="connsiteY7" fmla="*/ 6858000 h 6858000"/>
                <a:gd name="connsiteX8" fmla="*/ 14202 w 2529723"/>
                <a:gd name="connsiteY8" fmla="*/ 6848540 h 6858000"/>
                <a:gd name="connsiteX9" fmla="*/ 539221 w 2529723"/>
                <a:gd name="connsiteY9" fmla="*/ 6450578 h 6858000"/>
                <a:gd name="connsiteX10" fmla="*/ 2504546 w 2529723"/>
                <a:gd name="connsiteY10" fmla="*/ 3677682 h 6858000"/>
                <a:gd name="connsiteX11" fmla="*/ 1284280 w 2529723"/>
                <a:gd name="connsiteY11" fmla="*/ 235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9723" h="685800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32" name="Freeform: Shape 31">
              <a:extLst>
                <a:ext uri="{FF2B5EF4-FFF2-40B4-BE49-F238E27FC236}">
                  <a16:creationId xmlns:a16="http://schemas.microsoft.com/office/drawing/2014/main" id="{6E37E2DD-C7FE-4D6C-8F1D-5031E96A7F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476187" y="0"/>
              <a:ext cx="2536434" cy="6858000"/>
            </a:xfrm>
            <a:custGeom>
              <a:avLst/>
              <a:gdLst>
                <a:gd name="connsiteX0" fmla="*/ 879731 w 2536434"/>
                <a:gd name="connsiteY0" fmla="*/ 0 h 6858000"/>
                <a:gd name="connsiteX1" fmla="*/ 913411 w 2536434"/>
                <a:gd name="connsiteY1" fmla="*/ 0 h 6858000"/>
                <a:gd name="connsiteX2" fmla="*/ 935535 w 2536434"/>
                <a:gd name="connsiteY2" fmla="*/ 14997 h 6858000"/>
                <a:gd name="connsiteX3" fmla="*/ 2536434 w 2536434"/>
                <a:gd name="connsiteY3" fmla="*/ 3621656 h 6858000"/>
                <a:gd name="connsiteX4" fmla="*/ 662084 w 2536434"/>
                <a:gd name="connsiteY4" fmla="*/ 6374814 h 6858000"/>
                <a:gd name="connsiteX5" fmla="*/ 145436 w 2536434"/>
                <a:gd name="connsiteY5" fmla="*/ 6780599 h 6858000"/>
                <a:gd name="connsiteX6" fmla="*/ 33680 w 2536434"/>
                <a:gd name="connsiteY6" fmla="*/ 6858000 h 6858000"/>
                <a:gd name="connsiteX7" fmla="*/ 0 w 2536434"/>
                <a:gd name="connsiteY7" fmla="*/ 6858000 h 6858000"/>
                <a:gd name="connsiteX8" fmla="*/ 111756 w 2536434"/>
                <a:gd name="connsiteY8" fmla="*/ 6780599 h 6858000"/>
                <a:gd name="connsiteX9" fmla="*/ 628404 w 2536434"/>
                <a:gd name="connsiteY9" fmla="*/ 6374814 h 6858000"/>
                <a:gd name="connsiteX10" fmla="*/ 2502754 w 2536434"/>
                <a:gd name="connsiteY10" fmla="*/ 3621656 h 6858000"/>
                <a:gd name="connsiteX11" fmla="*/ 901855 w 2536434"/>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33" name="Freeform: Shape 32">
              <a:extLst>
                <a:ext uri="{FF2B5EF4-FFF2-40B4-BE49-F238E27FC236}">
                  <a16:creationId xmlns:a16="http://schemas.microsoft.com/office/drawing/2014/main" id="{778B68BA-AB87-4EB5-97C2-F1F304E193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244946" y="0"/>
              <a:ext cx="2261351" cy="6858000"/>
            </a:xfrm>
            <a:custGeom>
              <a:avLst/>
              <a:gdLst>
                <a:gd name="connsiteX0" fmla="*/ 879731 w 2521425"/>
                <a:gd name="connsiteY0" fmla="*/ 0 h 6858000"/>
                <a:gd name="connsiteX1" fmla="*/ 898402 w 2521425"/>
                <a:gd name="connsiteY1" fmla="*/ 0 h 6858000"/>
                <a:gd name="connsiteX2" fmla="*/ 920526 w 2521425"/>
                <a:gd name="connsiteY2" fmla="*/ 14997 h 6858000"/>
                <a:gd name="connsiteX3" fmla="*/ 2521425 w 2521425"/>
                <a:gd name="connsiteY3" fmla="*/ 3621656 h 6858000"/>
                <a:gd name="connsiteX4" fmla="*/ 647075 w 2521425"/>
                <a:gd name="connsiteY4" fmla="*/ 6374814 h 6858000"/>
                <a:gd name="connsiteX5" fmla="*/ 130427 w 2521425"/>
                <a:gd name="connsiteY5" fmla="*/ 6780599 h 6858000"/>
                <a:gd name="connsiteX6" fmla="*/ 18671 w 2521425"/>
                <a:gd name="connsiteY6" fmla="*/ 6858000 h 6858000"/>
                <a:gd name="connsiteX7" fmla="*/ 0 w 2521425"/>
                <a:gd name="connsiteY7" fmla="*/ 6858000 h 6858000"/>
                <a:gd name="connsiteX8" fmla="*/ 111756 w 2521425"/>
                <a:gd name="connsiteY8" fmla="*/ 6780599 h 6858000"/>
                <a:gd name="connsiteX9" fmla="*/ 628404 w 2521425"/>
                <a:gd name="connsiteY9" fmla="*/ 6374814 h 6858000"/>
                <a:gd name="connsiteX10" fmla="*/ 2502754 w 2521425"/>
                <a:gd name="connsiteY10" fmla="*/ 3621656 h 6858000"/>
                <a:gd name="connsiteX11" fmla="*/ 901855 w 2521425"/>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1425" h="6858000">
                  <a:moveTo>
                    <a:pt x="879731" y="0"/>
                  </a:moveTo>
                  <a:lnTo>
                    <a:pt x="898402" y="0"/>
                  </a:lnTo>
                  <a:lnTo>
                    <a:pt x="920526" y="14997"/>
                  </a:lnTo>
                  <a:cubicBezTo>
                    <a:pt x="1947689" y="754641"/>
                    <a:pt x="2521425" y="2093192"/>
                    <a:pt x="2521425" y="3621656"/>
                  </a:cubicBezTo>
                  <a:cubicBezTo>
                    <a:pt x="2521425" y="4969131"/>
                    <a:pt x="1592700" y="5602839"/>
                    <a:pt x="647075" y="6374814"/>
                  </a:cubicBezTo>
                  <a:cubicBezTo>
                    <a:pt x="474872" y="6515397"/>
                    <a:pt x="304245" y="6653108"/>
                    <a:pt x="130427" y="6780599"/>
                  </a:cubicBezTo>
                  <a:lnTo>
                    <a:pt x="18671"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grpSp>
      <p:sp>
        <p:nvSpPr>
          <p:cNvPr id="2" name="Title 1">
            <a:extLst>
              <a:ext uri="{FF2B5EF4-FFF2-40B4-BE49-F238E27FC236}">
                <a16:creationId xmlns:a16="http://schemas.microsoft.com/office/drawing/2014/main" id="{AFDD839F-B28C-25F8-D579-4C15DA6B47F4}"/>
              </a:ext>
            </a:extLst>
          </p:cNvPr>
          <p:cNvSpPr>
            <a:spLocks noGrp="1"/>
          </p:cNvSpPr>
          <p:nvPr>
            <p:ph type="title"/>
          </p:nvPr>
        </p:nvSpPr>
        <p:spPr>
          <a:xfrm>
            <a:off x="2190750" y="1346268"/>
            <a:ext cx="7810500" cy="3125338"/>
          </a:xfrm>
        </p:spPr>
        <p:txBody>
          <a:bodyPr vert="horz" lIns="109728" tIns="109728" rIns="109728" bIns="91440" rtlCol="0" anchor="b">
            <a:normAutofit/>
          </a:bodyPr>
          <a:lstStyle/>
          <a:p>
            <a:pPr algn="ctr">
              <a:lnSpc>
                <a:spcPct val="120000"/>
              </a:lnSpc>
            </a:pPr>
            <a:r>
              <a:rPr lang="en-US" sz="7200" dirty="0">
                <a:solidFill>
                  <a:schemeClr val="tx1">
                    <a:lumMod val="85000"/>
                    <a:lumOff val="15000"/>
                  </a:schemeClr>
                </a:solidFill>
                <a:ea typeface="Meiryo"/>
              </a:rPr>
              <a:t>THANK YOU!!</a:t>
            </a:r>
            <a:endParaRPr lang="en-US" sz="7200" dirty="0">
              <a:solidFill>
                <a:schemeClr val="tx1">
                  <a:lumMod val="85000"/>
                  <a:lumOff val="15000"/>
                </a:schemeClr>
              </a:solidFill>
            </a:endParaRPr>
          </a:p>
        </p:txBody>
      </p:sp>
    </p:spTree>
    <p:extLst>
      <p:ext uri="{BB962C8B-B14F-4D97-AF65-F5344CB8AC3E}">
        <p14:creationId xmlns:p14="http://schemas.microsoft.com/office/powerpoint/2010/main" val="3768305593"/>
      </p:ext>
    </p:extLst>
  </p:cSld>
  <p:clrMapOvr>
    <a:masterClrMapping/>
  </p:clrMapOvr>
</p:sld>
</file>

<file path=ppt/theme/theme1.xml><?xml version="1.0" encoding="utf-8"?>
<a:theme xmlns:a="http://schemas.openxmlformats.org/drawingml/2006/main" name="SketchLinesVTI">
  <a:themeElements>
    <a:clrScheme name="SketchLines">
      <a:dk1>
        <a:sysClr val="windowText" lastClr="000000"/>
      </a:dk1>
      <a:lt1>
        <a:sysClr val="window" lastClr="FFFFFF"/>
      </a:lt1>
      <a:dk2>
        <a:srgbClr val="564E4E"/>
      </a:dk2>
      <a:lt2>
        <a:srgbClr val="EEEBE2"/>
      </a:lt2>
      <a:accent1>
        <a:srgbClr val="E54837"/>
      </a:accent1>
      <a:accent2>
        <a:srgbClr val="947F53"/>
      </a:accent2>
      <a:accent3>
        <a:srgbClr val="BE8D64"/>
      </a:accent3>
      <a:accent4>
        <a:srgbClr val="E0C171"/>
      </a:accent4>
      <a:accent5>
        <a:srgbClr val="968572"/>
      </a:accent5>
      <a:accent6>
        <a:srgbClr val="855D5D"/>
      </a:accent6>
      <a:hlink>
        <a:srgbClr val="CC9900"/>
      </a:hlink>
      <a:folHlink>
        <a:srgbClr val="96A9A9"/>
      </a:folHlink>
    </a:clrScheme>
    <a:fontScheme name="Custom 7">
      <a:majorFont>
        <a:latin typeface="Meiryo"/>
        <a:ea typeface=""/>
        <a:cs typeface=""/>
      </a:majorFont>
      <a:minorFont>
        <a:latin typeface="Meiryo"/>
        <a:ea typeface=""/>
        <a:cs typeface=""/>
      </a:minorFont>
    </a:fontScheme>
    <a:fmtScheme name="Feathered">
      <a:fillStyleLst>
        <a:solidFill>
          <a:schemeClr val="phClr"/>
        </a:solidFill>
        <a:solidFill>
          <a:schemeClr val="phClr">
            <a:tint val="67000"/>
            <a:satMod val="105000"/>
          </a:schemeClr>
        </a:solidFill>
        <a:gradFill rotWithShape="1">
          <a:gsLst>
            <a:gs pos="0">
              <a:schemeClr val="phClr">
                <a:tint val="94000"/>
                <a:satMod val="103000"/>
                <a:lumMod val="102000"/>
              </a:schemeClr>
            </a:gs>
            <a:gs pos="50000">
              <a:schemeClr val="phClr">
                <a:shade val="100000"/>
                <a:satMod val="110000"/>
                <a:lumMod val="100000"/>
              </a:schemeClr>
            </a:gs>
            <a:gs pos="100000">
              <a:schemeClr val="phClr">
                <a:shade val="70000"/>
                <a:satMod val="120000"/>
                <a:lumMod val="99000"/>
              </a:schemeClr>
            </a:gs>
          </a:gsLst>
          <a:path path="circle">
            <a:fillToRect l="100000" t="100000" r="100000" b="100000"/>
          </a:path>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tint val="50000"/>
              <a:shade val="83000"/>
            </a:schemeClr>
          </a:solidFill>
          <a:prstDash val="solid"/>
        </a:ln>
      </a:lnStyleLst>
      <a:effectStyleLst>
        <a:effectStyle>
          <a:effectLst/>
        </a:effectStyle>
        <a:effectStyle>
          <a:effectLst/>
        </a:effectStyle>
        <a:effectStyle>
          <a:effectLst>
            <a:outerShdw blurRad="57150" dist="25400" dir="5400000" algn="ctr" rotWithShape="0">
              <a:srgbClr val="000000">
                <a:alpha val="20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ketchLinesVTI" id="{8C0B0F05-C8D0-4078-9615-83E590287484}" vid="{43A7BC57-C1E3-4EE6-BDBC-5422DD574AF2}"/>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16</Slides>
  <Notes>0</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SketchLinesVTI</vt:lpstr>
      <vt:lpstr> Customer Churn Prediction using Data Analytics &amp; Machine Learning </vt:lpstr>
      <vt:lpstr>Project Overview- Objective &amp; Scope</vt:lpstr>
      <vt:lpstr>Dataset Description</vt:lpstr>
      <vt:lpstr>Data Cleaning &amp; Preparation</vt:lpstr>
      <vt:lpstr>Exploratory Data Analysis - EDA</vt:lpstr>
      <vt:lpstr>Feature Engineering</vt:lpstr>
      <vt:lpstr>Regression Modeling</vt:lpstr>
      <vt:lpstr> Classification Models</vt:lpstr>
      <vt:lpstr>Decision Tree Insights</vt:lpstr>
      <vt:lpstr>SVM &amp; K-Means Clustering</vt:lpstr>
      <vt:lpstr>Model Evaluation and Comparison</vt:lpstr>
      <vt:lpstr>Model Deployment</vt:lpstr>
      <vt:lpstr>Business Insights &amp; Recommendations</vt:lpstr>
      <vt:lpstr>Key Learning</vt:lpstr>
      <vt:lpstr>Future Work</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 </cp:lastModifiedBy>
  <cp:revision>414</cp:revision>
  <dcterms:created xsi:type="dcterms:W3CDTF">2013-07-15T20:26:40Z</dcterms:created>
  <dcterms:modified xsi:type="dcterms:W3CDTF">2025-10-25T05:06:56Z</dcterms:modified>
</cp:coreProperties>
</file>